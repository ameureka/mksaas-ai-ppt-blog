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.docx" ContentType="application/vnd.openxmlformats-officedocument.wordprocessingml.documen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4"/>
  </p:sldIdLst>
  <p:sldSz cx="9907588" cy="6858000"/>
  <p:notesSz cx="6973888" cy="10112375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useTimings="0"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4" Type="http://schemas.openxmlformats.org/officeDocument/2006/relationships/slide" Target="slides/slide21.xml"/><Relationship Id="rId26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E921A4-6BC9-48DF-9E63-1855647C5B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42680" y="609120"/>
            <a:ext cx="842004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42680" y="1981080"/>
            <a:ext cx="8420040" cy="41148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t">
            <a:normAutofit/>
          </a:bodyPr>
          <a:p>
            <a:pPr marL="639720" indent="-639720">
              <a:spcBef>
                <a:spcPts val="774"/>
              </a:spcBef>
              <a:buClr>
                <a:srgbClr val="f30000"/>
              </a:buClr>
              <a:buFont typeface="Wingdings" charset="2"/>
              <a:buChar char="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1182600" indent="-361800">
              <a:spcBef>
                <a:spcPts val="77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611360" indent="-246240">
              <a:spcBef>
                <a:spcPts val="774"/>
              </a:spcBef>
              <a:buClr>
                <a:srgbClr val="3333cc"/>
              </a:buClr>
              <a:buSzPct val="70000"/>
              <a:buFont typeface="Monotype Sorts" charset="2"/>
              <a:buChar char="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2039760" indent="-245880">
              <a:spcBef>
                <a:spcPts val="774"/>
              </a:spcBef>
              <a:buClr>
                <a:srgbClr val="000000"/>
              </a:buClr>
              <a:buFont typeface="Times New Roman"/>
              <a:buChar char="–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467080" indent="-246240">
              <a:spcBef>
                <a:spcPts val="774"/>
              </a:spcBef>
              <a:buClr>
                <a:srgbClr val="000000"/>
              </a:buClr>
              <a:buFont typeface="Times New Roman"/>
              <a:buChar char="•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467080" indent="-246240">
              <a:spcBef>
                <a:spcPts val="774"/>
              </a:spcBef>
              <a:buClr>
                <a:srgbClr val="000000"/>
              </a:buClr>
              <a:buFont typeface="Times New Roman"/>
              <a:buChar char="•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467080" indent="-246240">
              <a:spcBef>
                <a:spcPts val="774"/>
              </a:spcBef>
              <a:buClr>
                <a:srgbClr val="000000"/>
              </a:buClr>
              <a:buFont typeface="Times New Roman"/>
              <a:buChar char="•"/>
              <a:tabLst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3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743040" y="6248520"/>
            <a:ext cx="2063520" cy="4572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384360" y="6248520"/>
            <a:ext cx="3136680" cy="4572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098840" y="6248520"/>
            <a:ext cx="2063880" cy="4572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lstStyle>
            <a:lvl1pPr indent="0" algn="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  <a:def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0BDFD910-6832-4303-ADDA-89854F0BCC67}" type="slidenum">
              <a:rPr b="0" lang="en-US" sz="15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Rectangle 10"/>
          <p:cNvSpPr/>
          <p:nvPr/>
        </p:nvSpPr>
        <p:spPr>
          <a:xfrm>
            <a:off x="8763120" y="189000"/>
            <a:ext cx="198360" cy="2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" name="Picture 16" descr="F:\Jolor\not\1.jpg"/>
          <p:cNvPicPr/>
          <p:nvPr/>
        </p:nvPicPr>
        <p:blipFill>
          <a:blip r:embed="rId3"/>
          <a:stretch/>
        </p:blipFill>
        <p:spPr>
          <a:xfrm>
            <a:off x="8077320" y="762120"/>
            <a:ext cx="1504800" cy="1466640"/>
          </a:xfrm>
          <a:prstGeom prst="rect">
            <a:avLst/>
          </a:prstGeom>
          <a:noFill/>
          <a:ln w="0">
            <a:noFill/>
          </a:ln>
          <a:effectLst>
            <a:outerShdw dist="63504" dir="2216091" blurRad="0" rotWithShape="0">
              <a:srgbClr val="000000"/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wmf"/><Relationship Id="rId6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3" Type="http://schemas.openxmlformats.org/officeDocument/2006/relationships/oleObject" Target="../embeddings/oleObject2.bin"/><Relationship Id="rId4" Type="http://schemas.openxmlformats.org/officeDocument/2006/relationships/image" Target="../media/image9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10.png"/><Relationship Id="rId7" Type="http://schemas.openxmlformats.org/officeDocument/2006/relationships/oleObject" Target="../embeddings/oleObject4.bin"/><Relationship Id="rId8" Type="http://schemas.openxmlformats.org/officeDocument/2006/relationships/image" Target="../media/image11.png"/><Relationship Id="rId9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2.wmf"/><Relationship Id="rId3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oleObject1.docx"/><Relationship Id="rId2" Type="http://schemas.openxmlformats.org/officeDocument/2006/relationships/image" Target="../media/image13.wmf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wmf"/><Relationship Id="rId2" Type="http://schemas.openxmlformats.org/officeDocument/2006/relationships/image" Target="../media/image15.wmf"/><Relationship Id="rId3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wmf"/><Relationship Id="rId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oleObject" Target="../embeddings/oleObject1.bin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jpeg"/><Relationship Id="rId3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jp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61760" y="2285640"/>
            <a:ext cx="838188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3800"/>
            </a:b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752480" y="1828440"/>
            <a:ext cx="6400800" cy="43434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t">
            <a:noAutofit/>
          </a:bodyPr>
          <a:p>
            <a:pPr indent="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4400" strike="noStrike" u="none">
                <a:solidFill>
                  <a:srgbClr val="ffffff"/>
                </a:solidFill>
                <a:effectLst/>
                <a:uFillTx/>
                <a:latin typeface="黑体"/>
                <a:ea typeface="黑体"/>
              </a:rPr>
              <a:t>可口</a:t>
            </a:r>
            <a:r>
              <a:rPr b="0" lang="zh-TW" sz="4400" strike="noStrike" u="none">
                <a:solidFill>
                  <a:srgbClr val="ffffff"/>
                </a:solidFill>
                <a:effectLst/>
                <a:uFillTx/>
                <a:latin typeface="黑体"/>
                <a:ea typeface="黑体"/>
              </a:rPr>
              <a:t>可樂通路行銷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 algn="ctr">
              <a:lnSpc>
                <a:spcPct val="100000"/>
              </a:lnSpc>
              <a:spcBef>
                <a:spcPts val="1100"/>
              </a:spcBef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4400" strike="noStrike" u="none">
                <a:solidFill>
                  <a:srgbClr val="ffffff"/>
                </a:solidFill>
                <a:effectLst/>
                <a:uFillTx/>
                <a:latin typeface="黑体"/>
                <a:ea typeface="黑体"/>
              </a:rPr>
              <a:t>及銷售資訊掌握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" name="Object 5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2" name="Object 5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53966" dir="2700000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13" name="Rectangle 6"/>
          <p:cNvSpPr/>
          <p:nvPr/>
        </p:nvSpPr>
        <p:spPr>
          <a:xfrm>
            <a:off x="6946560" y="304920"/>
            <a:ext cx="2713320" cy="3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Arial Unicode MS"/>
                <a:ea typeface="Arial Unicode MS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Text Box 12"/>
          <p:cNvSpPr/>
          <p:nvPr/>
        </p:nvSpPr>
        <p:spPr>
          <a:xfrm>
            <a:off x="380880" y="3733920"/>
            <a:ext cx="38671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 Box 19"/>
          <p:cNvSpPr/>
          <p:nvPr/>
        </p:nvSpPr>
        <p:spPr>
          <a:xfrm>
            <a:off x="0" y="6392880"/>
            <a:ext cx="739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t>https://www.ppthub.shop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7" name="Object 9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18" name="Object 9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19" name="Rectangle 10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Text Box 15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Text Box 1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Rectangle 19"/>
          <p:cNvSpPr/>
          <p:nvPr/>
        </p:nvSpPr>
        <p:spPr>
          <a:xfrm>
            <a:off x="609480" y="6094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研澤中圓體"/>
                <a:ea typeface="研澤中圓體"/>
              </a:rPr>
              <a:t>討 論 大 綱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Rectangle 20"/>
          <p:cNvSpPr/>
          <p:nvPr/>
        </p:nvSpPr>
        <p:spPr>
          <a:xfrm>
            <a:off x="685800" y="1676520"/>
            <a:ext cx="876312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一 業務員掌上型電腦 </a:t>
            </a:r>
            <a:r>
              <a:rPr b="0" lang="en-US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H  H  T 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的架構與運用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二 通路變革所面臨的問題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   行銷通路縮短化專業化集中化現代化白熱化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三 整體通路策略思考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   目標 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 策略 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Wingdings"/>
                <a:ea typeface="Wingdings"/>
              </a:rPr>
              <a:t></a:t>
            </a: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 行動方案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四 通路功能再思考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2800" strike="noStrike" u="none">
                <a:solidFill>
                  <a:srgbClr val="003399"/>
                </a:solidFill>
                <a:effectLst/>
                <a:uFillTx/>
                <a:latin typeface="研澤中圓體"/>
                <a:ea typeface="研澤中圓體"/>
              </a:rPr>
              <a:t>五 可口可樂的通路管理哲學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24" name="Object 22"/>
          <p:cNvGraphicFramePr/>
          <p:nvPr/>
        </p:nvGraphicFramePr>
        <p:xfrm>
          <a:off x="0" y="5665680"/>
          <a:ext cx="1219320" cy="1192320"/>
        </p:xfrm>
        <a:graphic>
          <a:graphicData uri="http://schemas.openxmlformats.org/presentationml/2006/ole">
            <p:oleObj r:id="rId4" spid="">
              <p:embed/>
              <p:pic>
                <p:nvPicPr>
                  <p:cNvPr id="25" name="Object 2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5665680"/>
                    <a:ext cx="1219320" cy="119232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p:transition>
    <p:random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ne 2"/>
          <p:cNvSpPr/>
          <p:nvPr/>
        </p:nvSpPr>
        <p:spPr>
          <a:xfrm flipV="1">
            <a:off x="5035680" y="1752480"/>
            <a:ext cx="0" cy="41148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Line 3"/>
          <p:cNvSpPr/>
          <p:nvPr/>
        </p:nvSpPr>
        <p:spPr>
          <a:xfrm>
            <a:off x="2971800" y="2971800"/>
            <a:ext cx="4044960" cy="129528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485720" y="-228960"/>
            <a:ext cx="842004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en-US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2002 HHT Structure </a:t>
            </a:r>
            <a:r>
              <a:rPr b="1" lang="zh-TW" sz="36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架構</a:t>
            </a:r>
            <a:endParaRPr b="1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Line 5"/>
          <p:cNvSpPr/>
          <p:nvPr/>
        </p:nvSpPr>
        <p:spPr>
          <a:xfrm>
            <a:off x="3219480" y="2133720"/>
            <a:ext cx="3714840" cy="312408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Line 6"/>
          <p:cNvSpPr/>
          <p:nvPr/>
        </p:nvSpPr>
        <p:spPr>
          <a:xfrm flipV="1">
            <a:off x="2641680" y="2971800"/>
            <a:ext cx="4457520" cy="13716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Line 7"/>
          <p:cNvSpPr/>
          <p:nvPr/>
        </p:nvSpPr>
        <p:spPr>
          <a:xfrm flipV="1">
            <a:off x="3054240" y="1904760"/>
            <a:ext cx="4044960" cy="3429000"/>
          </a:xfrm>
          <a:prstGeom prst="line">
            <a:avLst/>
          </a:prstGeom>
          <a:ln w="1908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AutoShape 8"/>
          <p:cNvSpPr/>
          <p:nvPr/>
        </p:nvSpPr>
        <p:spPr>
          <a:xfrm>
            <a:off x="3797280" y="107460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路線資訊</a:t>
            </a: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/</a:t>
            </a: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通訊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Route Information /Communication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AutoShape 9"/>
          <p:cNvSpPr/>
          <p:nvPr/>
        </p:nvSpPr>
        <p:spPr>
          <a:xfrm>
            <a:off x="811080" y="2362320"/>
            <a:ext cx="24847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訂單拿取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Order Taking 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AutoShape 10"/>
          <p:cNvSpPr/>
          <p:nvPr/>
        </p:nvSpPr>
        <p:spPr>
          <a:xfrm>
            <a:off x="811080" y="1074600"/>
            <a:ext cx="24847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一般性需求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General requirement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AutoShape 11"/>
          <p:cNvSpPr/>
          <p:nvPr/>
        </p:nvSpPr>
        <p:spPr>
          <a:xfrm>
            <a:off x="6769080" y="236232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價格與</a:t>
            </a: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折扣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Pricing &amp; Discount </a:t>
            </a: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Beach"/>
                <a:ea typeface="Arial Unicode MS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AutoShape 12"/>
          <p:cNvSpPr/>
          <p:nvPr/>
        </p:nvSpPr>
        <p:spPr>
          <a:xfrm>
            <a:off x="6769080" y="107460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0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查詢功能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Inquiry Function</a:t>
            </a:r>
            <a:r>
              <a:rPr b="1" lang="en-US" sz="2000" strike="noStrike" u="none">
                <a:solidFill>
                  <a:srgbClr val="ff0000"/>
                </a:solidFill>
                <a:effectLst/>
                <a:uFillTx/>
                <a:latin typeface="Arial"/>
                <a:ea typeface="Arial Unicode MS"/>
              </a:rPr>
              <a:t>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AutoShape 13"/>
          <p:cNvSpPr/>
          <p:nvPr/>
        </p:nvSpPr>
        <p:spPr>
          <a:xfrm>
            <a:off x="819000" y="374184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權限控管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Security Control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AutoShape 14"/>
          <p:cNvSpPr/>
          <p:nvPr/>
        </p:nvSpPr>
        <p:spPr>
          <a:xfrm>
            <a:off x="6769080" y="373392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控制檢核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Control Checking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AutoShape 15"/>
          <p:cNvSpPr/>
          <p:nvPr/>
        </p:nvSpPr>
        <p:spPr>
          <a:xfrm>
            <a:off x="811080" y="5113440"/>
            <a:ext cx="24847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庫存盤點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Inventory Checking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AutoShape 16"/>
          <p:cNvSpPr/>
          <p:nvPr/>
        </p:nvSpPr>
        <p:spPr>
          <a:xfrm>
            <a:off x="3797280" y="510552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生動化查核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Merchandising Tracking</a:t>
            </a:r>
            <a:r>
              <a:rPr b="0" lang="en-US" sz="1800" strike="noStrike" u="none">
                <a:solidFill>
                  <a:srgbClr val="ff0000"/>
                </a:solidFill>
                <a:effectLst/>
                <a:uFillTx/>
                <a:latin typeface="Beach"/>
                <a:ea typeface="新造勘亭流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AutoShape 17"/>
          <p:cNvSpPr/>
          <p:nvPr/>
        </p:nvSpPr>
        <p:spPr>
          <a:xfrm>
            <a:off x="6769080" y="5113440"/>
            <a:ext cx="2482920" cy="11350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ffffff"/>
              </a:gs>
              <a:gs pos="100000">
                <a:srgbClr val="fff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市場資料收集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ff0000"/>
                </a:solidFill>
                <a:effectLst/>
                <a:uFillTx/>
                <a:latin typeface="Times New Roman"/>
                <a:ea typeface="Times New Roman"/>
              </a:rPr>
              <a:t>Market Information Feedback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Oval 18"/>
          <p:cNvSpPr/>
          <p:nvPr/>
        </p:nvSpPr>
        <p:spPr>
          <a:xfrm>
            <a:off x="3911760" y="2971800"/>
            <a:ext cx="2279520" cy="1373040"/>
          </a:xfrm>
          <a:prstGeom prst="ellipse">
            <a:avLst/>
          </a:prstGeom>
          <a:gradFill rotWithShape="0">
            <a:gsLst>
              <a:gs pos="0">
                <a:srgbClr val="ff0000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1260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Beach"/>
                <a:ea typeface="Arial Unicode MS"/>
              </a:rPr>
              <a:t>HHT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blinds dir="ver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-533520" y="456840"/>
            <a:ext cx="842040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HHT </a:t>
            </a: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掌上型電腦的目標</a:t>
            </a: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228240" y="1523520"/>
            <a:ext cx="9061560" cy="495324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t">
            <a:normAutofit/>
          </a:bodyPr>
          <a:p>
            <a:pPr marL="343080" indent="-343080">
              <a:lnSpc>
                <a:spcPct val="90000"/>
              </a:lnSpc>
              <a:spcBef>
                <a:spcPts val="774"/>
              </a:spcBef>
              <a:buClr>
                <a:srgbClr val="000066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使用具有行動通訊能力的系統工具</a:t>
            </a: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支援業務代表之訂單作業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。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74"/>
              </a:spcBef>
              <a:buClr>
                <a:srgbClr val="000066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具整合的中央資料庫，</a:t>
            </a: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提供業務資訊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諸如：客戶資料、歷史銷售</a:t>
            </a:r>
            <a:r>
              <a:rPr b="0" lang="zh-TW" sz="3100" strike="noStrike" u="none">
                <a:solidFill>
                  <a:srgbClr val="ffffff"/>
                </a:solidFill>
                <a:effectLst/>
                <a:uFillTx/>
                <a:latin typeface="研澤中圓體"/>
                <a:ea typeface="研澤中圓體"/>
              </a:rPr>
              <a:t>、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和及時的價格資訊，藉此</a:t>
            </a: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幫助業務代表瞭解並提供更好的服務給客戶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而提昇效益。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74"/>
              </a:spcBef>
              <a:buClr>
                <a:srgbClr val="000066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強化業務單位與後勤單位之聯繫與溝通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，縮短業務運作的反應週期。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774"/>
              </a:spcBef>
              <a:buClr>
                <a:srgbClr val="000066"/>
              </a:buClr>
              <a:buFont typeface="Wingdings" charset="2"/>
              <a:buChar char="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100" strike="noStrike" u="none">
                <a:solidFill>
                  <a:srgbClr val="3333cc"/>
                </a:solidFill>
                <a:effectLst/>
                <a:uFillTx/>
                <a:latin typeface="研澤中圓體"/>
                <a:ea typeface="研澤中圓體"/>
              </a:rPr>
              <a:t>無紙張的操作，節省人工輸入的時間以及減少紙張浪費</a:t>
            </a:r>
            <a:r>
              <a:rPr b="0" lang="zh-TW" sz="3100" strike="noStrike" u="none">
                <a:solidFill>
                  <a:srgbClr val="000000"/>
                </a:solidFill>
                <a:effectLst/>
                <a:uFillTx/>
                <a:latin typeface="研澤中圓體"/>
                <a:ea typeface="研澤中圓體"/>
              </a:rPr>
              <a:t>。</a:t>
            </a:r>
            <a:r>
              <a:rPr b="0" lang="zh-TW" sz="3100" strike="noStrike" u="none">
                <a:solidFill>
                  <a:srgbClr val="ffffff"/>
                </a:solidFill>
                <a:effectLst/>
                <a:uFillTx/>
                <a:latin typeface="研澤中圓體"/>
                <a:ea typeface="研澤中圓體"/>
              </a:rPr>
              <a:t> 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46" name="Object 1027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47" name="Object 1027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48" name="Rectangle 1028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Text Box 1030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Text Box 1031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Rectangle 1032"/>
          <p:cNvSpPr/>
          <p:nvPr/>
        </p:nvSpPr>
        <p:spPr>
          <a:xfrm>
            <a:off x="609480" y="6094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Times New Roman"/>
                <a:ea typeface="研澤中隸體"/>
              </a:rPr>
              <a:t>行銷通路趨勢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Rectangle 1033"/>
          <p:cNvSpPr/>
          <p:nvPr/>
        </p:nvSpPr>
        <p:spPr>
          <a:xfrm>
            <a:off x="685800" y="1752480"/>
            <a:ext cx="7772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行銷通路縮短化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行銷通路專業化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行銷通路集中化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行銷通路現代化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174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8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行銷通路競爭白熱化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700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54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55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56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Rectangle 8"/>
          <p:cNvSpPr/>
          <p:nvPr/>
        </p:nvSpPr>
        <p:spPr>
          <a:xfrm>
            <a:off x="609480" y="53352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Times New Roman"/>
                <a:ea typeface="研澤中隸體"/>
              </a:rPr>
              <a:t>整體通路策略思考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Rectangle 9"/>
          <p:cNvSpPr/>
          <p:nvPr/>
        </p:nvSpPr>
        <p:spPr>
          <a:xfrm>
            <a:off x="990720" y="1447920"/>
            <a:ext cx="7772400" cy="48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通路目標</a:t>
            </a:r>
            <a:r>
              <a:rPr b="1" lang="en-US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          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長期目標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短期目標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產品組合策略</a:t>
            </a:r>
            <a:r>
              <a:rPr b="1" lang="en-US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資源分配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新產品引入或重新定義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產品淘汰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499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行動方案</a:t>
            </a:r>
            <a:r>
              <a:rPr b="1" lang="en-US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行銷通路資源分配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市場劃分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311120" indent="482760">
              <a:lnSpc>
                <a:spcPct val="100000"/>
              </a:lnSpc>
              <a:tabLst>
                <a:tab algn="l" pos="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0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產品定位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AutoShape 10"/>
          <p:cNvSpPr/>
          <p:nvPr/>
        </p:nvSpPr>
        <p:spPr>
          <a:xfrm>
            <a:off x="4267080" y="1828800"/>
            <a:ext cx="838440" cy="228600"/>
          </a:xfrm>
          <a:prstGeom prst="rightArrow">
            <a:avLst>
              <a:gd name="adj1" fmla="val 50000"/>
              <a:gd name="adj2" fmla="val 91693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Oval 12"/>
          <p:cNvSpPr/>
          <p:nvPr/>
        </p:nvSpPr>
        <p:spPr>
          <a:xfrm>
            <a:off x="5562720" y="1676520"/>
            <a:ext cx="609480" cy="609480"/>
          </a:xfrm>
          <a:prstGeom prst="ellipse">
            <a:avLst/>
          </a:prstGeom>
          <a:solidFill>
            <a:srgbClr val="33333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Oval 15"/>
          <p:cNvSpPr/>
          <p:nvPr/>
        </p:nvSpPr>
        <p:spPr>
          <a:xfrm>
            <a:off x="5638680" y="1752480"/>
            <a:ext cx="457200" cy="457200"/>
          </a:xfrm>
          <a:prstGeom prst="ellipse">
            <a:avLst/>
          </a:prstGeom>
          <a:solidFill>
            <a:srgbClr val="ccffcc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Oval 17"/>
          <p:cNvSpPr/>
          <p:nvPr/>
        </p:nvSpPr>
        <p:spPr>
          <a:xfrm>
            <a:off x="5715000" y="1828800"/>
            <a:ext cx="304920" cy="304920"/>
          </a:xfrm>
          <a:prstGeom prst="ellipse">
            <a:avLst/>
          </a:prstGeom>
          <a:solidFill>
            <a:srgbClr val="ffff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Oval 18"/>
          <p:cNvSpPr/>
          <p:nvPr/>
        </p:nvSpPr>
        <p:spPr>
          <a:xfrm>
            <a:off x="5791320" y="1905120"/>
            <a:ext cx="152280" cy="152280"/>
          </a:xfrm>
          <a:prstGeom prst="ellipse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AutoShape 19"/>
          <p:cNvSpPr/>
          <p:nvPr/>
        </p:nvSpPr>
        <p:spPr>
          <a:xfrm>
            <a:off x="1600200" y="1905120"/>
            <a:ext cx="228600" cy="609480"/>
          </a:xfrm>
          <a:prstGeom prst="downArrow">
            <a:avLst>
              <a:gd name="adj1" fmla="val 50000"/>
              <a:gd name="adj2" fmla="val 66654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ctr" anchorCtr="1" vert="eaVer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AutoShape 20"/>
          <p:cNvSpPr/>
          <p:nvPr/>
        </p:nvSpPr>
        <p:spPr>
          <a:xfrm>
            <a:off x="1600200" y="3048120"/>
            <a:ext cx="228600" cy="68580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00cc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46800" rIns="46800" tIns="90000" bIns="90000" anchor="ctr" anchorCtr="1" vert="eaVer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69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70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71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Rectangle 8"/>
          <p:cNvSpPr/>
          <p:nvPr/>
        </p:nvSpPr>
        <p:spPr>
          <a:xfrm>
            <a:off x="609480" y="3808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研澤中隸體"/>
              </a:rPr>
              <a:t>通路功能再思考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5" name="Object 9"/>
          <p:cNvGraphicFramePr/>
          <p:nvPr/>
        </p:nvGraphicFramePr>
        <p:xfrm>
          <a:off x="1549440" y="1690560"/>
          <a:ext cx="6089760" cy="4618080"/>
        </p:xfrm>
        <a:graphic>
          <a:graphicData uri="http://schemas.openxmlformats.org/presentationml/2006/ole">
            <p:oleObj r:id="rId4" spid="">
              <p:embed/>
              <p:pic>
                <p:nvPicPr>
                  <p:cNvPr id="76" name="Object 9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1549440" y="1690560"/>
                    <a:ext cx="6089760" cy="46180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</p:spTree>
  </p:cSld>
  <p:transition>
    <p:random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78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79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80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Rectangle 8"/>
          <p:cNvSpPr/>
          <p:nvPr/>
        </p:nvSpPr>
        <p:spPr>
          <a:xfrm>
            <a:off x="609480" y="60948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Times New Roman"/>
                <a:ea typeface="研澤中隸體"/>
              </a:rPr>
              <a:t>可口可樂的通路管理哲學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Rectangle 9"/>
          <p:cNvSpPr/>
          <p:nvPr/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一 不同通路的消費者有不同的消費習性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二 消費者是游移於各通路之中的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三 不同通路應給予不同的產品不同的價錢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  口味 包裝 品牌大小 </a:t>
            </a:r>
            <a:r>
              <a:rPr b="1" lang="en-US" sz="24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…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四 消費者會因通路不同而有不同的服務水準要求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五 通路經營者會有不同的經營哲學與目標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11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六 分眾通路越多 經營成本越高 且是必然趨勢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 algn="ctr">
              <a:lnSpc>
                <a:spcPct val="10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 Box 19"/>
          <p:cNvSpPr/>
          <p:nvPr/>
        </p:nvSpPr>
        <p:spPr>
          <a:xfrm>
            <a:off x="0" y="6392880"/>
            <a:ext cx="739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t>https://www.ppthub.shop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87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88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89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609480" y="53352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Times New Roman"/>
                <a:ea typeface="研澤中隸體"/>
              </a:rPr>
              <a:t>通路的劃分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533520" y="1523880"/>
            <a:ext cx="830556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spcBef>
                <a:spcPts val="7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0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一 </a:t>
            </a: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依廠商交貨給顧客方式來分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經銷       直營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二 依通路特性來分 </a:t>
            </a:r>
            <a:r>
              <a:rPr b="1" lang="en-US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en-US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</a:t>
            </a: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便利商店 量販超市 速食餐飲 娛樂場所  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戲院 </a:t>
            </a:r>
            <a:r>
              <a:rPr b="1" lang="en-US" sz="23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KTV </a:t>
            </a: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主題樂園 學校 飯店 交通</a:t>
            </a:r>
            <a:r>
              <a:rPr b="1" lang="en-US" sz="23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…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三 依消費者消費習性來分以</a:t>
            </a:r>
            <a:r>
              <a:rPr b="1" lang="en-US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:</a:t>
            </a: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飲料業為例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即飲市場        帶回家享用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7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1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四 依客戶營業額大小來分</a:t>
            </a:r>
            <a:endParaRPr b="0" lang="en-US" sz="3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436680" indent="384120">
              <a:lnSpc>
                <a:spcPct val="100000"/>
              </a:lnSpc>
              <a:spcBef>
                <a:spcPts val="286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2300" strike="noStrike" u="none">
                <a:solidFill>
                  <a:srgbClr val="003399"/>
                </a:solidFill>
                <a:effectLst/>
                <a:uFillTx/>
                <a:latin typeface="研澤中隸體"/>
                <a:ea typeface="研澤中隸體"/>
              </a:rPr>
              <a:t> 主要客戶       小型客戶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AutoShape 10"/>
          <p:cNvSpPr/>
          <p:nvPr/>
        </p:nvSpPr>
        <p:spPr>
          <a:xfrm>
            <a:off x="2438280" y="2133720"/>
            <a:ext cx="457200" cy="228600"/>
          </a:xfrm>
          <a:prstGeom prst="leftRightArrow">
            <a:avLst>
              <a:gd name="adj1" fmla="val 50000"/>
              <a:gd name="adj2" fmla="val 39815"/>
            </a:avLst>
          </a:prstGeom>
          <a:solidFill>
            <a:srgbClr val="ffff99"/>
          </a:solidFill>
          <a:ln w="9360">
            <a:solidFill>
              <a:srgbClr val="00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AutoShape 11"/>
          <p:cNvSpPr/>
          <p:nvPr/>
        </p:nvSpPr>
        <p:spPr>
          <a:xfrm>
            <a:off x="3048120" y="4419720"/>
            <a:ext cx="457200" cy="228600"/>
          </a:xfrm>
          <a:prstGeom prst="leftRightArrow">
            <a:avLst>
              <a:gd name="adj1" fmla="val 50000"/>
              <a:gd name="adj2" fmla="val 39815"/>
            </a:avLst>
          </a:prstGeom>
          <a:solidFill>
            <a:srgbClr val="ffff99"/>
          </a:solidFill>
          <a:ln w="9360">
            <a:solidFill>
              <a:srgbClr val="00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AutoShape 12"/>
          <p:cNvSpPr/>
          <p:nvPr/>
        </p:nvSpPr>
        <p:spPr>
          <a:xfrm>
            <a:off x="3124080" y="5410080"/>
            <a:ext cx="457200" cy="228600"/>
          </a:xfrm>
          <a:prstGeom prst="leftRightArrow">
            <a:avLst>
              <a:gd name="adj1" fmla="val 50000"/>
              <a:gd name="adj2" fmla="val 39815"/>
            </a:avLst>
          </a:prstGeom>
          <a:solidFill>
            <a:srgbClr val="ffff99"/>
          </a:solidFill>
          <a:ln w="9360">
            <a:solidFill>
              <a:srgbClr val="0033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533160" y="2209320"/>
            <a:ext cx="8381880" cy="396252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br>
              <a:rPr sz="4000"/>
            </a:br>
            <a:endParaRPr b="1" lang="en-US" sz="4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98" name="Object 3"/>
          <p:cNvGraphicFramePr/>
          <p:nvPr/>
        </p:nvGraphicFramePr>
        <p:xfrm>
          <a:off x="6248520" y="266760"/>
          <a:ext cx="609480" cy="419040"/>
        </p:xfrm>
        <a:graphic>
          <a:graphicData uri="http://schemas.openxmlformats.org/presentationml/2006/ole">
            <p:oleObj r:id="rId2" spid="">
              <p:embed/>
              <p:pic>
                <p:nvPicPr>
                  <p:cNvPr id="99" name="Object 3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6248520" y="266760"/>
                    <a:ext cx="609480" cy="419040"/>
                  </a:xfrm>
                  <a:prstGeom prst="rect">
                    <a:avLst/>
                  </a:prstGeom>
                  <a:noFill/>
                  <a:ln w="0">
                    <a:noFill/>
                  </a:ln>
                  <a:effectLst>
                    <a:outerShdw dist="40186" dir="1096358" blurRad="0" rotWithShape="0">
                      <a:srgbClr val="000000"/>
                    </a:outerShdw>
                  </a:effectLst>
                </p:spPr>
              </p:pic>
            </p:oleObj>
          </a:graphicData>
        </a:graphic>
      </p:graphicFrame>
      <p:sp>
        <p:nvSpPr>
          <p:cNvPr id="100" name="Rectangle 4"/>
          <p:cNvSpPr/>
          <p:nvPr/>
        </p:nvSpPr>
        <p:spPr>
          <a:xfrm>
            <a:off x="6933600" y="304920"/>
            <a:ext cx="2560320" cy="374760"/>
          </a:xfrm>
          <a:prstGeom prst="rect">
            <a:avLst/>
          </a:prstGeom>
          <a:noFill/>
          <a:ln w="0">
            <a:noFill/>
          </a:ln>
          <a:effectLst>
            <a:outerShdw dist="40186" dir="1096358" blurRad="0" rotWithShape="0">
              <a:srgbClr val="0000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8640" rIns="98640" tIns="50040" bIns="50040" anchor="t">
            <a:spAutoFit/>
          </a:bodyPr>
          <a:p>
            <a:pPr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i="1" lang="en-US" sz="18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Swire Coca-Cola Taiwan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Text Box 6"/>
          <p:cNvSpPr/>
          <p:nvPr/>
        </p:nvSpPr>
        <p:spPr>
          <a:xfrm>
            <a:off x="1219320" y="1295280"/>
            <a:ext cx="655308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 Box 7"/>
          <p:cNvSpPr/>
          <p:nvPr/>
        </p:nvSpPr>
        <p:spPr>
          <a:xfrm>
            <a:off x="609480" y="1143000"/>
            <a:ext cx="7162920" cy="57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Rectangle 8"/>
          <p:cNvSpPr/>
          <p:nvPr/>
        </p:nvSpPr>
        <p:spPr>
          <a:xfrm>
            <a:off x="533520" y="914400"/>
            <a:ext cx="7772400" cy="11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e1291b"/>
                </a:solidFill>
                <a:effectLst/>
                <a:uFillTx/>
                <a:latin typeface="研澤中隸體"/>
                <a:ea typeface="研澤中隸體"/>
              </a:rPr>
              <a:t>結     論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Rectangle 9"/>
          <p:cNvSpPr/>
          <p:nvPr/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endParaRPr b="0" lang="en-US" sz="3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5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通路轉變之腳步不曾停歇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spcBef>
                <a:spcPts val="4374"/>
              </a:spcBef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500" strike="noStrike" u="none">
                <a:solidFill>
                  <a:srgbClr val="003399"/>
                </a:solidFill>
                <a:effectLst/>
                <a:uFillTx/>
                <a:latin typeface="Times New Roman"/>
                <a:ea typeface="研澤中隸體"/>
              </a:rPr>
              <a:t>通路變革之壓力不曾稍減</a:t>
            </a:r>
            <a:endParaRPr b="0" lang="en-US" sz="35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61760" y="1828440"/>
            <a:ext cx="8381880" cy="16002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 algn="ct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個案探討</a:t>
            </a:r>
            <a:br>
              <a:rPr sz="3800"/>
            </a:b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“</a:t>
            </a: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Qoo” </a:t>
            </a: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酷兒</a:t>
            </a: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2001</a:t>
            </a: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年上市計劃</a:t>
            </a: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06" name="Group 13"/>
          <p:cNvGrpSpPr/>
          <p:nvPr/>
        </p:nvGrpSpPr>
        <p:grpSpPr>
          <a:xfrm>
            <a:off x="2286000" y="3657600"/>
            <a:ext cx="4799880" cy="1447560"/>
            <a:chOff x="2286000" y="3657600"/>
            <a:chExt cx="4799880" cy="1447560"/>
          </a:xfrm>
        </p:grpSpPr>
        <p:graphicFrame>
          <p:nvGraphicFramePr>
            <p:cNvPr id="107" name="Object 14"/>
            <p:cNvGraphicFramePr/>
            <p:nvPr/>
          </p:nvGraphicFramePr>
          <p:xfrm>
            <a:off x="2286000" y="3726360"/>
            <a:ext cx="1025280" cy="1275840"/>
          </p:xfrm>
          <a:graphic>
            <a:graphicData uri="http://schemas.openxmlformats.org/presentationml/2006/ole">
              <p:oleObj r:id="rId1" spid="">
                <p:embed/>
                <p:pic>
                  <p:nvPicPr>
                    <p:cNvPr id="108" name="Object 14" descr=""/>
                    <p:cNvPicPr/>
                    <p:nvPr/>
                  </p:nvPicPr>
                  <p:blipFill>
                    <a:blip r:embed="rId2"/>
                    <a:stretch/>
                  </p:blipFill>
                  <p:spPr>
                    <a:xfrm>
                      <a:off x="2286000" y="3726360"/>
                      <a:ext cx="1025280" cy="127584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graphicFrame>
          <p:nvGraphicFramePr>
            <p:cNvPr id="109" name="Object 15"/>
            <p:cNvGraphicFramePr/>
            <p:nvPr/>
          </p:nvGraphicFramePr>
          <p:xfrm>
            <a:off x="3466440" y="3758760"/>
            <a:ext cx="1113480" cy="1255320"/>
          </p:xfrm>
          <a:graphic>
            <a:graphicData uri="http://schemas.openxmlformats.org/presentationml/2006/ole">
              <p:oleObj r:id="rId3" spid="">
                <p:embed/>
                <p:pic>
                  <p:nvPicPr>
                    <p:cNvPr id="110" name="Object 15" descr=""/>
                    <p:cNvPicPr/>
                    <p:nvPr/>
                  </p:nvPicPr>
                  <p:blipFill>
                    <a:blip r:embed="rId4"/>
                    <a:stretch/>
                  </p:blipFill>
                  <p:spPr>
                    <a:xfrm>
                      <a:off x="3466440" y="3758760"/>
                      <a:ext cx="1113480" cy="125532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graphicFrame>
          <p:nvGraphicFramePr>
            <p:cNvPr id="111" name="Object 16"/>
            <p:cNvGraphicFramePr/>
            <p:nvPr/>
          </p:nvGraphicFramePr>
          <p:xfrm>
            <a:off x="4608000" y="3697560"/>
            <a:ext cx="1109520" cy="1407600"/>
          </p:xfrm>
          <a:graphic>
            <a:graphicData uri="http://schemas.openxmlformats.org/presentationml/2006/ole">
              <p:oleObj r:id="rId5" spid="">
                <p:embed/>
                <p:pic>
                  <p:nvPicPr>
                    <p:cNvPr id="112" name="Object 16" descr=""/>
                    <p:cNvPicPr/>
                    <p:nvPr/>
                  </p:nvPicPr>
                  <p:blipFill>
                    <a:blip r:embed="rId6"/>
                    <a:stretch/>
                  </p:blipFill>
                  <p:spPr>
                    <a:xfrm>
                      <a:off x="4608000" y="3697560"/>
                      <a:ext cx="1109520" cy="14076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graphicFrame>
          <p:nvGraphicFramePr>
            <p:cNvPr id="113" name="Object 17"/>
            <p:cNvGraphicFramePr/>
            <p:nvPr/>
          </p:nvGraphicFramePr>
          <p:xfrm>
            <a:off x="5724000" y="3657600"/>
            <a:ext cx="1361880" cy="1424880"/>
          </p:xfrm>
          <a:graphic>
            <a:graphicData uri="http://schemas.openxmlformats.org/presentationml/2006/ole">
              <p:oleObj r:id="rId7" spid="">
                <p:embed/>
                <p:pic>
                  <p:nvPicPr>
                    <p:cNvPr id="114" name="Object 17" descr=""/>
                    <p:cNvPicPr/>
                    <p:nvPr/>
                  </p:nvPicPr>
                  <p:blipFill>
                    <a:blip r:embed="rId8"/>
                    <a:stretch/>
                  </p:blipFill>
                  <p:spPr>
                    <a:xfrm>
                      <a:off x="5724000" y="3657600"/>
                      <a:ext cx="1361880" cy="142488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</p:grpSp>
    </p:spTree>
  </p:cSld>
  <p:transition>
    <p:random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14040" y="761760"/>
            <a:ext cx="7759800" cy="60948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4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台灣即飲市場分析</a:t>
            </a:r>
            <a:endParaRPr b="1" lang="en-US" sz="4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16" name="Object 3"/>
          <p:cNvGraphicFramePr/>
          <p:nvPr/>
        </p:nvGraphicFramePr>
        <p:xfrm>
          <a:off x="1238400" y="2057400"/>
          <a:ext cx="7016760" cy="38862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17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238400" y="2057400"/>
                    <a:ext cx="7016760" cy="3886200"/>
                  </a:xfrm>
                  <a:prstGeom prst="rect">
                    <a:avLst/>
                  </a:prstGeom>
                  <a:noFill/>
                  <a:ln w="9360">
                    <a:solidFill>
                      <a:srgbClr val="000000"/>
                    </a:solidFill>
                    <a:miter/>
                  </a:ln>
                </p:spPr>
              </p:pic>
            </p:oleObj>
          </a:graphicData>
        </a:graphic>
      </p:graphicFrame>
      <p:sp>
        <p:nvSpPr>
          <p:cNvPr id="118" name="Rectangle 4"/>
          <p:cNvSpPr/>
          <p:nvPr/>
        </p:nvSpPr>
        <p:spPr>
          <a:xfrm>
            <a:off x="5586120" y="6173640"/>
            <a:ext cx="3086280" cy="4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2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華康儷粗黑"/>
              </a:rPr>
              <a:t>Sources: </a:t>
            </a:r>
            <a:r>
              <a:rPr b="0" i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華康儷粗黑"/>
              </a:rPr>
              <a:t>Taiwan Beverage Industries Association (2000)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spcBef>
                <a:spcPts val="2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華康儷粗黑"/>
              </a:rPr>
              <a:t>                Retail Market Magazine (journalist)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 Box 5"/>
          <p:cNvSpPr/>
          <p:nvPr/>
        </p:nvSpPr>
        <p:spPr>
          <a:xfrm>
            <a:off x="611280" y="1523880"/>
            <a:ext cx="58068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spcBef>
                <a:spcPts val="601"/>
              </a:spcBef>
              <a:buClr>
                <a:srgbClr val="ff3300"/>
              </a:buClr>
              <a:buFont typeface="Symbol" charset="2"/>
              <a:buChar char="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zh-TW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華康儷粗黑"/>
              </a:rPr>
              <a:t>果汁飲品在整個飲料市場中有成長的空間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Oval 6"/>
          <p:cNvSpPr/>
          <p:nvPr/>
        </p:nvSpPr>
        <p:spPr>
          <a:xfrm>
            <a:off x="3879720" y="4952880"/>
            <a:ext cx="990720" cy="381240"/>
          </a:xfrm>
          <a:prstGeom prst="ellipse">
            <a:avLst/>
          </a:prstGeom>
          <a:noFill/>
          <a:ln w="2844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Object 2"/>
          <p:cNvGraphicFramePr/>
          <p:nvPr/>
        </p:nvGraphicFramePr>
        <p:xfrm>
          <a:off x="247680" y="2819520"/>
          <a:ext cx="9410760" cy="2179440"/>
        </p:xfrm>
        <a:graphic>
          <a:graphicData uri="http://schemas.openxmlformats.org/presentationml/2006/ole">
            <p:oleObj progId="Word.Document.12" r:id="rId1" spid="">
              <p:embed/>
              <p:pic>
                <p:nvPicPr>
                  <p:cNvPr id="122" name="Object 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47680" y="2819520"/>
                    <a:ext cx="9410760" cy="217944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3" name="Text Box 3"/>
          <p:cNvSpPr/>
          <p:nvPr/>
        </p:nvSpPr>
        <p:spPr>
          <a:xfrm>
            <a:off x="577800" y="4724280"/>
            <a:ext cx="49291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細明體"/>
              </a:rPr>
              <a:t>* Total No of Respondents: 161; Multiple Choice up to 3 answers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 Box 4"/>
          <p:cNvSpPr/>
          <p:nvPr/>
        </p:nvSpPr>
        <p:spPr>
          <a:xfrm>
            <a:off x="6462720" y="5562720"/>
            <a:ext cx="26683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Source: Drink Association 2000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Rectangle 5"/>
          <p:cNvSpPr/>
          <p:nvPr/>
        </p:nvSpPr>
        <p:spPr>
          <a:xfrm>
            <a:off x="330120" y="533520"/>
            <a:ext cx="676908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360" rIns="90360" tIns="44280" bIns="442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600" strike="noStrike" u="none">
                <a:solidFill>
                  <a:srgbClr val="000000"/>
                </a:solidFill>
                <a:effectLst/>
                <a:uFillTx/>
                <a:latin typeface="Traditional Arabic"/>
                <a:ea typeface="細明體"/>
              </a:rPr>
              <a:t>消費者對果汁的選擇考慮因素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Text Box 6"/>
          <p:cNvSpPr/>
          <p:nvPr/>
        </p:nvSpPr>
        <p:spPr>
          <a:xfrm>
            <a:off x="577800" y="1828800"/>
            <a:ext cx="866772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buClr>
                <a:srgbClr val="ff33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zh-TW" sz="24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細明體"/>
              </a:rPr>
              <a:t>口感</a:t>
            </a:r>
            <a:r>
              <a:rPr b="1" i="1" lang="zh-TW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細明體"/>
              </a:rPr>
              <a:t> </a:t>
            </a:r>
            <a:r>
              <a:rPr b="1" i="1" lang="en-US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細明體"/>
              </a:rPr>
              <a:t>, </a:t>
            </a:r>
            <a:r>
              <a:rPr b="1" i="1" lang="zh-TW" sz="24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細明體"/>
              </a:rPr>
              <a:t>新鮮度</a:t>
            </a:r>
            <a:r>
              <a:rPr b="1" i="1" lang="en-US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細明體"/>
              </a:rPr>
              <a:t>, </a:t>
            </a:r>
            <a:r>
              <a:rPr b="1" i="1" lang="zh-TW" sz="2400" strike="noStrike" u="none">
                <a:solidFill>
                  <a:srgbClr val="800000"/>
                </a:solidFill>
                <a:effectLst/>
                <a:uFillTx/>
                <a:latin typeface="Times New Roman"/>
                <a:ea typeface="細明體"/>
              </a:rPr>
              <a:t>及 </a:t>
            </a:r>
            <a:r>
              <a:rPr b="1" i="1" lang="zh-TW" sz="2400" strike="noStrike" u="none">
                <a:solidFill>
                  <a:srgbClr val="ff3300"/>
                </a:solidFill>
                <a:effectLst/>
                <a:uFillTx/>
                <a:latin typeface="Times New Roman"/>
                <a:ea typeface="細明體"/>
              </a:rPr>
              <a:t>有無附加營養 </a:t>
            </a:r>
            <a:r>
              <a:rPr b="1" i="1" lang="zh-TW" sz="2400" strike="noStrike" u="none">
                <a:solidFill>
                  <a:srgbClr val="0000ff"/>
                </a:solidFill>
                <a:effectLst/>
                <a:uFillTx/>
                <a:latin typeface="Times New Roman"/>
                <a:ea typeface="細明體"/>
              </a:rPr>
              <a:t>是消費者選擇果汁的最主要三個因素</a:t>
            </a:r>
            <a:r>
              <a:rPr b="1" i="1" lang="en-US" sz="2400" strike="noStrike" u="none">
                <a:solidFill>
                  <a:srgbClr val="0000ff"/>
                </a:solidFill>
                <a:effectLst/>
                <a:uFillTx/>
                <a:latin typeface="Times New Roman"/>
                <a:ea typeface="細明體"/>
              </a:rPr>
              <a:t>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Oval 7"/>
          <p:cNvSpPr/>
          <p:nvPr/>
        </p:nvSpPr>
        <p:spPr>
          <a:xfrm>
            <a:off x="1403280" y="4038480"/>
            <a:ext cx="495360" cy="457200"/>
          </a:xfrm>
          <a:prstGeom prst="ellipse">
            <a:avLst/>
          </a:prstGeom>
          <a:noFill/>
          <a:ln w="9360">
            <a:solidFill>
              <a:srgbClr val="ff0000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9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2" descr=""/>
          <p:cNvPicPr/>
          <p:nvPr/>
        </p:nvPicPr>
        <p:blipFill>
          <a:blip r:embed="rId1"/>
          <a:stretch/>
        </p:blipFill>
        <p:spPr>
          <a:xfrm>
            <a:off x="100080" y="3233880"/>
            <a:ext cx="4817880" cy="3057480"/>
          </a:xfrm>
          <a:prstGeom prst="rect">
            <a:avLst/>
          </a:prstGeom>
          <a:noFill/>
          <a:ln w="9360">
            <a:solidFill>
              <a:srgbClr val="ccff99"/>
            </a:solidFill>
            <a:miter/>
          </a:ln>
        </p:spPr>
      </p:pic>
      <p:pic>
        <p:nvPicPr>
          <p:cNvPr id="129" name="Picture 3" descr=""/>
          <p:cNvPicPr/>
          <p:nvPr/>
        </p:nvPicPr>
        <p:blipFill>
          <a:blip r:embed="rId2"/>
          <a:stretch/>
        </p:blipFill>
        <p:spPr>
          <a:xfrm>
            <a:off x="5018040" y="3233880"/>
            <a:ext cx="4830840" cy="3038400"/>
          </a:xfrm>
          <a:prstGeom prst="rect">
            <a:avLst/>
          </a:prstGeom>
          <a:noFill/>
          <a:ln w="9360">
            <a:solidFill>
              <a:srgbClr val="ccff99"/>
            </a:solidFill>
            <a:miter/>
          </a:ln>
        </p:spPr>
      </p:pic>
      <p:sp>
        <p:nvSpPr>
          <p:cNvPr id="130" name="Rectangle 4"/>
          <p:cNvSpPr/>
          <p:nvPr/>
        </p:nvSpPr>
        <p:spPr>
          <a:xfrm>
            <a:off x="495360" y="304920"/>
            <a:ext cx="766296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TW" sz="28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來自消費者的回應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: </a:t>
            </a:r>
            <a:r>
              <a:rPr b="0" lang="zh-TW" sz="28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太棒的產品了</a:t>
            </a:r>
            <a:br>
              <a:rPr sz="2800"/>
            </a:br>
            <a:r>
              <a:rPr b="0" lang="zh-TW" sz="32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韓國上市兩個月內成功經驗分享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AutoShape 5"/>
          <p:cNvSpPr/>
          <p:nvPr/>
        </p:nvSpPr>
        <p:spPr>
          <a:xfrm>
            <a:off x="325440" y="1676520"/>
            <a:ext cx="9580680" cy="1199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 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Qoo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的試用包一下子就被索取光了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 Qoo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在上市不久後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,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曾經購買的媽媽和小朋友的人數增加迅速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   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 </a:t>
            </a:r>
            <a:r>
              <a:rPr b="0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曾經喝過的人很快就再次購買了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Text Box 6"/>
          <p:cNvSpPr/>
          <p:nvPr/>
        </p:nvSpPr>
        <p:spPr>
          <a:xfrm>
            <a:off x="907920" y="2895480"/>
            <a:ext cx="2838600" cy="507960"/>
          </a:xfrm>
          <a:prstGeom prst="rect">
            <a:avLst/>
          </a:prstGeom>
          <a:solidFill>
            <a:srgbClr val="cc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7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細明體"/>
              </a:rPr>
              <a:t>曾經喝過</a:t>
            </a:r>
            <a:r>
              <a:rPr b="1" lang="en-US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굴림"/>
              </a:rPr>
              <a:t>Qoo</a:t>
            </a:r>
            <a:r>
              <a:rPr b="1" lang="zh-TW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細明體"/>
              </a:rPr>
              <a:t>的比例</a:t>
            </a:r>
            <a:r>
              <a:rPr b="1" lang="ko-KR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굴림"/>
              </a:rPr>
              <a:t>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 Box 7"/>
          <p:cNvSpPr/>
          <p:nvPr/>
        </p:nvSpPr>
        <p:spPr>
          <a:xfrm>
            <a:off x="5861160" y="2895480"/>
            <a:ext cx="3054240" cy="507960"/>
          </a:xfrm>
          <a:prstGeom prst="rect">
            <a:avLst/>
          </a:prstGeom>
          <a:solidFill>
            <a:srgbClr val="ccff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70000"/>
              </a:lnSpc>
              <a:spcBef>
                <a:spcPts val="1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細明體"/>
              </a:rPr>
              <a:t>曾經買過</a:t>
            </a:r>
            <a:r>
              <a:rPr b="1" lang="en-US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굴림"/>
              </a:rPr>
              <a:t>Qoo</a:t>
            </a:r>
            <a:r>
              <a:rPr b="1" lang="zh-TW" sz="1600" strike="noStrike" u="none">
                <a:solidFill>
                  <a:srgbClr val="003300"/>
                </a:solidFill>
                <a:effectLst/>
                <a:uFillTx/>
                <a:latin typeface="Comic Sans MS"/>
                <a:ea typeface="細明體"/>
              </a:rPr>
              <a:t>的比例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Text Box 8"/>
          <p:cNvSpPr/>
          <p:nvPr/>
        </p:nvSpPr>
        <p:spPr>
          <a:xfrm>
            <a:off x="6286680" y="6553080"/>
            <a:ext cx="36194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7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2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(</a:t>
            </a:r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굴림"/>
              </a:rPr>
              <a:t>Source : Consumer tracking survey)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Box 2"/>
          <p:cNvSpPr/>
          <p:nvPr/>
        </p:nvSpPr>
        <p:spPr>
          <a:xfrm>
            <a:off x="457200" y="685800"/>
            <a:ext cx="7016760" cy="113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2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研澤中圓體"/>
              </a:rPr>
              <a:t>產品剛上市的業績實在是“旺”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研澤中圓體"/>
              </a:rPr>
              <a:t>韓國業績一路長紅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AutoShape 3"/>
          <p:cNvSpPr/>
          <p:nvPr/>
        </p:nvSpPr>
        <p:spPr>
          <a:xfrm>
            <a:off x="495360" y="1596240"/>
            <a:ext cx="8667720" cy="8938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30000"/>
              </a:lnSpc>
              <a:buClr>
                <a:srgbClr val="99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從四月上市至六月</a:t>
            </a:r>
            <a:r>
              <a:rPr b="1" lang="en-US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, </a:t>
            </a: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三個月內的實際銷量已超過整年的預估銷量</a:t>
            </a:r>
            <a:r>
              <a:rPr b="1" lang="en-US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30000"/>
              </a:lnSpc>
              <a:buClr>
                <a:srgbClr val="990000"/>
              </a:buClr>
              <a:buFont typeface="Comic Sans MS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自從</a:t>
            </a:r>
            <a:r>
              <a:rPr b="1" lang="en-US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2001</a:t>
            </a: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年六月起</a:t>
            </a:r>
            <a:r>
              <a:rPr b="1" lang="en-US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, Qoo</a:t>
            </a:r>
            <a:r>
              <a:rPr b="1" lang="zh-TW" sz="1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的業績已在韓國可口可樂所有產品中排名第三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37" name="Group 4"/>
          <p:cNvGrpSpPr/>
          <p:nvPr/>
        </p:nvGrpSpPr>
        <p:grpSpPr>
          <a:xfrm>
            <a:off x="573840" y="2819520"/>
            <a:ext cx="8506440" cy="3343680"/>
            <a:chOff x="573840" y="2819520"/>
            <a:chExt cx="8506440" cy="3343680"/>
          </a:xfrm>
        </p:grpSpPr>
        <p:sp>
          <p:nvSpPr>
            <p:cNvPr id="138" name="Rectangle 5"/>
            <p:cNvSpPr/>
            <p:nvPr/>
          </p:nvSpPr>
          <p:spPr>
            <a:xfrm>
              <a:off x="2358720" y="5355360"/>
              <a:ext cx="524520" cy="413280"/>
            </a:xfrm>
            <a:prstGeom prst="rect">
              <a:avLst/>
            </a:prstGeom>
            <a:solidFill>
              <a:srgbClr val="9999ff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" name="Rectangle 6"/>
            <p:cNvSpPr/>
            <p:nvPr/>
          </p:nvSpPr>
          <p:spPr>
            <a:xfrm>
              <a:off x="4154760" y="5355360"/>
              <a:ext cx="526320" cy="413280"/>
            </a:xfrm>
            <a:prstGeom prst="rect">
              <a:avLst/>
            </a:prstGeom>
            <a:solidFill>
              <a:srgbClr val="9999ff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" name="Rectangle 7"/>
            <p:cNvSpPr/>
            <p:nvPr/>
          </p:nvSpPr>
          <p:spPr>
            <a:xfrm>
              <a:off x="5951160" y="5372280"/>
              <a:ext cx="524520" cy="396360"/>
            </a:xfrm>
            <a:prstGeom prst="rect">
              <a:avLst/>
            </a:prstGeom>
            <a:solidFill>
              <a:srgbClr val="9999ff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1" name="Rectangle 8"/>
            <p:cNvSpPr/>
            <p:nvPr/>
          </p:nvSpPr>
          <p:spPr>
            <a:xfrm>
              <a:off x="2883600" y="5228280"/>
              <a:ext cx="505080" cy="540000"/>
            </a:xfrm>
            <a:prstGeom prst="rect">
              <a:avLst/>
            </a:prstGeom>
            <a:solidFill>
              <a:srgbClr val="ff0000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2" name="Rectangle 9"/>
            <p:cNvSpPr/>
            <p:nvPr/>
          </p:nvSpPr>
          <p:spPr>
            <a:xfrm>
              <a:off x="4681080" y="4575960"/>
              <a:ext cx="503640" cy="1192320"/>
            </a:xfrm>
            <a:prstGeom prst="rect">
              <a:avLst/>
            </a:prstGeom>
            <a:solidFill>
              <a:srgbClr val="ff0000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3" name="Rectangle 10"/>
            <p:cNvSpPr/>
            <p:nvPr/>
          </p:nvSpPr>
          <p:spPr>
            <a:xfrm>
              <a:off x="6475680" y="3733920"/>
              <a:ext cx="505080" cy="2034720"/>
            </a:xfrm>
            <a:prstGeom prst="rect">
              <a:avLst/>
            </a:prstGeom>
            <a:solidFill>
              <a:srgbClr val="ff0000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4" name="Line 11"/>
            <p:cNvSpPr/>
            <p:nvPr/>
          </p:nvSpPr>
          <p:spPr>
            <a:xfrm>
              <a:off x="1975680" y="3256560"/>
              <a:ext cx="1800" cy="2512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5" name="Line 12"/>
            <p:cNvSpPr/>
            <p:nvPr/>
          </p:nvSpPr>
          <p:spPr>
            <a:xfrm>
              <a:off x="1975680" y="5768640"/>
              <a:ext cx="10116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6" name="Line 13"/>
            <p:cNvSpPr/>
            <p:nvPr/>
          </p:nvSpPr>
          <p:spPr>
            <a:xfrm>
              <a:off x="1975680" y="5148720"/>
              <a:ext cx="10116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7" name="Line 14"/>
            <p:cNvSpPr/>
            <p:nvPr/>
          </p:nvSpPr>
          <p:spPr>
            <a:xfrm>
              <a:off x="1975680" y="4513320"/>
              <a:ext cx="101160" cy="1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8" name="Line 15"/>
            <p:cNvSpPr/>
            <p:nvPr/>
          </p:nvSpPr>
          <p:spPr>
            <a:xfrm>
              <a:off x="1975680" y="3893400"/>
              <a:ext cx="101160" cy="1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9" name="Line 16"/>
            <p:cNvSpPr/>
            <p:nvPr/>
          </p:nvSpPr>
          <p:spPr>
            <a:xfrm>
              <a:off x="1975680" y="3256560"/>
              <a:ext cx="101160" cy="108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0" name="Line 17"/>
            <p:cNvSpPr/>
            <p:nvPr/>
          </p:nvSpPr>
          <p:spPr>
            <a:xfrm>
              <a:off x="1975680" y="5768640"/>
              <a:ext cx="5390280" cy="144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1" name="Line 18"/>
            <p:cNvSpPr/>
            <p:nvPr/>
          </p:nvSpPr>
          <p:spPr>
            <a:xfrm flipV="1">
              <a:off x="1975680" y="5689080"/>
              <a:ext cx="1800" cy="792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2" name="Line 19"/>
            <p:cNvSpPr/>
            <p:nvPr/>
          </p:nvSpPr>
          <p:spPr>
            <a:xfrm flipV="1">
              <a:off x="3771720" y="5689080"/>
              <a:ext cx="1800" cy="792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3" name="Line 20"/>
            <p:cNvSpPr/>
            <p:nvPr/>
          </p:nvSpPr>
          <p:spPr>
            <a:xfrm flipV="1">
              <a:off x="5567760" y="5689080"/>
              <a:ext cx="1800" cy="792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4" name="Line 21"/>
            <p:cNvSpPr/>
            <p:nvPr/>
          </p:nvSpPr>
          <p:spPr>
            <a:xfrm flipV="1">
              <a:off x="7365960" y="5689080"/>
              <a:ext cx="1440" cy="792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2400" bIns="32400" anchor="t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5" name="Rectangle 22"/>
            <p:cNvSpPr/>
            <p:nvPr/>
          </p:nvSpPr>
          <p:spPr>
            <a:xfrm>
              <a:off x="2360160" y="499212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130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6" name="Rectangle 23"/>
            <p:cNvSpPr/>
            <p:nvPr/>
          </p:nvSpPr>
          <p:spPr>
            <a:xfrm>
              <a:off x="4156200" y="500904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130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7" name="Rectangle 24"/>
            <p:cNvSpPr/>
            <p:nvPr/>
          </p:nvSpPr>
          <p:spPr>
            <a:xfrm>
              <a:off x="5952240" y="495864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129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8" name="Rectangle 25"/>
            <p:cNvSpPr/>
            <p:nvPr/>
          </p:nvSpPr>
          <p:spPr>
            <a:xfrm>
              <a:off x="2884680" y="481500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171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9" name="Rectangle 26"/>
            <p:cNvSpPr/>
            <p:nvPr/>
          </p:nvSpPr>
          <p:spPr>
            <a:xfrm>
              <a:off x="4680720" y="407484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378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0" name="Rectangle 27"/>
            <p:cNvSpPr/>
            <p:nvPr/>
          </p:nvSpPr>
          <p:spPr>
            <a:xfrm>
              <a:off x="6495480" y="338796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650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1" name="Rectangle 28"/>
            <p:cNvSpPr/>
            <p:nvPr/>
          </p:nvSpPr>
          <p:spPr>
            <a:xfrm>
              <a:off x="1539360" y="5626080"/>
              <a:ext cx="17928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2" name="Rectangle 29"/>
            <p:cNvSpPr/>
            <p:nvPr/>
          </p:nvSpPr>
          <p:spPr>
            <a:xfrm>
              <a:off x="1189440" y="500616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200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3" name="Rectangle 30"/>
            <p:cNvSpPr/>
            <p:nvPr/>
          </p:nvSpPr>
          <p:spPr>
            <a:xfrm>
              <a:off x="1189440" y="436788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400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4" name="Rectangle 31"/>
            <p:cNvSpPr/>
            <p:nvPr/>
          </p:nvSpPr>
          <p:spPr>
            <a:xfrm>
              <a:off x="1189440" y="374940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600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5" name="Rectangle 32"/>
            <p:cNvSpPr/>
            <p:nvPr/>
          </p:nvSpPr>
          <p:spPr>
            <a:xfrm>
              <a:off x="1189440" y="3114000"/>
              <a:ext cx="53640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ko-KR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800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6" name="Rectangle 33"/>
            <p:cNvSpPr/>
            <p:nvPr/>
          </p:nvSpPr>
          <p:spPr>
            <a:xfrm>
              <a:off x="2584800" y="5857920"/>
              <a:ext cx="586440" cy="30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April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7" name="Rectangle 34"/>
            <p:cNvSpPr/>
            <p:nvPr/>
          </p:nvSpPr>
          <p:spPr>
            <a:xfrm>
              <a:off x="4416840" y="5857920"/>
              <a:ext cx="488160" cy="30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May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8" name="Rectangle 35"/>
            <p:cNvSpPr/>
            <p:nvPr/>
          </p:nvSpPr>
          <p:spPr>
            <a:xfrm>
              <a:off x="6177600" y="5857920"/>
              <a:ext cx="574920" cy="30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20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June</a:t>
              </a:r>
              <a:endParaRPr b="0" lang="en-US" sz="20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9" name="Rectangle 36"/>
            <p:cNvSpPr/>
            <p:nvPr/>
          </p:nvSpPr>
          <p:spPr>
            <a:xfrm>
              <a:off x="7566120" y="4369680"/>
              <a:ext cx="1514160" cy="77904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0" name="Rectangle 37"/>
            <p:cNvSpPr/>
            <p:nvPr/>
          </p:nvSpPr>
          <p:spPr>
            <a:xfrm>
              <a:off x="7686720" y="4513320"/>
              <a:ext cx="201960" cy="158760"/>
            </a:xfrm>
            <a:prstGeom prst="rect">
              <a:avLst/>
            </a:prstGeom>
            <a:solidFill>
              <a:srgbClr val="9999ff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1" name="Rectangle 38"/>
            <p:cNvSpPr/>
            <p:nvPr/>
          </p:nvSpPr>
          <p:spPr>
            <a:xfrm>
              <a:off x="8009280" y="4433400"/>
              <a:ext cx="96444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Target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2" name="Rectangle 39"/>
            <p:cNvSpPr/>
            <p:nvPr/>
          </p:nvSpPr>
          <p:spPr>
            <a:xfrm>
              <a:off x="7686720" y="4894560"/>
              <a:ext cx="201960" cy="158760"/>
            </a:xfrm>
            <a:prstGeom prst="rect">
              <a:avLst/>
            </a:prstGeom>
            <a:solidFill>
              <a:srgbClr val="ff0000"/>
            </a:solidFill>
            <a:ln w="190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3" name="Rectangle 40"/>
            <p:cNvSpPr/>
            <p:nvPr/>
          </p:nvSpPr>
          <p:spPr>
            <a:xfrm>
              <a:off x="8007120" y="4815000"/>
              <a:ext cx="89784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3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굴림"/>
                </a:rPr>
                <a:t>Actual</a:t>
              </a:r>
              <a:endParaRPr b="0" lang="en-US" sz="2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4" name="Rectangle 41"/>
            <p:cNvSpPr/>
            <p:nvPr/>
          </p:nvSpPr>
          <p:spPr>
            <a:xfrm>
              <a:off x="573840" y="2819520"/>
              <a:ext cx="191052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ko-KR" sz="18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細明體"/>
                </a:rPr>
                <a:t>(</a:t>
              </a:r>
              <a:r>
                <a:rPr b="1" lang="en-US" sz="18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細明體"/>
                </a:rPr>
                <a:t>Unit: U/C-'000)</a:t>
              </a: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5" name="Text Box 42"/>
            <p:cNvSpPr/>
            <p:nvPr/>
          </p:nvSpPr>
          <p:spPr>
            <a:xfrm>
              <a:off x="5004000" y="2943360"/>
              <a:ext cx="4054680" cy="459720"/>
            </a:xfrm>
            <a:prstGeom prst="rect">
              <a:avLst/>
            </a:prstGeom>
            <a:solidFill>
              <a:srgbClr val="ffff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US" sz="2400" strike="noStrike" u="none">
                  <a:solidFill>
                    <a:srgbClr val="000000"/>
                  </a:solidFill>
                  <a:effectLst/>
                  <a:uFillTx/>
                  <a:latin typeface="Comic Sans MS"/>
                  <a:ea typeface="細明體"/>
                </a:rPr>
                <a:t>YTD June Total: 1,199</a:t>
              </a:r>
              <a:endPara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6" name="Line 43"/>
            <p:cNvSpPr/>
            <p:nvPr/>
          </p:nvSpPr>
          <p:spPr>
            <a:xfrm flipV="1">
              <a:off x="3206520" y="4561920"/>
              <a:ext cx="1738800" cy="6325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7" name="Line 44"/>
            <p:cNvSpPr/>
            <p:nvPr/>
          </p:nvSpPr>
          <p:spPr>
            <a:xfrm flipV="1">
              <a:off x="4947480" y="3711960"/>
              <a:ext cx="1825920" cy="8236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ctr">
              <a:noAutofit/>
            </a:bodyPr>
            <a:p>
              <a:endParaRPr b="0" lang="en-US" sz="32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transition>
    <p:random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2" descr=""/>
          <p:cNvPicPr/>
          <p:nvPr/>
        </p:nvPicPr>
        <p:blipFill>
          <a:blip r:embed="rId1"/>
          <a:stretch/>
        </p:blipFill>
        <p:spPr>
          <a:xfrm>
            <a:off x="243000" y="1136520"/>
            <a:ext cx="9305640" cy="488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Rectangle 3"/>
          <p:cNvSpPr/>
          <p:nvPr/>
        </p:nvSpPr>
        <p:spPr>
          <a:xfrm>
            <a:off x="914400" y="681120"/>
            <a:ext cx="6835680" cy="119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spAutoFit/>
          </a:bodyPr>
          <a:p>
            <a:pPr>
              <a:lnSpc>
                <a:spcPct val="100000"/>
              </a:lnSpc>
              <a:spcBef>
                <a:spcPts val="2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36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日本</a:t>
            </a: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Qoo</a:t>
            </a:r>
            <a:r>
              <a:rPr b="1" lang="zh-TW" sz="36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業績分析</a:t>
            </a:r>
            <a:r>
              <a:rPr b="1" lang="en-US" sz="36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, 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以口味別區分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Rectangle 5"/>
          <p:cNvSpPr/>
          <p:nvPr/>
        </p:nvSpPr>
        <p:spPr>
          <a:xfrm>
            <a:off x="2063880" y="5486400"/>
            <a:ext cx="1733400" cy="457200"/>
          </a:xfrm>
          <a:prstGeom prst="rect">
            <a:avLst/>
          </a:prstGeom>
          <a:noFill/>
          <a:ln w="12600">
            <a:solidFill>
              <a:srgbClr val="ff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Line 6"/>
          <p:cNvSpPr/>
          <p:nvPr/>
        </p:nvSpPr>
        <p:spPr>
          <a:xfrm flipH="1">
            <a:off x="3137040" y="2590920"/>
            <a:ext cx="1403280" cy="761760"/>
          </a:xfrm>
          <a:prstGeom prst="line">
            <a:avLst/>
          </a:prstGeom>
          <a:ln w="38160">
            <a:solidFill>
              <a:srgbClr val="ff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Line 7"/>
          <p:cNvSpPr/>
          <p:nvPr/>
        </p:nvSpPr>
        <p:spPr>
          <a:xfrm>
            <a:off x="6934320" y="2362320"/>
            <a:ext cx="1485720" cy="685800"/>
          </a:xfrm>
          <a:prstGeom prst="line">
            <a:avLst/>
          </a:prstGeom>
          <a:ln w="38160">
            <a:solidFill>
              <a:srgbClr val="ff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Line 8"/>
          <p:cNvSpPr/>
          <p:nvPr/>
        </p:nvSpPr>
        <p:spPr>
          <a:xfrm>
            <a:off x="5695920" y="2666880"/>
            <a:ext cx="825480" cy="609840"/>
          </a:xfrm>
          <a:prstGeom prst="line">
            <a:avLst/>
          </a:prstGeom>
          <a:ln w="38160">
            <a:solidFill>
              <a:srgbClr val="ff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Text Box 9"/>
          <p:cNvSpPr/>
          <p:nvPr/>
        </p:nvSpPr>
        <p:spPr>
          <a:xfrm>
            <a:off x="3467160" y="1600200"/>
            <a:ext cx="4044960" cy="91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6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聰明的行銷策略</a:t>
            </a:r>
            <a:r>
              <a:rPr b="1" lang="en-US" sz="16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:</a:t>
            </a:r>
            <a:r>
              <a:rPr b="1" lang="zh-TW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季節並不影響銷售</a:t>
            </a:r>
            <a:r>
              <a:rPr b="1" lang="en-US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, </a:t>
            </a:r>
            <a:r>
              <a:rPr b="1" lang="zh-TW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新口味上市再搭配促銷活動</a:t>
            </a:r>
            <a:r>
              <a:rPr b="1" lang="en-US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, </a:t>
            </a:r>
            <a:r>
              <a:rPr b="1" lang="zh-TW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掀起購買熱潮</a:t>
            </a:r>
            <a:r>
              <a:rPr b="1" lang="en-US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.</a:t>
            </a:r>
            <a:r>
              <a:rPr b="1" lang="zh-TW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促使銷量大幅成長</a:t>
            </a:r>
            <a:r>
              <a:rPr b="1" lang="en-US" sz="18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!!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Rectangle 10"/>
          <p:cNvSpPr/>
          <p:nvPr/>
        </p:nvSpPr>
        <p:spPr>
          <a:xfrm>
            <a:off x="6521400" y="5486400"/>
            <a:ext cx="2559240" cy="457200"/>
          </a:xfrm>
          <a:prstGeom prst="rect">
            <a:avLst/>
          </a:prstGeom>
          <a:noFill/>
          <a:ln w="9360">
            <a:solidFill>
              <a:srgbClr val="ff00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Text Box 19"/>
          <p:cNvSpPr/>
          <p:nvPr/>
        </p:nvSpPr>
        <p:spPr>
          <a:xfrm>
            <a:off x="0" y="6392880"/>
            <a:ext cx="73915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t>https://www.ppthub.shop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2" descr=""/>
          <p:cNvPicPr/>
          <p:nvPr/>
        </p:nvPicPr>
        <p:blipFill>
          <a:blip r:embed="rId1"/>
          <a:stretch/>
        </p:blipFill>
        <p:spPr>
          <a:xfrm>
            <a:off x="457200" y="1351080"/>
            <a:ext cx="9220320" cy="550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3" descr="I:\Marina\JOBS-Server(MQ)\(052) ACN PPT\281_ACN.png"/>
          <p:cNvPicPr/>
          <p:nvPr/>
        </p:nvPicPr>
        <p:blipFill>
          <a:blip r:embed="rId2"/>
          <a:stretch/>
        </p:blipFill>
        <p:spPr>
          <a:xfrm>
            <a:off x="0" y="6242040"/>
            <a:ext cx="9902880" cy="6159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89" name="Object 4"/>
          <p:cNvGraphicFramePr/>
          <p:nvPr/>
        </p:nvGraphicFramePr>
        <p:xfrm>
          <a:off x="8613720" y="6194520"/>
          <a:ext cx="685800" cy="67140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90" name="Object 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8613720" y="6194520"/>
                    <a:ext cx="685800" cy="6714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91" name="Text Box 5"/>
          <p:cNvSpPr/>
          <p:nvPr/>
        </p:nvSpPr>
        <p:spPr>
          <a:xfrm>
            <a:off x="457200" y="838080"/>
            <a:ext cx="9144000" cy="520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trike="noStrike" u="none">
                <a:solidFill>
                  <a:srgbClr val="333399"/>
                </a:solidFill>
                <a:effectLst/>
                <a:uFillTx/>
                <a:latin typeface="Arial"/>
              </a:rPr>
              <a:t>Qoo share declined since May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42680" y="609120"/>
            <a:ext cx="8420040" cy="11430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ctr">
            <a:noAutofit/>
          </a:bodyPr>
          <a:p>
            <a:pPr indent="0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r>
              <a:rPr b="1" lang="zh-TW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產品上市前研究的主要發現</a:t>
            </a:r>
            <a:r>
              <a:rPr b="1" lang="en-US" sz="38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endParaRPr b="1" lang="en-US" sz="3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742680" y="1981080"/>
            <a:ext cx="8420040" cy="4114800"/>
          </a:xfrm>
          <a:prstGeom prst="rect">
            <a:avLst/>
          </a:prstGeom>
          <a:noFill/>
          <a:ln w="0">
            <a:noFill/>
          </a:ln>
        </p:spPr>
        <p:txBody>
          <a:bodyPr lIns="98640" rIns="98640" tIns="50040" bIns="50040" anchor="t">
            <a:normAutofit/>
          </a:bodyPr>
          <a:p>
            <a:pPr marL="343080" indent="-343080">
              <a:lnSpc>
                <a:spcPct val="90000"/>
              </a:lnSpc>
              <a:spcBef>
                <a:spcPts val="675"/>
              </a:spcBef>
              <a:buClr>
                <a:srgbClr val="f30000"/>
              </a:buClr>
              <a:buFont typeface="Wingdings" charset="2"/>
              <a:buChar char="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口味測試</a:t>
            </a:r>
            <a:r>
              <a:rPr b="1" lang="en-US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: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最常喝的口味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柳橙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, 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葡萄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75"/>
              </a:spcBef>
              <a:buClr>
                <a:srgbClr val="f30000"/>
              </a:buClr>
              <a:buFont typeface="Wingdings" charset="2"/>
              <a:buChar char="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包裝測試</a:t>
            </a:r>
            <a:r>
              <a:rPr b="1" lang="en-US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: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很高的比例的受訪者喜歡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500 PET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330ml TPK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是對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13-15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歲小朋友最恰當的包裝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消費者對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500 PET 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的包裝最喜歡的理由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 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lnSpc>
                <a:spcPct val="90000"/>
              </a:lnSpc>
              <a:spcBef>
                <a:spcPts val="425"/>
              </a:spcBef>
              <a:buClr>
                <a:srgbClr val="3333cc"/>
              </a:buClr>
              <a:buSzPct val="70000"/>
              <a:buFont typeface="Monotype Sorts" charset="2"/>
              <a:buChar char="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“</a:t>
            </a:r>
            <a:r>
              <a:rPr b="1" lang="zh-TW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包裝很可愛</a:t>
            </a:r>
            <a:r>
              <a:rPr b="1" lang="zh-TW" sz="1700" strike="noStrike" u="none">
                <a:solidFill>
                  <a:srgbClr val="3333cc"/>
                </a:solidFill>
                <a:effectLst/>
                <a:uFillTx/>
                <a:latin typeface="Times New Roman"/>
              </a:rPr>
              <a:t>”</a:t>
            </a:r>
            <a:r>
              <a:rPr b="1" lang="en-US" sz="1700" strike="noStrike" u="none">
                <a:solidFill>
                  <a:srgbClr val="3333cc"/>
                </a:solidFill>
                <a:effectLst/>
                <a:uFillTx/>
                <a:latin typeface="Times New Roman"/>
              </a:rPr>
              <a:t>&amp;</a:t>
            </a:r>
            <a:r>
              <a:rPr b="1" lang="en-US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“</a:t>
            </a:r>
            <a:r>
              <a:rPr b="1" lang="zh-TW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配色很好”</a:t>
            </a:r>
            <a:r>
              <a:rPr b="1" lang="en-US" sz="1700" strike="noStrike" u="none">
                <a:solidFill>
                  <a:srgbClr val="3333cc"/>
                </a:solidFill>
                <a:effectLst/>
                <a:uFillTx/>
                <a:latin typeface="Times New Roman"/>
              </a:rPr>
              <a:t>&amp;</a:t>
            </a:r>
            <a:r>
              <a:rPr b="1" lang="en-US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“</a:t>
            </a:r>
            <a:r>
              <a:rPr b="1" lang="zh-TW" sz="1700" strike="noStrike" u="sng">
                <a:solidFill>
                  <a:srgbClr val="3333cc"/>
                </a:solidFill>
                <a:effectLst/>
                <a:uFillTx/>
                <a:latin typeface="Times New Roman"/>
              </a:rPr>
              <a:t>容量大小剛好可以分給別人一起喝”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343080" indent="-343080">
              <a:lnSpc>
                <a:spcPct val="90000"/>
              </a:lnSpc>
              <a:spcBef>
                <a:spcPts val="675"/>
              </a:spcBef>
              <a:buClr>
                <a:srgbClr val="f30000"/>
              </a:buClr>
              <a:buFont typeface="Wingdings" charset="2"/>
              <a:buChar char="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廣告測試</a:t>
            </a:r>
            <a:r>
              <a:rPr b="1" lang="en-US" sz="2700" strike="noStrike" u="none">
                <a:solidFill>
                  <a:srgbClr val="ff3300"/>
                </a:solidFill>
                <a:effectLst/>
                <a:uFillTx/>
                <a:latin typeface="Times New Roman"/>
              </a:rPr>
              <a:t>:</a:t>
            </a:r>
            <a:endParaRPr b="0" lang="en-US" sz="27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所有測試的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6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支廣告得分都很高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lnSpc>
                <a:spcPct val="90000"/>
              </a:lnSpc>
              <a:spcBef>
                <a:spcPts val="524"/>
              </a:spcBef>
              <a:buClr>
                <a:srgbClr val="009900"/>
              </a:buClr>
              <a:buSzPct val="50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廣告都得高分的主要原因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: </a:t>
            </a:r>
            <a:r>
              <a:rPr b="1" lang="en-US" sz="2100" strike="noStrike" u="none">
                <a:solidFill>
                  <a:srgbClr val="009900"/>
                </a:solidFill>
                <a:effectLst/>
                <a:uFillTx/>
                <a:latin typeface="Times New Roman"/>
              </a:rPr>
              <a:t>“Qoo </a:t>
            </a:r>
            <a:r>
              <a:rPr b="1" lang="zh-TW" sz="2100" strike="noStrike" u="none">
                <a:solidFill>
                  <a:srgbClr val="009900"/>
                </a:solidFill>
                <a:effectLst/>
                <a:uFillTx/>
                <a:latin typeface="Times New Roman"/>
              </a:rPr>
              <a:t>真的是可愛”</a:t>
            </a:r>
            <a:r>
              <a:rPr b="1" lang="en-US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, </a:t>
            </a:r>
            <a:r>
              <a:rPr b="1" lang="en-US" sz="21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“</a:t>
            </a:r>
            <a:r>
              <a:rPr b="1" lang="zh-TW" sz="2100" strike="noStrike" u="none">
                <a:solidFill>
                  <a:srgbClr val="ff0000"/>
                </a:solidFill>
                <a:effectLst/>
                <a:uFillTx/>
                <a:latin typeface="Times New Roman"/>
              </a:rPr>
              <a:t>廣告很好玩”</a:t>
            </a:r>
            <a:r>
              <a:rPr b="1" lang="zh-TW" sz="21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及</a:t>
            </a:r>
            <a:r>
              <a:rPr b="1" lang="zh-TW" sz="2100" strike="noStrike" u="none">
                <a:solidFill>
                  <a:srgbClr val="3333cc"/>
                </a:solidFill>
                <a:effectLst/>
                <a:uFillTx/>
                <a:latin typeface="Times New Roman"/>
              </a:rPr>
              <a:t>“果汁看起來很好喝”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>
    <p:random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Box 2"/>
          <p:cNvSpPr/>
          <p:nvPr/>
        </p:nvSpPr>
        <p:spPr>
          <a:xfrm>
            <a:off x="1238400" y="762120"/>
            <a:ext cx="1485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Hyper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Rectangle 4"/>
          <p:cNvSpPr/>
          <p:nvPr/>
        </p:nvSpPr>
        <p:spPr>
          <a:xfrm>
            <a:off x="4041360" y="838080"/>
            <a:ext cx="160092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2800" strike="noStrike" u="none">
                <a:solidFill>
                  <a:srgbClr val="990000"/>
                </a:solidFill>
                <a:effectLst/>
                <a:uFillTx/>
                <a:latin typeface="Comic Sans MS"/>
                <a:ea typeface="細明體"/>
              </a:rPr>
              <a:t>落地陳列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6" name="Picture 5" descr=""/>
          <p:cNvPicPr/>
          <p:nvPr/>
        </p:nvPicPr>
        <p:blipFill>
          <a:blip r:embed="rId1"/>
          <a:stretch/>
        </p:blipFill>
        <p:spPr>
          <a:xfrm>
            <a:off x="1488960" y="1752480"/>
            <a:ext cx="6934320" cy="45720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random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Box 2"/>
          <p:cNvSpPr/>
          <p:nvPr/>
        </p:nvSpPr>
        <p:spPr>
          <a:xfrm>
            <a:off x="743040" y="914400"/>
            <a:ext cx="19810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Hyper </a:t>
            </a:r>
            <a:r>
              <a:rPr b="1" lang="zh-TW" sz="24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量販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Text Box 3"/>
          <p:cNvSpPr/>
          <p:nvPr/>
        </p:nvSpPr>
        <p:spPr>
          <a:xfrm>
            <a:off x="1816200" y="2286000"/>
            <a:ext cx="125568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zh-TW" sz="18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鉛筆組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Rectangle 4"/>
          <p:cNvSpPr/>
          <p:nvPr/>
        </p:nvSpPr>
        <p:spPr>
          <a:xfrm>
            <a:off x="2590920" y="990720"/>
            <a:ext cx="371448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250ml-6pack &amp;</a:t>
            </a:r>
            <a:r>
              <a:rPr b="1" lang="zh-TW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　</a:t>
            </a: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1.5L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Text Box 5"/>
          <p:cNvSpPr/>
          <p:nvPr/>
        </p:nvSpPr>
        <p:spPr>
          <a:xfrm>
            <a:off x="5181480" y="2209680"/>
            <a:ext cx="165096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  </a:t>
            </a:r>
            <a:r>
              <a:rPr b="1" lang="zh-TW" sz="2000" strike="noStrike" u="none">
                <a:solidFill>
                  <a:srgbClr val="000000"/>
                </a:solidFill>
                <a:effectLst/>
                <a:uFillTx/>
                <a:latin typeface="Comic Sans MS"/>
                <a:ea typeface="細明體"/>
              </a:rPr>
              <a:t>削筆器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Rectangle 8"/>
          <p:cNvSpPr/>
          <p:nvPr/>
        </p:nvSpPr>
        <p:spPr>
          <a:xfrm>
            <a:off x="1410120" y="1828800"/>
            <a:ext cx="20847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250ml-6pack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Rectangle 9"/>
          <p:cNvSpPr/>
          <p:nvPr/>
        </p:nvSpPr>
        <p:spPr>
          <a:xfrm>
            <a:off x="5335560" y="1828800"/>
            <a:ext cx="85284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ff3300"/>
                </a:solidFill>
                <a:effectLst/>
                <a:uFillTx/>
                <a:latin typeface="Comic Sans MS"/>
                <a:ea typeface="細明體"/>
              </a:rPr>
              <a:t>1.5L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3" name="Picture 11" descr=""/>
          <p:cNvPicPr/>
          <p:nvPr/>
        </p:nvPicPr>
        <p:blipFill>
          <a:blip r:embed="rId1"/>
          <a:stretch/>
        </p:blipFill>
        <p:spPr>
          <a:xfrm>
            <a:off x="990720" y="2743200"/>
            <a:ext cx="2971800" cy="213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Picture 12" descr=""/>
          <p:cNvPicPr/>
          <p:nvPr/>
        </p:nvPicPr>
        <p:blipFill>
          <a:blip r:embed="rId2"/>
          <a:stretch/>
        </p:blipFill>
        <p:spPr>
          <a:xfrm>
            <a:off x="5105520" y="2819520"/>
            <a:ext cx="1647720" cy="1828800"/>
          </a:xfrm>
          <a:prstGeom prst="rect">
            <a:avLst/>
          </a:prstGeom>
          <a:noFill/>
          <a:ln w="0">
            <a:noFill/>
          </a:ln>
        </p:spPr>
      </p:pic>
    </p:spTree>
  </p:cSld>
  <p:transition>
    <p:random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图片 2">
            <a:extLst>
              <a:ext uri="{FF2B5EF4-FFF2-40B4-BE49-F238E27FC236}">
                <a16:creationId xmlns:a16="http://schemas.microsoft.com/office/drawing/2014/main" id="{9B2D125E-5C79-1CBE-443E-9BB1ABA2B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0"/>
            <a:ext cx="12277259" cy="6858000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8A77B51F-CD29-E624-ED75-A04D5DE79E98}"/>
              </a:ext>
            </a:extLst>
          </p:cNvPr>
          <p:cNvGrpSpPr/>
          <p:nvPr/>
        </p:nvGrpSpPr>
        <p:grpSpPr>
          <a:xfrm>
            <a:off x="136796" y="130153"/>
            <a:ext cx="1468671" cy="711479"/>
            <a:chOff x="-3380888" y="4559088"/>
            <a:chExt cx="2628479" cy="1741900"/>
          </a:xfrm>
        </p:grpSpPr>
        <p:sp>
          <p:nvSpPr>
            <p:cNvPr id="4" name="TextBox 1">
              <a:extLst>
                <a:ext uri="{FF2B5EF4-FFF2-40B4-BE49-F238E27FC236}">
                  <a16:creationId xmlns:a16="http://schemas.microsoft.com/office/drawing/2014/main" id="{7780A0CC-F2CA-AF47-5ECD-0E870A02D612}"/>
                </a:ext>
              </a:extLst>
            </p:cNvPr>
            <p:cNvSpPr txBox="1"/>
            <p:nvPr/>
          </p:nvSpPr>
          <p:spPr>
            <a:xfrm>
              <a:off x="-3380888" y="4559088"/>
              <a:ext cx="2628479" cy="11302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8000" b="1">
                  <a:solidFill>
                    <a:srgbClr val="323232"/>
                  </a:solidFill>
                  <a:latin typeface="Arial"/>
                </a:defRPr>
              </a:pPr>
              <a:r>
                <a:rPr sz="2400" dirty="0"/>
                <a:t>THANKS</a:t>
              </a:r>
            </a:p>
          </p:txBody>
        </p:sp>
        <p:sp>
          <p:nvSpPr>
            <p:cNvPr id="5" name="TextBox 2">
              <a:extLst>
                <a:ext uri="{FF2B5EF4-FFF2-40B4-BE49-F238E27FC236}">
                  <a16:creationId xmlns:a16="http://schemas.microsoft.com/office/drawing/2014/main" id="{D72165FC-EF53-946B-2A05-45AB55386D7E}"/>
                </a:ext>
              </a:extLst>
            </p:cNvPr>
            <p:cNvSpPr txBox="1"/>
            <p:nvPr/>
          </p:nvSpPr>
          <p:spPr>
            <a:xfrm>
              <a:off x="-3286215" y="5472113"/>
              <a:ext cx="2533806" cy="8288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 sz="3200">
                  <a:solidFill>
                    <a:srgbClr val="646464"/>
                  </a:solidFill>
                  <a:latin typeface="Microsoft YaHei"/>
                </a:defRPr>
              </a:pPr>
              <a:r>
                <a:rPr sz="1600" dirty="0" err="1"/>
                <a:t>感谢您的观看</a:t>
              </a:r>
              <a:endParaRPr sz="1600" dirty="0"/>
            </a:p>
          </p:txBody>
        </p:sp>
      </p:grpSp>
      <p:sp>
        <p:nvSpPr>
          <p:cNvPr id="7" name="TextBox 3">
            <a:extLst>
              <a:ext uri="{FF2B5EF4-FFF2-40B4-BE49-F238E27FC236}">
                <a16:creationId xmlns:a16="http://schemas.microsoft.com/office/drawing/2014/main" id="{251ACDF2-D250-D947-6D2E-E9B3034ED6BF}"/>
              </a:ext>
            </a:extLst>
          </p:cNvPr>
          <p:cNvSpPr txBox="1"/>
          <p:nvPr/>
        </p:nvSpPr>
        <p:spPr>
          <a:xfrm>
            <a:off x="4195924" y="2503268"/>
            <a:ext cx="383778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70C0"/>
                </a:solidFill>
                <a:latin typeface="Arial"/>
              </a:defRPr>
            </a:pPr>
            <a:r>
              <a:rPr sz="1600" dirty="0" err="1">
                <a:solidFill>
                  <a:srgbClr val="FF0000"/>
                </a:solidFill>
              </a:rPr>
              <a:t>更多精品模板</a:t>
            </a:r>
            <a:r>
              <a:rPr sz="1600" dirty="0">
                <a:solidFill>
                  <a:srgbClr val="FF0000"/>
                </a:solidFill>
              </a:rPr>
              <a:t>: https://</a:t>
            </a:r>
            <a:r>
              <a:rPr sz="1600" dirty="0" err="1">
                <a:solidFill>
                  <a:srgbClr val="FF0000"/>
                </a:solidFill>
              </a:rPr>
              <a:t>www.ppthub.shop</a:t>
            </a:r>
            <a:r>
              <a:rPr dirty="0"/>
              <a:t>/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607EF9D-7BEF-C5DE-8BE0-0613F0C0E5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9" t="7618" r="72244" b="11372"/>
          <a:stretch/>
        </p:blipFill>
        <p:spPr>
          <a:xfrm>
            <a:off x="3714750" y="2983074"/>
            <a:ext cx="1971675" cy="19431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6CE07EC-E767-4260-1A6E-0F5BE1DF3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453" y="3136900"/>
            <a:ext cx="1833317" cy="17892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14514</TotalTime>
  <Application>LibreOffice/25.8.3.2$MacOSX_AARCH64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1997-10-18T09:13:48Z</dcterms:created>
  <dc:creator>Karen Chi</dc:creator>
  <dc:description/>
  <dc:language>zh-CN</dc:language>
  <cp:lastModifiedBy>jccook</cp:lastModifiedBy>
  <cp:lastPrinted>2001-08-01T11:01:07Z</cp:lastPrinted>
  <dcterms:modified xsi:type="dcterms:W3CDTF">2012-07-06T21:08:26Z</dcterms:modified>
  <cp:revision>446</cp:revision>
  <dc:subject/>
  <dc:title>沒有投影片標題</dc:title>
  <cp:keywords/>
  <cp:category/>
</cp:coreProperties>
</file>