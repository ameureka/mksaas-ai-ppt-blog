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8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.xml.rels" ContentType="application/vnd.openxmlformats-package.relationships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embeddings/oleObject4.bin" ContentType="application/vnd.openxmlformats-officedocument.oleObject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1.docx" ContentType="application/vnd.openxmlformats-officedocument.wordprocessingml.document"/>
  <Override PartName="/ppt/media/image9.png" ContentType="image/png"/>
  <Override PartName="/ppt/media/image11.png" ContentType="image/png"/>
  <Override PartName="/ppt/media/image1.jpeg" ContentType="image/jpeg"/>
  <Override PartName="/ppt/media/image6.png" ContentType="image/png"/>
  <Override PartName="/ppt/media/image10.png" ContentType="image/png"/>
  <Override PartName="/ppt/media/image15.wmf" ContentType="image/x-wmf"/>
  <Override PartName="/ppt/media/image25.png" ContentType="image/png"/>
  <Override PartName="/ppt/media/image4.png" ContentType="image/png"/>
  <Override PartName="/ppt/media/image5.jpeg" ContentType="image/jpeg"/>
  <Override PartName="/ppt/media/image21.jpeg" ContentType="image/jpeg"/>
  <Override PartName="/ppt/media/image14.wmf" ContentType="image/x-wmf"/>
  <Override PartName="/ppt/media/image16.wmf" ContentType="image/x-wmf"/>
  <Override PartName="/ppt/media/image24.png" ContentType="image/png"/>
  <Override PartName="/ppt/media/image8.png" ContentType="image/png"/>
  <Override PartName="/ppt/media/image28.png" ContentType="image/png"/>
  <Override PartName="/ppt/media/image19.jpeg" ContentType="image/jpeg"/>
  <Override PartName="/ppt/media/image2.png" ContentType="image/png"/>
  <Override PartName="/ppt/media/image13.wmf" ContentType="image/x-wmf"/>
  <Override PartName="/ppt/media/image18.png" ContentType="image/png"/>
  <Override PartName="/ppt/media/image22.png" ContentType="image/png"/>
  <Override PartName="/ppt/media/image17.png" ContentType="image/png"/>
  <Override PartName="/ppt/media/image20.jpeg" ContentType="image/jpeg"/>
  <Override PartName="/ppt/media/image23.png" ContentType="image/png"/>
  <Override PartName="/ppt/media/image3.jpeg" ContentType="image/jpeg"/>
  <Override PartName="/ppt/media/image7.wmf" ContentType="image/x-wmf"/>
  <Override PartName="/ppt/media/image27.png" ContentType="image/png"/>
  <Override PartName="/ppt/media/image12.wmf" ContentType="image/x-wmf"/>
  <Override PartName="/ppt/media/image26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907588" cy="6858000"/>
  <p:notesSz cx="6973888" cy="10112375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E921A4-6BC9-48DF-9E63-1855647C5B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42680" y="60912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42680" y="1981080"/>
            <a:ext cx="8420040" cy="41148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639720" indent="-639720">
              <a:spcBef>
                <a:spcPts val="774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1182600" indent="-361800">
              <a:spcBef>
                <a:spcPts val="77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611360" indent="-246240">
              <a:spcBef>
                <a:spcPts val="774"/>
              </a:spcBef>
              <a:buClr>
                <a:srgbClr val="3333cc"/>
              </a:buClr>
              <a:buSzPct val="70000"/>
              <a:buFont typeface="Monotype Sorts" charset="2"/>
              <a:buChar char="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2039760" indent="-245880">
              <a:spcBef>
                <a:spcPts val="774"/>
              </a:spcBef>
              <a:buClr>
                <a:srgbClr val="000000"/>
              </a:buClr>
              <a:buFont typeface="Times New Roman"/>
              <a:buChar char="–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743040" y="6248520"/>
            <a:ext cx="206352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384360" y="6248520"/>
            <a:ext cx="313668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098840" y="6248520"/>
            <a:ext cx="206388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lstStyle>
            <a:lvl1pPr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  <a:def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0BDFD910-6832-4303-ADDA-89854F0BCC67}" type="slidenum"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8763120" y="189000"/>
            <a:ext cx="1983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Picture 16" descr="F:\Jolor\not\1.jpg"/>
          <p:cNvPicPr/>
          <p:nvPr/>
        </p:nvPicPr>
        <p:blipFill>
          <a:blip r:embed="rId3"/>
          <a:stretch/>
        </p:blipFill>
        <p:spPr>
          <a:xfrm>
            <a:off x="8077320" y="762120"/>
            <a:ext cx="1504800" cy="1466640"/>
          </a:xfrm>
          <a:prstGeom prst="rect">
            <a:avLst/>
          </a:prstGeom>
          <a:noFill/>
          <a:ln w="0">
            <a:noFill/>
          </a:ln>
          <a:effectLst>
            <a:outerShdw dist="63504" dir="2216091" blurRad="0" rotWithShape="0">
              <a:srgbClr val="000000"/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3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10.png"/><Relationship Id="rId7" Type="http://schemas.openxmlformats.org/officeDocument/2006/relationships/oleObject" Target="../embeddings/oleObject4.bin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.wmf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2.png"/><Relationship Id="rId3" Type="http://schemas.openxmlformats.org/officeDocument/2006/relationships/oleObject" Target="../embeddings/oleObject2.bin"/><Relationship Id="rId4" Type="http://schemas.openxmlformats.org/officeDocument/2006/relationships/image" Target="../media/image23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24.png"/><Relationship Id="rId7" Type="http://schemas.openxmlformats.org/officeDocument/2006/relationships/oleObject" Target="../embeddings/oleObject4.bin"/><Relationship Id="rId8" Type="http://schemas.openxmlformats.org/officeDocument/2006/relationships/image" Target="../media/image25.png"/><Relationship Id="rId9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6.png"/><Relationship Id="rId3" Type="http://schemas.openxmlformats.org/officeDocument/2006/relationships/oleObject" Target="../embeddings/oleObject2.bin"/><Relationship Id="rId4" Type="http://schemas.openxmlformats.org/officeDocument/2006/relationships/image" Target="../media/image27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1760" y="2285640"/>
            <a:ext cx="838188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3800"/>
            </a:b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752480" y="1828440"/>
            <a:ext cx="6400800" cy="43434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Autofit/>
          </a:bodyPr>
          <a:p>
            <a:pPr indent="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可口</a:t>
            </a:r>
            <a:r>
              <a:rPr b="0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可樂通路行銷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及銷售資訊掌握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" name="Object 5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2" name="Object 5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53966" dir="2700000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3" name="Rectangle 6"/>
          <p:cNvSpPr/>
          <p:nvPr/>
        </p:nvSpPr>
        <p:spPr>
          <a:xfrm>
            <a:off x="6946560" y="304920"/>
            <a:ext cx="2713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12"/>
          <p:cNvSpPr/>
          <p:nvPr/>
        </p:nvSpPr>
        <p:spPr>
          <a:xfrm>
            <a:off x="380880" y="3733920"/>
            <a:ext cx="38671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" name="Object 9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8" name="Object 9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9" name="Rectangle 10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 Box 15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 Box 1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Rectangle 19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研澤中圓體"/>
                <a:ea typeface="研澤中圓體"/>
              </a:rPr>
              <a:t>討 論 大 綱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685800" y="1676520"/>
            <a:ext cx="87631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一 業務員掌上型電腦 </a:t>
            </a:r>
            <a:r>
              <a:rPr b="0" lang="en-US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H  H  T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的架構與運用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二 通路變革所面臨的問題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  行銷通路縮短化專業化集中化現代化白熱化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三 整體通路策略思考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  目標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策略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行動方案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四 通路功能再思考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五 可口可樂的通路管理哲學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" name="Object 22"/>
          <p:cNvGraphicFramePr/>
          <p:nvPr/>
        </p:nvGraphicFramePr>
        <p:xfrm>
          <a:off x="0" y="5665680"/>
          <a:ext cx="1219320" cy="119232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25" name="Object 2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5665680"/>
                    <a:ext cx="1219320" cy="1192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transition>
    <p:random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2"/>
          <p:cNvSpPr/>
          <p:nvPr/>
        </p:nvSpPr>
        <p:spPr>
          <a:xfrm flipV="1">
            <a:off x="5035680" y="1752480"/>
            <a:ext cx="0" cy="41148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Line 3"/>
          <p:cNvSpPr/>
          <p:nvPr/>
        </p:nvSpPr>
        <p:spPr>
          <a:xfrm>
            <a:off x="2971800" y="2971800"/>
            <a:ext cx="4044960" cy="12952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485720" y="-22896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2002 HHT Structure </a:t>
            </a:r>
            <a:r>
              <a:rPr b="1" lang="zh-TW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架構</a:t>
            </a:r>
            <a:endParaRPr b="1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Line 5"/>
          <p:cNvSpPr/>
          <p:nvPr/>
        </p:nvSpPr>
        <p:spPr>
          <a:xfrm>
            <a:off x="3219480" y="2133720"/>
            <a:ext cx="3714840" cy="31240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Line 6"/>
          <p:cNvSpPr/>
          <p:nvPr/>
        </p:nvSpPr>
        <p:spPr>
          <a:xfrm flipV="1">
            <a:off x="2641680" y="2971800"/>
            <a:ext cx="4457520" cy="13716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Line 7"/>
          <p:cNvSpPr/>
          <p:nvPr/>
        </p:nvSpPr>
        <p:spPr>
          <a:xfrm flipV="1">
            <a:off x="3054240" y="1904760"/>
            <a:ext cx="4044960" cy="34290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AutoShape 8"/>
          <p:cNvSpPr/>
          <p:nvPr/>
        </p:nvSpPr>
        <p:spPr>
          <a:xfrm>
            <a:off x="3797280" y="107460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路線資訊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通訊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Route Information /Communication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811080" y="236232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訂單拿取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Order Taking 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AutoShape 10"/>
          <p:cNvSpPr/>
          <p:nvPr/>
        </p:nvSpPr>
        <p:spPr>
          <a:xfrm>
            <a:off x="811080" y="107460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一般性需求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General requirement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AutoShape 11"/>
          <p:cNvSpPr/>
          <p:nvPr/>
        </p:nvSpPr>
        <p:spPr>
          <a:xfrm>
            <a:off x="6769080" y="23623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價格與</a:t>
            </a: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折扣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Pricing &amp; Discount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Beach"/>
                <a:ea typeface="Arial Unicode M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6769080" y="107460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查詢功能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Inquiry Function</a:t>
            </a: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AutoShape 13"/>
          <p:cNvSpPr/>
          <p:nvPr/>
        </p:nvSpPr>
        <p:spPr>
          <a:xfrm>
            <a:off x="819000" y="374184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權限控管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Security Control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6769080" y="37339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控制檢核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Control Checking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AutoShape 15"/>
          <p:cNvSpPr/>
          <p:nvPr/>
        </p:nvSpPr>
        <p:spPr>
          <a:xfrm>
            <a:off x="811080" y="511344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庫存盤點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Inventory Checking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3797280" y="51055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生動化查核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Merchandising Tracking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AutoShape 17"/>
          <p:cNvSpPr/>
          <p:nvPr/>
        </p:nvSpPr>
        <p:spPr>
          <a:xfrm>
            <a:off x="6769080" y="511344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市場資料收集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Market Information Feedback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Oval 18"/>
          <p:cNvSpPr/>
          <p:nvPr/>
        </p:nvSpPr>
        <p:spPr>
          <a:xfrm>
            <a:off x="3911760" y="2971800"/>
            <a:ext cx="2279520" cy="137304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Beach"/>
                <a:ea typeface="Arial Unicode MS"/>
              </a:rPr>
              <a:t>HHT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blinds dir="ver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-533520" y="456840"/>
            <a:ext cx="842040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HHT 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掌上型電腦的目標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228240" y="1523520"/>
            <a:ext cx="9061560" cy="495324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使用具有行動通訊能力的系統工具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支援業務代表之訂單作業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具整合的中央資料庫，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提供業務資訊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諸如：客戶資料、歷史銷售</a:t>
            </a:r>
            <a:r>
              <a:rPr b="0" lang="zh-TW" sz="3100" strike="noStrike" u="none">
                <a:solidFill>
                  <a:srgbClr val="ffffff"/>
                </a:solidFill>
                <a:effectLst/>
                <a:uFillTx/>
                <a:latin typeface="研澤中圓體"/>
                <a:ea typeface="研澤中圓體"/>
              </a:rPr>
              <a:t>、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和及時的價格資訊，藉此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幫助業務代表瞭解並提供更好的服務給客戶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而提昇效益。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強化業務單位與後勤單位之聯繫與溝通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，縮短業務運作的反應週期。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無紙張的操作，節省人工輸入的時間以及減少紙張浪費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。</a:t>
            </a:r>
            <a:r>
              <a:rPr b="0" lang="zh-TW" sz="3100" strike="noStrike" u="none">
                <a:solidFill>
                  <a:srgbClr val="ffffff"/>
                </a:solidFill>
                <a:effectLst/>
                <a:uFillTx/>
                <a:latin typeface="研澤中圓體"/>
                <a:ea typeface="研澤中圓體"/>
              </a:rPr>
              <a:t> 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6" name="Object 1027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47" name="Object 1027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48" name="Rectangle 1028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 Box 1030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 Box 1031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Rectangle 1032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行銷通路趨勢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Rectangle 1033"/>
          <p:cNvSpPr/>
          <p:nvPr/>
        </p:nvSpPr>
        <p:spPr>
          <a:xfrm>
            <a:off x="685800" y="17524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行銷通路縮短化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行銷通路專業化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行銷通路集中化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行銷通路現代化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行銷通路競爭白熱化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55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56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609480" y="53352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整體通路策略思考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9"/>
          <p:cNvSpPr/>
          <p:nvPr/>
        </p:nvSpPr>
        <p:spPr>
          <a:xfrm>
            <a:off x="990720" y="1447920"/>
            <a:ext cx="777240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通路目標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         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長期目標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短期目標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產品組合策略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資源分配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新產品引入或重新定義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產品淘汰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行動方案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行銷通路資源分配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市場劃分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產品定位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AutoShape 10"/>
          <p:cNvSpPr/>
          <p:nvPr/>
        </p:nvSpPr>
        <p:spPr>
          <a:xfrm>
            <a:off x="4267080" y="1828800"/>
            <a:ext cx="838440" cy="228600"/>
          </a:xfrm>
          <a:prstGeom prst="rightArrow">
            <a:avLst>
              <a:gd name="adj1" fmla="val 50000"/>
              <a:gd name="adj2" fmla="val 91693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Oval 12"/>
          <p:cNvSpPr/>
          <p:nvPr/>
        </p:nvSpPr>
        <p:spPr>
          <a:xfrm>
            <a:off x="5562720" y="1676520"/>
            <a:ext cx="609480" cy="609480"/>
          </a:xfrm>
          <a:prstGeom prst="ellipse">
            <a:avLst/>
          </a:prstGeom>
          <a:solidFill>
            <a:srgbClr val="33333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Oval 15"/>
          <p:cNvSpPr/>
          <p:nvPr/>
        </p:nvSpPr>
        <p:spPr>
          <a:xfrm>
            <a:off x="5638680" y="1752480"/>
            <a:ext cx="457200" cy="457200"/>
          </a:xfrm>
          <a:prstGeom prst="ellipse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Oval 17"/>
          <p:cNvSpPr/>
          <p:nvPr/>
        </p:nvSpPr>
        <p:spPr>
          <a:xfrm>
            <a:off x="5715000" y="182880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Oval 18"/>
          <p:cNvSpPr/>
          <p:nvPr/>
        </p:nvSpPr>
        <p:spPr>
          <a:xfrm>
            <a:off x="5791320" y="190512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AutoShape 19"/>
          <p:cNvSpPr/>
          <p:nvPr/>
        </p:nvSpPr>
        <p:spPr>
          <a:xfrm>
            <a:off x="1600200" y="1905120"/>
            <a:ext cx="228600" cy="609480"/>
          </a:xfrm>
          <a:prstGeom prst="downArrow">
            <a:avLst>
              <a:gd name="adj1" fmla="val 50000"/>
              <a:gd name="adj2" fmla="val 66654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AutoShape 20"/>
          <p:cNvSpPr/>
          <p:nvPr/>
        </p:nvSpPr>
        <p:spPr>
          <a:xfrm>
            <a:off x="1600200" y="3048120"/>
            <a:ext cx="228600" cy="6858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9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70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71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609480" y="3808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研澤中隸體"/>
              </a:rPr>
              <a:t>通路功能再思考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5" name="Object 9"/>
          <p:cNvGraphicFramePr/>
          <p:nvPr/>
        </p:nvGraphicFramePr>
        <p:xfrm>
          <a:off x="1549440" y="1690560"/>
          <a:ext cx="6089760" cy="461808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76" name="Object 9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549440" y="1690560"/>
                    <a:ext cx="6089760" cy="4618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transition>
    <p:rand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8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79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80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可口可樂的通路管理哲學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一 不同通路的消費者有不同的消費習性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二 消費者是游移於各通路之中的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三 不同通路應給予不同的產品不同的價錢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  口味 包裝 品牌大小 </a:t>
            </a:r>
            <a:r>
              <a:rPr b="1" lang="en-US" sz="24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四 消費者會因通路不同而有不同的服務水準要求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五 通路經營者會有不同的經營哲學與目標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六 分眾通路越多 經營成本越高 且是必然趨勢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7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88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89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609480" y="53352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通路的劃分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533520" y="1523880"/>
            <a:ext cx="830556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一 </a:t>
            </a: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依廠商交貨給顧客方式來分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經銷       直營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二 依通路特性來分 </a:t>
            </a:r>
            <a:r>
              <a:rPr b="1" lang="en-US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</a:t>
            </a: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便利商店 量販超市 速食餐飲 娛樂場所  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戲院 </a:t>
            </a: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KTV </a:t>
            </a: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主題樂園 學校 飯店 交通</a:t>
            </a: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…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三 依消費者消費習性來分以</a:t>
            </a:r>
            <a:r>
              <a:rPr b="1" lang="en-US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飲料業為例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即飲市場        帶回家享用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四 依客戶營業額大小來分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主要客戶       小型客戶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AutoShape 10"/>
          <p:cNvSpPr/>
          <p:nvPr/>
        </p:nvSpPr>
        <p:spPr>
          <a:xfrm>
            <a:off x="2438280" y="213372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AutoShape 11"/>
          <p:cNvSpPr/>
          <p:nvPr/>
        </p:nvSpPr>
        <p:spPr>
          <a:xfrm>
            <a:off x="3048120" y="441972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AutoShape 12"/>
          <p:cNvSpPr/>
          <p:nvPr/>
        </p:nvSpPr>
        <p:spPr>
          <a:xfrm>
            <a:off x="3124080" y="541008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8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99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00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Rectangle 8"/>
          <p:cNvSpPr/>
          <p:nvPr/>
        </p:nvSpPr>
        <p:spPr>
          <a:xfrm>
            <a:off x="533520" y="91440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研澤中隸體"/>
                <a:ea typeface="研澤中隸體"/>
              </a:rPr>
              <a:t>結     論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5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通路轉變之腳步不曾停歇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43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5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通路變革之壓力不曾稍減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61760" y="1828440"/>
            <a:ext cx="8381880" cy="1600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個案探討</a:t>
            </a:r>
            <a:br>
              <a:rPr sz="3800"/>
            </a:b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“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Qoo” 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酷兒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2001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年上市計劃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6" name="Group 13"/>
          <p:cNvGrpSpPr/>
          <p:nvPr/>
        </p:nvGrpSpPr>
        <p:grpSpPr>
          <a:xfrm>
            <a:off x="2286000" y="3657600"/>
            <a:ext cx="4799880" cy="1447560"/>
            <a:chOff x="2286000" y="3657600"/>
            <a:chExt cx="4799880" cy="1447560"/>
          </a:xfrm>
        </p:grpSpPr>
        <p:graphicFrame>
          <p:nvGraphicFramePr>
            <p:cNvPr id="107" name="Object 14"/>
            <p:cNvGraphicFramePr/>
            <p:nvPr/>
          </p:nvGraphicFramePr>
          <p:xfrm>
            <a:off x="2286000" y="3726360"/>
            <a:ext cx="1025280" cy="127584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108" name="Object 14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2286000" y="3726360"/>
                      <a:ext cx="1025280" cy="127584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09" name="Object 15"/>
            <p:cNvGraphicFramePr/>
            <p:nvPr/>
          </p:nvGraphicFramePr>
          <p:xfrm>
            <a:off x="3466440" y="3758760"/>
            <a:ext cx="1113480" cy="125532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110" name="Object 15" descr="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3466440" y="3758760"/>
                      <a:ext cx="1113480" cy="12553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11" name="Object 16"/>
            <p:cNvGraphicFramePr/>
            <p:nvPr/>
          </p:nvGraphicFramePr>
          <p:xfrm>
            <a:off x="4608000" y="3697560"/>
            <a:ext cx="1109520" cy="1407600"/>
          </p:xfrm>
          <a:graphic>
            <a:graphicData uri="http://schemas.openxmlformats.org/presentationml/2006/ole">
              <p:oleObj r:id="rId5" spid="">
                <p:embed/>
                <p:pic>
                  <p:nvPicPr>
                    <p:cNvPr id="112" name="Object 16" descr=""/>
                    <p:cNvPicPr/>
                    <p:nvPr/>
                  </p:nvPicPr>
                  <p:blipFill>
                    <a:blip r:embed="rId6"/>
                    <a:stretch/>
                  </p:blipFill>
                  <p:spPr>
                    <a:xfrm>
                      <a:off x="4608000" y="3697560"/>
                      <a:ext cx="1109520" cy="14076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13" name="Object 17"/>
            <p:cNvGraphicFramePr/>
            <p:nvPr/>
          </p:nvGraphicFramePr>
          <p:xfrm>
            <a:off x="5724000" y="3657600"/>
            <a:ext cx="1361880" cy="1424880"/>
          </p:xfrm>
          <a:graphic>
            <a:graphicData uri="http://schemas.openxmlformats.org/presentationml/2006/ole">
              <p:oleObj r:id="rId7" spid="">
                <p:embed/>
                <p:pic>
                  <p:nvPicPr>
                    <p:cNvPr id="114" name="Object 17" descr=""/>
                    <p:cNvPicPr/>
                    <p:nvPr/>
                  </p:nvPicPr>
                  <p:blipFill>
                    <a:blip r:embed="rId8"/>
                    <a:stretch/>
                  </p:blipFill>
                  <p:spPr>
                    <a:xfrm>
                      <a:off x="5724000" y="3657600"/>
                      <a:ext cx="1361880" cy="14248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</p:grpSp>
    </p:spTree>
  </p:cSld>
  <p:transition>
    <p:random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040" y="761760"/>
            <a:ext cx="7759800" cy="60948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台灣即飲市場分析</a:t>
            </a:r>
            <a:endParaRPr b="1" lang="en-US" sz="4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6" name="Object 3"/>
          <p:cNvGraphicFramePr/>
          <p:nvPr/>
        </p:nvGraphicFramePr>
        <p:xfrm>
          <a:off x="1238400" y="2057400"/>
          <a:ext cx="7016760" cy="3886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17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38400" y="2057400"/>
                    <a:ext cx="7016760" cy="3886200"/>
                  </a:xfrm>
                  <a:prstGeom prst="rect">
                    <a:avLst/>
                  </a:prstGeom>
                  <a:noFill/>
                  <a:ln w="9360">
                    <a:solidFill>
                      <a:srgbClr val="000000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118" name="Rectangle 4"/>
          <p:cNvSpPr/>
          <p:nvPr/>
        </p:nvSpPr>
        <p:spPr>
          <a:xfrm>
            <a:off x="5586120" y="6173640"/>
            <a:ext cx="30862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Sources: </a:t>
            </a:r>
            <a:r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Taiwan Beverage Industries Association (2000)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                Retail Market Magazine (journalist)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5"/>
          <p:cNvSpPr/>
          <p:nvPr/>
        </p:nvSpPr>
        <p:spPr>
          <a:xfrm>
            <a:off x="611280" y="1523880"/>
            <a:ext cx="5806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601"/>
              </a:spcBef>
              <a:buClr>
                <a:srgbClr val="ff33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華康儷粗黑"/>
              </a:rPr>
              <a:t>果汁飲品在整個飲料市場中有成長的空間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Oval 6"/>
          <p:cNvSpPr/>
          <p:nvPr/>
        </p:nvSpPr>
        <p:spPr>
          <a:xfrm>
            <a:off x="3879720" y="4952880"/>
            <a:ext cx="990720" cy="381240"/>
          </a:xfrm>
          <a:prstGeom prst="ellipse">
            <a:avLst/>
          </a:prstGeom>
          <a:noFill/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Object 2"/>
          <p:cNvGraphicFramePr/>
          <p:nvPr/>
        </p:nvGraphicFramePr>
        <p:xfrm>
          <a:off x="247680" y="2819520"/>
          <a:ext cx="9410760" cy="21794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2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7680" y="2819520"/>
                    <a:ext cx="9410760" cy="21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3" name="Text Box 3"/>
          <p:cNvSpPr/>
          <p:nvPr/>
        </p:nvSpPr>
        <p:spPr>
          <a:xfrm>
            <a:off x="577800" y="4724280"/>
            <a:ext cx="49291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細明體"/>
              </a:rPr>
              <a:t>* Total No of Respondents: 161; Multiple Choice up to 3 answers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 Box 4"/>
          <p:cNvSpPr/>
          <p:nvPr/>
        </p:nvSpPr>
        <p:spPr>
          <a:xfrm>
            <a:off x="6462720" y="5562720"/>
            <a:ext cx="266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Source: Drink Association 2000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Rectangle 5"/>
          <p:cNvSpPr/>
          <p:nvPr/>
        </p:nvSpPr>
        <p:spPr>
          <a:xfrm>
            <a:off x="330120" y="533520"/>
            <a:ext cx="676908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Traditional Arabic"/>
                <a:ea typeface="細明體"/>
              </a:rPr>
              <a:t>消費者對果汁的選擇考慮因素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6"/>
          <p:cNvSpPr/>
          <p:nvPr/>
        </p:nvSpPr>
        <p:spPr>
          <a:xfrm>
            <a:off x="577800" y="1828800"/>
            <a:ext cx="86677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buClr>
                <a:srgbClr val="ff33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口感</a:t>
            </a: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 </a:t>
            </a:r>
            <a:r>
              <a:rPr b="1" i="1" lang="en-US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, </a:t>
            </a: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新鮮度</a:t>
            </a:r>
            <a:r>
              <a:rPr b="1" i="1" lang="en-US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, </a:t>
            </a: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及 </a:t>
            </a: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有無附加營養 </a:t>
            </a:r>
            <a:r>
              <a:rPr b="1" i="1" lang="zh-TW" sz="24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細明體"/>
              </a:rPr>
              <a:t>是消費者選擇果汁的最主要三個因素</a:t>
            </a:r>
            <a:r>
              <a:rPr b="1" i="1" lang="en-US" sz="24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細明體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Oval 7"/>
          <p:cNvSpPr/>
          <p:nvPr/>
        </p:nvSpPr>
        <p:spPr>
          <a:xfrm>
            <a:off x="1403280" y="4038480"/>
            <a:ext cx="495360" cy="457200"/>
          </a:xfrm>
          <a:prstGeom prst="ellipse">
            <a:avLst/>
          </a:prstGeom>
          <a:noFill/>
          <a:ln w="9360">
            <a:solidFill>
              <a:srgbClr val="ff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2" descr=""/>
          <p:cNvPicPr/>
          <p:nvPr/>
        </p:nvPicPr>
        <p:blipFill>
          <a:blip r:embed="rId1"/>
          <a:stretch/>
        </p:blipFill>
        <p:spPr>
          <a:xfrm>
            <a:off x="100080" y="3233880"/>
            <a:ext cx="4817880" cy="3057480"/>
          </a:xfrm>
          <a:prstGeom prst="rect">
            <a:avLst/>
          </a:prstGeom>
          <a:noFill/>
          <a:ln w="9360">
            <a:solidFill>
              <a:srgbClr val="ccff99"/>
            </a:solidFill>
            <a:miter/>
          </a:ln>
        </p:spPr>
      </p:pic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5018040" y="3233880"/>
            <a:ext cx="4830840" cy="3038400"/>
          </a:xfrm>
          <a:prstGeom prst="rect">
            <a:avLst/>
          </a:prstGeom>
          <a:noFill/>
          <a:ln w="9360">
            <a:solidFill>
              <a:srgbClr val="ccff99"/>
            </a:solidFill>
            <a:miter/>
          </a:ln>
        </p:spPr>
      </p:pic>
      <p:sp>
        <p:nvSpPr>
          <p:cNvPr id="130" name="Rectangle 4"/>
          <p:cNvSpPr/>
          <p:nvPr/>
        </p:nvSpPr>
        <p:spPr>
          <a:xfrm>
            <a:off x="495360" y="304920"/>
            <a:ext cx="766296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來自消費者的回應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: </a:t>
            </a:r>
            <a:r>
              <a:rPr b="0" lang="zh-TW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太棒的產品了</a:t>
            </a:r>
            <a:br>
              <a:rPr sz="2800"/>
            </a:br>
            <a:r>
              <a:rPr b="0" lang="zh-TW" sz="3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韓國上市兩個月內成功經驗分享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AutoShape 5"/>
          <p:cNvSpPr/>
          <p:nvPr/>
        </p:nvSpPr>
        <p:spPr>
          <a:xfrm>
            <a:off x="325440" y="1676520"/>
            <a:ext cx="9580680" cy="119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Qoo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的試用包一下子就被索取光了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Qoo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在上市不久後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曾經購買的媽媽和小朋友的人數增加迅速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曾經喝過的人很快就再次購買了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6"/>
          <p:cNvSpPr/>
          <p:nvPr/>
        </p:nvSpPr>
        <p:spPr>
          <a:xfrm>
            <a:off x="907920" y="2895480"/>
            <a:ext cx="2838600" cy="507960"/>
          </a:xfrm>
          <a:prstGeom prst="rect">
            <a:avLst/>
          </a:prstGeom>
          <a:solidFill>
            <a:srgbClr val="cc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曾經喝過</a:t>
            </a:r>
            <a:r>
              <a:rPr b="1" lang="en-US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Qoo</a:t>
            </a: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的比例</a:t>
            </a:r>
            <a:r>
              <a:rPr b="1" lang="ko-KR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7"/>
          <p:cNvSpPr/>
          <p:nvPr/>
        </p:nvSpPr>
        <p:spPr>
          <a:xfrm>
            <a:off x="5861160" y="2895480"/>
            <a:ext cx="3054240" cy="507960"/>
          </a:xfrm>
          <a:prstGeom prst="rect">
            <a:avLst/>
          </a:prstGeom>
          <a:solidFill>
            <a:srgbClr val="cc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曾經買過</a:t>
            </a:r>
            <a:r>
              <a:rPr b="1" lang="en-US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Qoo</a:t>
            </a: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的比例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 Box 8"/>
          <p:cNvSpPr/>
          <p:nvPr/>
        </p:nvSpPr>
        <p:spPr>
          <a:xfrm>
            <a:off x="6286680" y="6553080"/>
            <a:ext cx="36194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(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Source : Consumer tracking survey)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Box 2"/>
          <p:cNvSpPr/>
          <p:nvPr/>
        </p:nvSpPr>
        <p:spPr>
          <a:xfrm>
            <a:off x="457200" y="685800"/>
            <a:ext cx="7016760" cy="11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研澤中圓體"/>
              </a:rPr>
              <a:t>產品剛上市的業績實在是“旺”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研澤中圓體"/>
              </a:rPr>
              <a:t>韓國業績一路長紅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AutoShape 3"/>
          <p:cNvSpPr/>
          <p:nvPr/>
        </p:nvSpPr>
        <p:spPr>
          <a:xfrm>
            <a:off x="495360" y="1596240"/>
            <a:ext cx="8667720" cy="89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30000"/>
              </a:lnSpc>
              <a:buClr>
                <a:srgbClr val="99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從四月上市至六月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三個月內的實際銷量已超過整年的預估銷量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buClr>
                <a:srgbClr val="99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自從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2001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年六月起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, Qoo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的業績已在韓國可口可樂所有產品中排名第三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7" name="Group 4"/>
          <p:cNvGrpSpPr/>
          <p:nvPr/>
        </p:nvGrpSpPr>
        <p:grpSpPr>
          <a:xfrm>
            <a:off x="573840" y="2819520"/>
            <a:ext cx="8506440" cy="3343680"/>
            <a:chOff x="573840" y="2819520"/>
            <a:chExt cx="8506440" cy="3343680"/>
          </a:xfrm>
        </p:grpSpPr>
        <p:sp>
          <p:nvSpPr>
            <p:cNvPr id="138" name="Rectangle 5"/>
            <p:cNvSpPr/>
            <p:nvPr/>
          </p:nvSpPr>
          <p:spPr>
            <a:xfrm>
              <a:off x="2358720" y="5355360"/>
              <a:ext cx="524520" cy="41328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Rectangle 6"/>
            <p:cNvSpPr/>
            <p:nvPr/>
          </p:nvSpPr>
          <p:spPr>
            <a:xfrm>
              <a:off x="4154760" y="5355360"/>
              <a:ext cx="526320" cy="41328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Rectangle 7"/>
            <p:cNvSpPr/>
            <p:nvPr/>
          </p:nvSpPr>
          <p:spPr>
            <a:xfrm>
              <a:off x="5951160" y="5372280"/>
              <a:ext cx="524520" cy="39636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Rectangle 8"/>
            <p:cNvSpPr/>
            <p:nvPr/>
          </p:nvSpPr>
          <p:spPr>
            <a:xfrm>
              <a:off x="2883600" y="5228280"/>
              <a:ext cx="505080" cy="54000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Rectangle 9"/>
            <p:cNvSpPr/>
            <p:nvPr/>
          </p:nvSpPr>
          <p:spPr>
            <a:xfrm>
              <a:off x="4681080" y="4575960"/>
              <a:ext cx="503640" cy="119232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Rectangle 10"/>
            <p:cNvSpPr/>
            <p:nvPr/>
          </p:nvSpPr>
          <p:spPr>
            <a:xfrm>
              <a:off x="6475680" y="3733920"/>
              <a:ext cx="505080" cy="203472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Line 11"/>
            <p:cNvSpPr/>
            <p:nvPr/>
          </p:nvSpPr>
          <p:spPr>
            <a:xfrm>
              <a:off x="1975680" y="3256560"/>
              <a:ext cx="1800" cy="2512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Line 12"/>
            <p:cNvSpPr/>
            <p:nvPr/>
          </p:nvSpPr>
          <p:spPr>
            <a:xfrm>
              <a:off x="1975680" y="5768640"/>
              <a:ext cx="1011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6" name="Line 13"/>
            <p:cNvSpPr/>
            <p:nvPr/>
          </p:nvSpPr>
          <p:spPr>
            <a:xfrm>
              <a:off x="1975680" y="5148720"/>
              <a:ext cx="1011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Line 14"/>
            <p:cNvSpPr/>
            <p:nvPr/>
          </p:nvSpPr>
          <p:spPr>
            <a:xfrm>
              <a:off x="1975680" y="451332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Line 15"/>
            <p:cNvSpPr/>
            <p:nvPr/>
          </p:nvSpPr>
          <p:spPr>
            <a:xfrm>
              <a:off x="1975680" y="389340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9" name="Line 16"/>
            <p:cNvSpPr/>
            <p:nvPr/>
          </p:nvSpPr>
          <p:spPr>
            <a:xfrm>
              <a:off x="1975680" y="325656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Line 17"/>
            <p:cNvSpPr/>
            <p:nvPr/>
          </p:nvSpPr>
          <p:spPr>
            <a:xfrm>
              <a:off x="1975680" y="5768640"/>
              <a:ext cx="53902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Line 18"/>
            <p:cNvSpPr/>
            <p:nvPr/>
          </p:nvSpPr>
          <p:spPr>
            <a:xfrm flipV="1">
              <a:off x="197568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2" name="Line 19"/>
            <p:cNvSpPr/>
            <p:nvPr/>
          </p:nvSpPr>
          <p:spPr>
            <a:xfrm flipV="1">
              <a:off x="377172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Line 20"/>
            <p:cNvSpPr/>
            <p:nvPr/>
          </p:nvSpPr>
          <p:spPr>
            <a:xfrm flipV="1">
              <a:off x="556776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Line 21"/>
            <p:cNvSpPr/>
            <p:nvPr/>
          </p:nvSpPr>
          <p:spPr>
            <a:xfrm flipV="1">
              <a:off x="7365960" y="5689080"/>
              <a:ext cx="144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5" name="Rectangle 22"/>
            <p:cNvSpPr/>
            <p:nvPr/>
          </p:nvSpPr>
          <p:spPr>
            <a:xfrm>
              <a:off x="2360160" y="499212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130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Rectangle 23"/>
            <p:cNvSpPr/>
            <p:nvPr/>
          </p:nvSpPr>
          <p:spPr>
            <a:xfrm>
              <a:off x="4156200" y="50090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130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Rectangle 24"/>
            <p:cNvSpPr/>
            <p:nvPr/>
          </p:nvSpPr>
          <p:spPr>
            <a:xfrm>
              <a:off x="5952240" y="49586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129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8" name="Rectangle 25"/>
            <p:cNvSpPr/>
            <p:nvPr/>
          </p:nvSpPr>
          <p:spPr>
            <a:xfrm>
              <a:off x="2884680" y="48150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171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Rectangle 26"/>
            <p:cNvSpPr/>
            <p:nvPr/>
          </p:nvSpPr>
          <p:spPr>
            <a:xfrm>
              <a:off x="4680720" y="40748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378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Rectangle 27"/>
            <p:cNvSpPr/>
            <p:nvPr/>
          </p:nvSpPr>
          <p:spPr>
            <a:xfrm>
              <a:off x="6495480" y="338796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650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1" name="Rectangle 28"/>
            <p:cNvSpPr/>
            <p:nvPr/>
          </p:nvSpPr>
          <p:spPr>
            <a:xfrm>
              <a:off x="1539360" y="5626080"/>
              <a:ext cx="17928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2" name="Rectangle 29"/>
            <p:cNvSpPr/>
            <p:nvPr/>
          </p:nvSpPr>
          <p:spPr>
            <a:xfrm>
              <a:off x="1189440" y="500616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200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3" name="Rectangle 30"/>
            <p:cNvSpPr/>
            <p:nvPr/>
          </p:nvSpPr>
          <p:spPr>
            <a:xfrm>
              <a:off x="1189440" y="436788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400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4" name="Rectangle 31"/>
            <p:cNvSpPr/>
            <p:nvPr/>
          </p:nvSpPr>
          <p:spPr>
            <a:xfrm>
              <a:off x="1189440" y="37494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600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5" name="Rectangle 32"/>
            <p:cNvSpPr/>
            <p:nvPr/>
          </p:nvSpPr>
          <p:spPr>
            <a:xfrm>
              <a:off x="1189440" y="31140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800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6" name="Rectangle 33"/>
            <p:cNvSpPr/>
            <p:nvPr/>
          </p:nvSpPr>
          <p:spPr>
            <a:xfrm>
              <a:off x="2584800" y="5857920"/>
              <a:ext cx="58644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April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7" name="Rectangle 34"/>
            <p:cNvSpPr/>
            <p:nvPr/>
          </p:nvSpPr>
          <p:spPr>
            <a:xfrm>
              <a:off x="4416840" y="5857920"/>
              <a:ext cx="48816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May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Rectangle 35"/>
            <p:cNvSpPr/>
            <p:nvPr/>
          </p:nvSpPr>
          <p:spPr>
            <a:xfrm>
              <a:off x="6177600" y="5857920"/>
              <a:ext cx="57492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June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Rectangle 36"/>
            <p:cNvSpPr/>
            <p:nvPr/>
          </p:nvSpPr>
          <p:spPr>
            <a:xfrm>
              <a:off x="7566120" y="4369680"/>
              <a:ext cx="1514160" cy="77904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0" name="Rectangle 37"/>
            <p:cNvSpPr/>
            <p:nvPr/>
          </p:nvSpPr>
          <p:spPr>
            <a:xfrm>
              <a:off x="7686720" y="4513320"/>
              <a:ext cx="201960" cy="15876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1" name="Rectangle 38"/>
            <p:cNvSpPr/>
            <p:nvPr/>
          </p:nvSpPr>
          <p:spPr>
            <a:xfrm>
              <a:off x="8009280" y="4433400"/>
              <a:ext cx="96444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Target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Rectangle 39"/>
            <p:cNvSpPr/>
            <p:nvPr/>
          </p:nvSpPr>
          <p:spPr>
            <a:xfrm>
              <a:off x="7686720" y="4894560"/>
              <a:ext cx="201960" cy="15876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Rectangle 40"/>
            <p:cNvSpPr/>
            <p:nvPr/>
          </p:nvSpPr>
          <p:spPr>
            <a:xfrm>
              <a:off x="8007120" y="4815000"/>
              <a:ext cx="89784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Actual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Rectangle 41"/>
            <p:cNvSpPr/>
            <p:nvPr/>
          </p:nvSpPr>
          <p:spPr>
            <a:xfrm>
              <a:off x="573840" y="2819520"/>
              <a:ext cx="19105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(</a:t>
              </a: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Unit: U/C-'000)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Text Box 42"/>
            <p:cNvSpPr/>
            <p:nvPr/>
          </p:nvSpPr>
          <p:spPr>
            <a:xfrm>
              <a:off x="5004000" y="2943360"/>
              <a:ext cx="4054680" cy="45972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YTD June Total: 1,199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6" name="Line 43"/>
            <p:cNvSpPr/>
            <p:nvPr/>
          </p:nvSpPr>
          <p:spPr>
            <a:xfrm flipV="1">
              <a:off x="3206520" y="4561920"/>
              <a:ext cx="1738800" cy="632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Line 44"/>
            <p:cNvSpPr/>
            <p:nvPr/>
          </p:nvSpPr>
          <p:spPr>
            <a:xfrm flipV="1">
              <a:off x="4947480" y="3711960"/>
              <a:ext cx="1825920" cy="8236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>
    <p:random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" descr=""/>
          <p:cNvPicPr/>
          <p:nvPr/>
        </p:nvPicPr>
        <p:blipFill>
          <a:blip r:embed="rId1"/>
          <a:stretch/>
        </p:blipFill>
        <p:spPr>
          <a:xfrm>
            <a:off x="243000" y="1136520"/>
            <a:ext cx="9305640" cy="48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Rectangle 3"/>
          <p:cNvSpPr/>
          <p:nvPr/>
        </p:nvSpPr>
        <p:spPr>
          <a:xfrm>
            <a:off x="914400" y="681120"/>
            <a:ext cx="683568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日本</a:t>
            </a: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Qoo</a:t>
            </a: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業績分析</a:t>
            </a: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以口味別區分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2063880" y="5486400"/>
            <a:ext cx="1733400" cy="457200"/>
          </a:xfrm>
          <a:prstGeom prst="rect">
            <a:avLst/>
          </a:prstGeom>
          <a:noFill/>
          <a:ln w="12600">
            <a:solidFill>
              <a:srgbClr val="ff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Line 6"/>
          <p:cNvSpPr/>
          <p:nvPr/>
        </p:nvSpPr>
        <p:spPr>
          <a:xfrm flipH="1">
            <a:off x="3137040" y="2590920"/>
            <a:ext cx="1403280" cy="76176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Line 7"/>
          <p:cNvSpPr/>
          <p:nvPr/>
        </p:nvSpPr>
        <p:spPr>
          <a:xfrm>
            <a:off x="6934320" y="2362320"/>
            <a:ext cx="1485720" cy="68580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Line 8"/>
          <p:cNvSpPr/>
          <p:nvPr/>
        </p:nvSpPr>
        <p:spPr>
          <a:xfrm>
            <a:off x="5695920" y="2666880"/>
            <a:ext cx="825480" cy="60984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9"/>
          <p:cNvSpPr/>
          <p:nvPr/>
        </p:nvSpPr>
        <p:spPr>
          <a:xfrm>
            <a:off x="3467160" y="1600200"/>
            <a:ext cx="40449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聰明的行銷策略</a:t>
            </a:r>
            <a:r>
              <a:rPr b="1" lang="en-US" sz="16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: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季節並不影響銷售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新口味上市再搭配促銷活動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掀起購買熱潮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.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促使銷量大幅成長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!!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10"/>
          <p:cNvSpPr/>
          <p:nvPr/>
        </p:nvSpPr>
        <p:spPr>
          <a:xfrm>
            <a:off x="6521400" y="5486400"/>
            <a:ext cx="2559240" cy="457200"/>
          </a:xfrm>
          <a:prstGeom prst="rect">
            <a:avLst/>
          </a:prstGeom>
          <a:noFill/>
          <a:ln w="9360">
            <a:solidFill>
              <a:srgbClr val="ff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2" descr=""/>
          <p:cNvPicPr/>
          <p:nvPr/>
        </p:nvPicPr>
        <p:blipFill>
          <a:blip r:embed="rId1"/>
          <a:stretch/>
        </p:blipFill>
        <p:spPr>
          <a:xfrm>
            <a:off x="457200" y="1351080"/>
            <a:ext cx="9220320" cy="55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3" descr="I:\Marina\JOBS-Server(MQ)\(052) ACN PPT\281_ACN.png"/>
          <p:cNvPicPr/>
          <p:nvPr/>
        </p:nvPicPr>
        <p:blipFill>
          <a:blip r:embed="rId2"/>
          <a:stretch/>
        </p:blipFill>
        <p:spPr>
          <a:xfrm>
            <a:off x="0" y="6242040"/>
            <a:ext cx="9902880" cy="615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9" name="Object 4"/>
          <p:cNvGraphicFramePr/>
          <p:nvPr/>
        </p:nvGraphicFramePr>
        <p:xfrm>
          <a:off x="8613720" y="6194520"/>
          <a:ext cx="685800" cy="6714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90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8613720" y="6194520"/>
                    <a:ext cx="685800" cy="671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1" name="Text Box 5"/>
          <p:cNvSpPr/>
          <p:nvPr/>
        </p:nvSpPr>
        <p:spPr>
          <a:xfrm>
            <a:off x="457200" y="838080"/>
            <a:ext cx="9144000" cy="520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Qoo share declined since May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42680" y="60912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產品上市前研究的主要發現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42680" y="1981080"/>
            <a:ext cx="8420040" cy="41148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口味測試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最常喝的口味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柳橙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, 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葡萄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包裝測試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很高的比例的受訪者喜歡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500 PET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330ml TPK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是對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13-15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歲小朋友最恰當的包裝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消費者對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500 PET 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的包裝最喜歡的理由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25"/>
              </a:spcBef>
              <a:buClr>
                <a:srgbClr val="3333cc"/>
              </a:buClr>
              <a:buSzPct val="70000"/>
              <a:buFont typeface="Monotype Sorts" charset="2"/>
              <a:buChar char="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包裝很可愛</a:t>
            </a:r>
            <a:r>
              <a:rPr b="1" lang="zh-TW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”</a:t>
            </a:r>
            <a:r>
              <a:rPr b="1" lang="en-US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&amp;</a:t>
            </a: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配色很好”</a:t>
            </a:r>
            <a:r>
              <a:rPr b="1" lang="en-US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&amp;</a:t>
            </a: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容量大小剛好可以分給別人一起喝”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廣告測試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所有測試的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支廣告得分都很高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廣告都得高分的主要原因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r>
              <a:rPr b="1" lang="en-US" sz="21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“Qoo </a:t>
            </a:r>
            <a:r>
              <a:rPr b="1" lang="zh-TW" sz="21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真的是可愛”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,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21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廣告很好玩”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及</a:t>
            </a:r>
            <a:r>
              <a:rPr b="1" lang="zh-TW" sz="21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“果汁看起來很好喝”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Box 2"/>
          <p:cNvSpPr/>
          <p:nvPr/>
        </p:nvSpPr>
        <p:spPr>
          <a:xfrm>
            <a:off x="1238400" y="762120"/>
            <a:ext cx="1485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Hyper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Rectangle 4"/>
          <p:cNvSpPr/>
          <p:nvPr/>
        </p:nvSpPr>
        <p:spPr>
          <a:xfrm>
            <a:off x="4041360" y="838080"/>
            <a:ext cx="1600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落地陳列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Picture 5" descr=""/>
          <p:cNvPicPr/>
          <p:nvPr/>
        </p:nvPicPr>
        <p:blipFill>
          <a:blip r:embed="rId1"/>
          <a:stretch/>
        </p:blipFill>
        <p:spPr>
          <a:xfrm>
            <a:off x="1488960" y="1752480"/>
            <a:ext cx="6934320" cy="45720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random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Box 2"/>
          <p:cNvSpPr/>
          <p:nvPr/>
        </p:nvSpPr>
        <p:spPr>
          <a:xfrm>
            <a:off x="743040" y="914400"/>
            <a:ext cx="1981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Hyper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量販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 Box 3"/>
          <p:cNvSpPr/>
          <p:nvPr/>
        </p:nvSpPr>
        <p:spPr>
          <a:xfrm>
            <a:off x="1816200" y="2286000"/>
            <a:ext cx="1255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鉛筆組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2590920" y="990720"/>
            <a:ext cx="3714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250ml-6pack &amp;</a:t>
            </a:r>
            <a:r>
              <a:rPr b="1" lang="zh-TW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　</a:t>
            </a: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1.5L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5"/>
          <p:cNvSpPr/>
          <p:nvPr/>
        </p:nvSpPr>
        <p:spPr>
          <a:xfrm>
            <a:off x="5181480" y="2209680"/>
            <a:ext cx="1650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 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削筆器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Rectangle 8"/>
          <p:cNvSpPr/>
          <p:nvPr/>
        </p:nvSpPr>
        <p:spPr>
          <a:xfrm>
            <a:off x="1410120" y="1828800"/>
            <a:ext cx="2084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250ml-6pack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Rectangle 9"/>
          <p:cNvSpPr/>
          <p:nvPr/>
        </p:nvSpPr>
        <p:spPr>
          <a:xfrm>
            <a:off x="5335560" y="1828800"/>
            <a:ext cx="852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1.5L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3" name="Picture 11" descr=""/>
          <p:cNvPicPr/>
          <p:nvPr/>
        </p:nvPicPr>
        <p:blipFill>
          <a:blip r:embed="rId1"/>
          <a:stretch/>
        </p:blipFill>
        <p:spPr>
          <a:xfrm>
            <a:off x="990720" y="2743200"/>
            <a:ext cx="2971800" cy="213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12" descr=""/>
          <p:cNvPicPr/>
          <p:nvPr/>
        </p:nvPicPr>
        <p:blipFill>
          <a:blip r:embed="rId2"/>
          <a:stretch/>
        </p:blipFill>
        <p:spPr>
          <a:xfrm>
            <a:off x="5105520" y="2819520"/>
            <a:ext cx="1647720" cy="18288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random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Box 3"/>
          <p:cNvSpPr/>
          <p:nvPr/>
        </p:nvSpPr>
        <p:spPr>
          <a:xfrm>
            <a:off x="536040" y="762120"/>
            <a:ext cx="22032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Comic Sans MS"/>
              </a:rPr>
              <a:t>Super Channel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990000"/>
                </a:solidFill>
                <a:effectLst/>
                <a:uFillTx/>
                <a:latin typeface="Comic Sans MS"/>
              </a:rPr>
              <a:t>超市店通路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 Box 4"/>
          <p:cNvSpPr/>
          <p:nvPr/>
        </p:nvSpPr>
        <p:spPr>
          <a:xfrm>
            <a:off x="330120" y="1676520"/>
            <a:ext cx="957600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產品口味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: Orange &amp; Grape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產品包裝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: PET 500ml &amp; 1.5L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     TPK 330ml-6pack &amp; 330ml single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預計上市時間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: KA &amp;GT - 11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月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行銷計劃方向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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對象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: 500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家銷量高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&amp;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配合度高的據點 </a:t>
            </a:r>
            <a:r>
              <a:rPr b="1" lang="en-US" sz="1800" strike="noStrike" u="none">
                <a:solidFill>
                  <a:srgbClr val="00cc99"/>
                </a:solidFill>
                <a:effectLst/>
                <a:uFillTx/>
                <a:latin typeface="Comic Sans MS"/>
              </a:rPr>
              <a:t>(</a:t>
            </a:r>
            <a:r>
              <a:rPr b="1" lang="zh-TW" sz="1800" strike="noStrike" u="none">
                <a:solidFill>
                  <a:srgbClr val="00cc99"/>
                </a:solidFill>
                <a:effectLst/>
                <a:uFillTx/>
                <a:latin typeface="Comic Sans MS"/>
              </a:rPr>
              <a:t>每次下貨量</a:t>
            </a:r>
            <a:r>
              <a:rPr b="1" lang="en-US" sz="1800" strike="noStrike" u="none">
                <a:solidFill>
                  <a:srgbClr val="00cc99"/>
                </a:solidFill>
                <a:effectLst/>
                <a:uFillTx/>
                <a:latin typeface="Comic Sans MS"/>
              </a:rPr>
              <a:t>:10-20cs)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cc99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cc99"/>
                </a:solidFill>
                <a:effectLst/>
                <a:uFillTx/>
                <a:latin typeface="Comic Sans MS"/>
              </a:rPr>
              <a:t>促銷方案</a:t>
            </a:r>
            <a:r>
              <a:rPr b="1" lang="en-US" sz="2400" strike="noStrike" u="none">
                <a:solidFill>
                  <a:srgbClr val="00cc99"/>
                </a:solidFill>
                <a:effectLst/>
                <a:uFillTx/>
                <a:latin typeface="Comic Sans MS"/>
              </a:rPr>
              <a:t>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cc99"/>
                </a:solidFill>
                <a:effectLst/>
                <a:uFillTx/>
                <a:latin typeface="Wingdings"/>
                <a:ea typeface="Wingdings"/>
              </a:rPr>
              <a:t></a:t>
            </a:r>
            <a:r>
              <a:rPr b="1" lang="en-US" sz="2400" strike="noStrike" u="none">
                <a:solidFill>
                  <a:srgbClr val="00cc99"/>
                </a:solidFill>
                <a:effectLst/>
                <a:uFillTx/>
                <a:latin typeface="Comic Sans MS"/>
                <a:ea typeface="新細明體"/>
              </a:rPr>
              <a:t>PET 1.5L &amp; TPK 330ml-6</a:t>
            </a:r>
            <a:r>
              <a:rPr b="1" lang="zh-TW" sz="2400" strike="noStrike" u="none">
                <a:solidFill>
                  <a:srgbClr val="00cc99"/>
                </a:solidFill>
                <a:effectLst/>
                <a:uFillTx/>
                <a:latin typeface="Comic Sans MS"/>
                <a:ea typeface="新細明體"/>
              </a:rPr>
              <a:t>包裝 </a:t>
            </a:r>
            <a:r>
              <a:rPr b="1" lang="en-US" sz="2400" strike="noStrike" u="none">
                <a:solidFill>
                  <a:srgbClr val="00cc99"/>
                </a:solidFill>
                <a:effectLst/>
                <a:uFillTx/>
                <a:latin typeface="Comic Sans MS"/>
                <a:ea typeface="新細明體"/>
              </a:rPr>
              <a:t>on-pack </a:t>
            </a:r>
            <a:r>
              <a:rPr b="1" lang="zh-TW" sz="2400" strike="noStrike" u="none">
                <a:solidFill>
                  <a:srgbClr val="00cc99"/>
                </a:solidFill>
                <a:effectLst/>
                <a:uFillTx/>
                <a:latin typeface="Comic Sans MS"/>
                <a:ea typeface="新細明體"/>
              </a:rPr>
              <a:t>小贈品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店內規劃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: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陳列人員執行堆箱陳列任務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&amp;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店家提供端架陳列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828800"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&amp;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店內佈置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Wingdings"/>
                <a:ea typeface="Wingdings"/>
              </a:rPr>
              <a:t>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10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或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20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箱陳列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&amp;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串旗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&amp;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海報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&amp;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新細明體"/>
              </a:rPr>
              <a:t>冰箱整理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3724200" y="838080"/>
            <a:ext cx="41432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3333cc"/>
                </a:solidFill>
                <a:effectLst/>
                <a:uFillTx/>
                <a:latin typeface="新細明體"/>
              </a:rPr>
              <a:t>酷兒說：把我帶回家一起玩！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Text Box 6"/>
          <p:cNvSpPr/>
          <p:nvPr/>
        </p:nvSpPr>
        <p:spPr>
          <a:xfrm>
            <a:off x="3350880" y="3886200"/>
            <a:ext cx="3273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Comic Sans MS"/>
              </a:rPr>
              <a:t>進貨後的第</a:t>
            </a: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Comic Sans MS"/>
              </a:rPr>
              <a:t>1</a:t>
            </a: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Comic Sans MS"/>
              </a:rPr>
              <a:t>個月有</a:t>
            </a: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Comic Sans MS"/>
              </a:rPr>
              <a:t>on-Pack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Text Box 7"/>
          <p:cNvSpPr/>
          <p:nvPr/>
        </p:nvSpPr>
        <p:spPr>
          <a:xfrm>
            <a:off x="1288800" y="5791320"/>
            <a:ext cx="5807880" cy="337680"/>
          </a:xfrm>
          <a:prstGeom prst="rect">
            <a:avLst/>
          </a:prstGeom>
          <a:noFill/>
          <a:ln w="9360">
            <a:solidFill>
              <a:srgbClr val="6600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ff3300"/>
                </a:solidFill>
                <a:effectLst/>
                <a:uFillTx/>
                <a:latin typeface="Comic Sans MS"/>
              </a:rPr>
              <a:t>選出一客戶</a:t>
            </a:r>
            <a:r>
              <a:rPr b="1" lang="en-US" sz="1600" strike="noStrike" u="none">
                <a:solidFill>
                  <a:srgbClr val="ff3300"/>
                </a:solidFill>
                <a:effectLst/>
                <a:uFillTx/>
                <a:latin typeface="Comic Sans MS"/>
              </a:rPr>
              <a:t>, </a:t>
            </a:r>
            <a:r>
              <a:rPr b="1" lang="zh-TW" sz="1600" strike="noStrike" u="none">
                <a:solidFill>
                  <a:srgbClr val="ff3300"/>
                </a:solidFill>
                <a:effectLst/>
                <a:uFillTx/>
                <a:latin typeface="Comic Sans MS"/>
              </a:rPr>
              <a:t>並要求旗下所有門市都能配合</a:t>
            </a:r>
            <a:r>
              <a:rPr b="1" lang="en-US" sz="1600" strike="noStrike" u="none">
                <a:solidFill>
                  <a:srgbClr val="ff3300"/>
                </a:solidFill>
                <a:effectLst/>
                <a:uFillTx/>
                <a:latin typeface="Comic Sans MS"/>
              </a:rPr>
              <a:t>in-store</a:t>
            </a:r>
            <a:r>
              <a:rPr b="1" lang="zh-TW" sz="1600" strike="noStrike" u="none">
                <a:solidFill>
                  <a:srgbClr val="ff3300"/>
                </a:solidFill>
                <a:effectLst/>
                <a:uFillTx/>
                <a:latin typeface="Comic Sans MS"/>
              </a:rPr>
              <a:t>派樣活動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"/>
          <p:cNvSpPr/>
          <p:nvPr/>
        </p:nvSpPr>
        <p:spPr>
          <a:xfrm>
            <a:off x="5283360" y="762120"/>
            <a:ext cx="1449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1981080" y="1828800"/>
            <a:ext cx="17528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95360" y="685440"/>
            <a:ext cx="5200560" cy="60948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3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  </a:t>
            </a: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SUPER </a:t>
            </a:r>
            <a:r>
              <a:rPr b="0" lang="zh-TW" sz="3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超市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3" name="Object 5"/>
          <p:cNvGraphicFramePr/>
          <p:nvPr/>
        </p:nvGraphicFramePr>
        <p:xfrm>
          <a:off x="4952880" y="2057400"/>
          <a:ext cx="1486080" cy="19051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14" name="Object 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952880" y="2057400"/>
                    <a:ext cx="1486080" cy="1905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15" name="Object 6"/>
          <p:cNvGraphicFramePr/>
          <p:nvPr/>
        </p:nvGraphicFramePr>
        <p:xfrm>
          <a:off x="6400800" y="1600200"/>
          <a:ext cx="1568520" cy="16002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16" name="Object 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400800" y="1600200"/>
                    <a:ext cx="1568520" cy="1600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17" name="Text Box 7"/>
          <p:cNvSpPr/>
          <p:nvPr/>
        </p:nvSpPr>
        <p:spPr>
          <a:xfrm>
            <a:off x="1285920" y="3276720"/>
            <a:ext cx="1095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蠟筆組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 Box 8"/>
          <p:cNvSpPr/>
          <p:nvPr/>
        </p:nvSpPr>
        <p:spPr>
          <a:xfrm>
            <a:off x="6555960" y="3352680"/>
            <a:ext cx="1724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PVC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手提袋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9" name="Object 9"/>
          <p:cNvGraphicFramePr/>
          <p:nvPr/>
        </p:nvGraphicFramePr>
        <p:xfrm>
          <a:off x="825480" y="1676520"/>
          <a:ext cx="2228760" cy="146664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220" name="Objec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825480" y="1676520"/>
                    <a:ext cx="2228760" cy="1466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21" name="Object 10"/>
          <p:cNvGraphicFramePr/>
          <p:nvPr/>
        </p:nvGraphicFramePr>
        <p:xfrm>
          <a:off x="2889360" y="4038480"/>
          <a:ext cx="1650960" cy="182880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222" name="Object 10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2889360" y="4038480"/>
                    <a:ext cx="1650960" cy="1828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3" name="Text Box 11"/>
          <p:cNvSpPr/>
          <p:nvPr/>
        </p:nvSpPr>
        <p:spPr>
          <a:xfrm>
            <a:off x="3479400" y="1752480"/>
            <a:ext cx="2201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0000"/>
                </a:solidFill>
                <a:effectLst/>
                <a:uFillTx/>
                <a:latin typeface="Comic Sans MS"/>
                <a:ea typeface="細明體"/>
              </a:rPr>
              <a:t>330ML-6pack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Rectangle 12"/>
          <p:cNvSpPr/>
          <p:nvPr/>
        </p:nvSpPr>
        <p:spPr>
          <a:xfrm>
            <a:off x="4989960" y="4267080"/>
            <a:ext cx="852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1.5L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Rectangle 13"/>
          <p:cNvSpPr/>
          <p:nvPr/>
        </p:nvSpPr>
        <p:spPr>
          <a:xfrm>
            <a:off x="4993560" y="4952880"/>
            <a:ext cx="944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削筆器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"/>
          <p:cNvSpPr/>
          <p:nvPr/>
        </p:nvSpPr>
        <p:spPr>
          <a:xfrm>
            <a:off x="5283360" y="762120"/>
            <a:ext cx="1449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Rectangle 3"/>
          <p:cNvSpPr/>
          <p:nvPr/>
        </p:nvSpPr>
        <p:spPr>
          <a:xfrm>
            <a:off x="1981080" y="1828800"/>
            <a:ext cx="17528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2590560" y="3123720"/>
            <a:ext cx="4190760" cy="83844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 fontScale="92500" lnSpcReduction="9999"/>
          </a:bodyPr>
          <a:p>
            <a:pPr marL="639720" indent="-639720">
              <a:spcBef>
                <a:spcPts val="901"/>
              </a:spcBef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6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The end thank you 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0" name="Object 26"/>
          <p:cNvGraphicFramePr/>
          <p:nvPr/>
        </p:nvGraphicFramePr>
        <p:xfrm>
          <a:off x="457200" y="2438280"/>
          <a:ext cx="1008000" cy="12938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31" name="Object 26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57200" y="2438280"/>
                    <a:ext cx="1008000" cy="1293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32" name="Object 27"/>
          <p:cNvGraphicFramePr/>
          <p:nvPr/>
        </p:nvGraphicFramePr>
        <p:xfrm>
          <a:off x="2286000" y="1523880"/>
          <a:ext cx="1128600" cy="10512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33" name="Object 27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286000" y="1523880"/>
                    <a:ext cx="1128600" cy="1051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34" name="Object 28"/>
          <p:cNvGraphicFramePr/>
          <p:nvPr/>
        </p:nvGraphicFramePr>
        <p:xfrm>
          <a:off x="2057400" y="4495680"/>
          <a:ext cx="1014480" cy="94644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235" name="Object 28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2057400" y="4495680"/>
                    <a:ext cx="1014480" cy="946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36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990000"/>
                </a:solidFill>
                <a:effectLst/>
                <a:uFillTx/>
                <a:latin typeface="Times New Roman"/>
              </a:rPr>
              <a:t>www.1ppt.com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14514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1997-10-18T09:13:48Z</dcterms:created>
  <dc:creator>Karen Chi</dc:creator>
  <dc:description/>
  <dc:language>zh-CN</dc:language>
  <cp:lastModifiedBy>jccook</cp:lastModifiedBy>
  <cp:lastPrinted>2001-08-01T11:01:07Z</cp:lastPrinted>
  <dcterms:modified xsi:type="dcterms:W3CDTF">2012-07-06T21:08:26Z</dcterms:modified>
  <cp:revision>446</cp:revision>
  <dc:subject/>
  <dc:title>沒有投影片標題</dc:title>
</cp:coreProperties>
</file>