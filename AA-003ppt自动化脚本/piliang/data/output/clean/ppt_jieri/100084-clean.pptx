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59" r:id="rId13"/>
    <p:sldId id="269" r:id="rId14"/>
    <p:sldId id="270" r:id="rId15"/>
    <p:sldId id="271" r:id="rId16"/>
    <p:sldId id="272" r:id="rId17"/>
    <p:sldId id="273" r:id="rId18"/>
    <p:sldId id="260" r:id="rId19"/>
    <p:sldId id="274" r:id="rId20"/>
    <p:sldId id="275" r:id="rId21"/>
    <p:sldId id="276" r:id="rId22"/>
    <p:sldId id="277" r:id="rId23"/>
    <p:sldId id="261" r:id="rId24"/>
    <p:sldId id="279" r:id="rId25"/>
    <p:sldId id="280" r:id="rId26"/>
    <p:sldId id="278" r:id="rId27"/>
    <p:sldId id="281" r:id="rId28"/>
    <p:sldId id="282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182" userDrawn="1">
          <p15:clr>
            <a:srgbClr val="A4A3A4"/>
          </p15:clr>
        </p15:guide>
        <p15:guide id="4" pos="6834" userDrawn="1">
          <p15:clr>
            <a:srgbClr val="A4A3A4"/>
          </p15:clr>
        </p15:guide>
        <p15:guide id="5" pos="1232" userDrawn="1">
          <p15:clr>
            <a:srgbClr val="A4A3A4"/>
          </p15:clr>
        </p15:guide>
        <p15:guide id="6" pos="20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620" y="1020"/>
      </p:cViewPr>
      <p:guideLst>
        <p:guide orient="horz" pos="2183"/>
        <p:guide pos="3840"/>
        <p:guide pos="3182"/>
        <p:guide pos="6834"/>
        <p:guide pos="1232"/>
        <p:guide pos="20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ppthub.shop/jieri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BA4A6F-15B3-4C26-88FC-63F10DD7F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F43677-D604-4309-8492-AB8DF6707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21FBD1-062D-44B1-9DB7-054BC610F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156659-ED4E-4399-826F-6C036250D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D5FAC-DB7F-425D-94A0-B34C2EBD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133745"/>
      </p:ext>
    </p:extLst>
  </p:cSld>
  <p:clrMapOvr>
    <a:masterClrMapping/>
  </p:clrMapOvr>
  <p:transition spd="slow" advTm="300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A239DE-47C0-417E-956D-6A3E9C53A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7F9C9A-14C6-4834-BD2F-FEE3B69B8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00C718-1AEF-4F3A-9CCE-63DE024EA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EFADAE-6D53-4412-8521-15C80A57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8CA5D2-7559-4AE7-982C-10B2CE85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738668"/>
      </p:ext>
    </p:extLst>
  </p:cSld>
  <p:clrMapOvr>
    <a:masterClrMapping/>
  </p:clrMapOvr>
  <p:transition spd="slow" advTm="300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2C9B0-0906-45EA-9DBE-2C6B3A37D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DC13E8-BA15-4999-A2B3-C053B933E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F162AA-BA76-4CCF-B822-F246C1904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45F0C8-11E4-438D-93FE-D7C3216E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032106-8439-49B8-ADAD-32608F44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065613"/>
      </p:ext>
    </p:extLst>
  </p:cSld>
  <p:clrMapOvr>
    <a:masterClrMapping/>
  </p:clrMapOvr>
  <p:transition spd="slow" advTm="300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2B7D0-0422-4DEA-8556-BA3523115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A23352-7DFD-4FCA-9C19-51EFBDD41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F64A07-B580-433E-B3EB-C69135C3F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52899B-34AC-4E45-BF53-9CAA22A2A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1500E1-154D-4B5D-BE1E-D5DF12CC2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88A6F7-7906-4649-9E4C-ED28C6BA0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586749"/>
      </p:ext>
    </p:extLst>
  </p:cSld>
  <p:clrMapOvr>
    <a:masterClrMapping/>
  </p:clrMapOvr>
  <p:transition spd="slow" advTm="300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E99C30-4FFD-4EAD-BE96-55776841A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93F027-6DC3-4AF4-A2F0-0E291176C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B90A63-CB89-4D6E-AD84-9A673F0FB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265C82B-3BD7-4D4C-9597-D626B56E2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BD7CC4-804B-4B33-AD2A-1348D0827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CB1CAD-B4E7-47F3-A7F1-56C314C3F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7E77D2A-5A9B-44A6-AE1D-DE54E407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8D820D-25D4-4A96-9CAA-903BD5556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410036"/>
      </p:ext>
    </p:extLst>
  </p:cSld>
  <p:clrMapOvr>
    <a:masterClrMapping/>
  </p:clrMapOvr>
  <p:transition spd="slow" advTm="300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E99C30-4FFD-4EAD-BE96-55776841A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93F027-6DC3-4AF4-A2F0-0E291176C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B90A63-CB89-4D6E-AD84-9A673F0FB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265C82B-3BD7-4D4C-9597-D626B56E2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BD7CC4-804B-4B33-AD2A-1348D0827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CB1CAD-B4E7-47F3-A7F1-56C314C3F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7E77D2A-5A9B-44A6-AE1D-DE54E407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8D820D-25D4-4A96-9CAA-903BD5556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DB6DFACE-44D7-EA39-9B6D-77BBD8DB7FA9}"/>
              </a:ext>
            </a:extLst>
          </p:cNvPr>
          <p:cNvSpPr txBox="1"/>
          <p:nvPr userDrawn="1"/>
        </p:nvSpPr>
        <p:spPr>
          <a:xfrm>
            <a:off x="1489720" y="6662260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t>节日PPT模板 https://www.ppthub.shop/jieri/</a:t>
            </a:r>
          </a:p>
        </p:txBody>
      </p:sp>
    </p:spTree>
    <p:extLst>
      <p:ext uri="{BB962C8B-B14F-4D97-AF65-F5344CB8AC3E}">
        <p14:creationId xmlns:p14="http://schemas.microsoft.com/office/powerpoint/2010/main" val="2393679576"/>
      </p:ext>
    </p:extLst>
  </p:cSld>
  <p:clrMapOvr>
    <a:masterClrMapping/>
  </p:clrMapOvr>
  <p:transition spd="slow" advTm="300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000AB0-E419-46C8-8106-5C07A9EB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4D5B42-67E1-4F9E-8B3C-BD3D9200F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E1A38D-4DBB-4859-9CC2-CC6B8D3E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9A0527-3EAC-4679-A76B-B7517BF0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526040"/>
      </p:ext>
    </p:extLst>
  </p:cSld>
  <p:clrMapOvr>
    <a:masterClrMapping/>
  </p:clrMapOvr>
  <p:transition spd="slow" advTm="300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3E2D5F-714D-493A-AE9B-CE5CDE12E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534628-3852-43AE-A4A5-E01E63B2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CAC9E1-9509-489F-AC53-C8A128E0E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314779"/>
      </p:ext>
    </p:extLst>
  </p:cSld>
  <p:clrMapOvr>
    <a:masterClrMapping/>
  </p:clrMapOvr>
  <p:transition spd="slow" advTm="300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0A970-794E-457F-AB43-F7042B16E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385069-A63F-4AB0-B326-902FC683C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581183-243A-4BF4-8FEC-484E6E5D6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46C512-8710-41AB-BD8C-E55A42D5D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C340FA-C8B1-40E6-9BF4-CDE7DF690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08DB39-DC4C-4F30-AE39-8D96BD039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165818"/>
      </p:ext>
    </p:extLst>
  </p:cSld>
  <p:clrMapOvr>
    <a:masterClrMapping/>
  </p:clrMapOvr>
  <p:transition spd="slow" advTm="3000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C7D5B4-4919-465C-AD85-B3E5FBB90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97FB0F6-7002-4CD4-9B8D-70F0D7148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4EFC6F-1164-4B1C-A262-0DFA3B67E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D4ACA9-4C0D-42D8-9153-B85774C48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06161E-DD16-4A35-B924-4463FC20A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341287-0FEA-4BA4-B82D-49596853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66803"/>
      </p:ext>
    </p:extLst>
  </p:cSld>
  <p:clrMapOvr>
    <a:masterClrMapping/>
  </p:clrMapOvr>
  <p:transition spd="slow" advTm="3000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C162B-CEC5-46DA-A875-EC6DEA19E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E3B414-8E9B-4177-BE32-54FDC2571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B8AD91-FC17-446C-A69D-47CF5A9F3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E3733A-2938-495A-871C-FCED4A6F5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71DA86-1F6D-4947-AD86-D0E9750D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504700"/>
      </p:ext>
    </p:extLst>
  </p:cSld>
  <p:clrMapOvr>
    <a:masterClrMapping/>
  </p:clrMapOvr>
  <p:transition spd="slow" advTm="3000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536F86D-A71E-42C0-A342-38EECDE8B6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077BC5-A7D6-4BA3-B283-EBE79FA69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F57B65-C03E-4045-8519-DB2B0580A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4494F4-CAA4-4EB6-888B-094950E26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C6830B-5420-4D06-B9E3-7EF22FBD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036723"/>
      </p:ext>
    </p:extLst>
  </p:cSld>
  <p:clrMapOvr>
    <a:masterClrMapping/>
  </p:clrMapOvr>
  <p:transition spd="slow" advTm="3000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1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186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1632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461229-4765-493E-AFC8-0DACD0D68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570F45-2375-45BE-AF08-4660AB36F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422B39-6208-41D6-BFD1-7882E91C4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3B4428-9852-4476-8B37-3FD81084DB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06421F-50D2-4F06-AE8A-B52D773F6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84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slow" advTm="3000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877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microsoft.com/office/2007/relationships/hdphoto" Target="../media/hdphoto2.wdp"/><Relationship Id="rId7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3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Relationship Id="rId5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Relationship Id="rId5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Relationship Id="rId5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Relationship Id="rId5" Type="http://schemas.openxmlformats.org/officeDocument/2006/relationships/image" Target="../media/image21.png"/><Relationship Id="rId6" Type="http://schemas.microsoft.com/office/2007/relationships/hdphoto" Target="../media/hdphoto3.wdp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Relationship Id="rId5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Relationship Id="rId5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Relationship Id="rId5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Relationship Id="rId5" Type="http://schemas.openxmlformats.org/officeDocument/2006/relationships/image" Target="../media/image27.jpeg"/><Relationship Id="rId6" Type="http://schemas.openxmlformats.org/officeDocument/2006/relationships/image" Target="../media/image28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Relationship Id="rId5" Type="http://schemas.openxmlformats.org/officeDocument/2006/relationships/image" Target="../media/image29.jpeg"/><Relationship Id="rId6" Type="http://schemas.openxmlformats.org/officeDocument/2006/relationships/image" Target="../media/image30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9.png"/><Relationship Id="rId5" Type="http://schemas.openxmlformats.org/officeDocument/2006/relationships/image" Target="../media/image31.jpeg"/><Relationship Id="rId6" Type="http://schemas.openxmlformats.org/officeDocument/2006/relationships/image" Target="../media/image3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19C9AB15-8510-4744-84AA-767F07F386C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9875" t="305" r="10026" b="10843"/>
          <a:stretch/>
        </p:blipFill>
        <p:spPr>
          <a:xfrm>
            <a:off x="0" y="0"/>
            <a:ext cx="12192000" cy="681125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8E5C0E0-D1EC-4986-A366-0EB66615051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96129" y="575648"/>
            <a:ext cx="4799742" cy="54289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049B498-6771-4B78-8520-86C5EAB7721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347154" y="2328667"/>
            <a:ext cx="6431474" cy="569063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9FAF227-0B96-4CEB-9ED5-F3E1715B5DF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V="1">
            <a:off x="10028885" y="2352038"/>
            <a:ext cx="6431474" cy="569063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4133815-642B-4A60-BD54-5275E01CD2B1}"/>
              </a:ext>
            </a:extLst>
          </p:cNvPr>
          <p:cNvSpPr txBox="1"/>
          <p:nvPr/>
        </p:nvSpPr>
        <p:spPr>
          <a:xfrm>
            <a:off x="4612640" y="5750542"/>
            <a:ext cx="296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>
                <a:cs typeface="+mn-ea"/>
                <a:sym typeface="+mn-lt"/>
              </a:rPr>
              <a:t>二十四节气之冬至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81856383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196C4094-F530-45AA-BED8-2A619D922A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40578" t="26245" r="9435" b="10395"/>
          <a:stretch/>
        </p:blipFill>
        <p:spPr>
          <a:xfrm>
            <a:off x="0" y="23371"/>
            <a:ext cx="12192000" cy="681125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3350983-C5DF-4E71-84CE-41DE27EAD817}"/>
              </a:ext>
            </a:extLst>
          </p:cNvPr>
          <p:cNvSpPr txBox="1"/>
          <p:nvPr/>
        </p:nvSpPr>
        <p:spPr>
          <a:xfrm>
            <a:off x="654025" y="614918"/>
            <a:ext cx="2646878" cy="135938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8000" dirty="0">
                <a:cs typeface="+mn-ea"/>
                <a:sym typeface="+mn-lt"/>
              </a:rPr>
              <a:t>录目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D4FFED-9979-4041-898B-0608A1E42BFD}"/>
              </a:ext>
            </a:extLst>
          </p:cNvPr>
          <p:cNvSpPr txBox="1"/>
          <p:nvPr/>
        </p:nvSpPr>
        <p:spPr>
          <a:xfrm>
            <a:off x="4328035" y="1496716"/>
            <a:ext cx="2749099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+mn-ea"/>
                <a:sym typeface="+mn-lt"/>
              </a:rPr>
              <a:t>一、冬至起源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412299-9E1F-44EF-937E-E781A039A59E}"/>
              </a:ext>
            </a:extLst>
          </p:cNvPr>
          <p:cNvSpPr txBox="1"/>
          <p:nvPr/>
        </p:nvSpPr>
        <p:spPr>
          <a:xfrm>
            <a:off x="4328035" y="2734976"/>
            <a:ext cx="2749099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cs typeface="+mn-ea"/>
                <a:sym typeface="+mn-lt"/>
              </a:rPr>
              <a:t>二、历史渊源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D8E840-A8DC-4C0B-884D-E58C8BC146A2}"/>
              </a:ext>
            </a:extLst>
          </p:cNvPr>
          <p:cNvSpPr txBox="1"/>
          <p:nvPr/>
        </p:nvSpPr>
        <p:spPr>
          <a:xfrm>
            <a:off x="5198218" y="2135947"/>
            <a:ext cx="4320306" cy="53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cs typeface="+mn-ea"/>
                <a:sym typeface="+mn-lt"/>
              </a:rPr>
              <a:t>冬至兼具自然与人文两大内涵，既是自然节气点，也是一个传统的祭祀祖先和神灵的节日。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1290B9-10B2-455C-8732-848DC19A3331}"/>
              </a:ext>
            </a:extLst>
          </p:cNvPr>
          <p:cNvSpPr txBox="1"/>
          <p:nvPr/>
        </p:nvSpPr>
        <p:spPr>
          <a:xfrm>
            <a:off x="5198217" y="3391529"/>
            <a:ext cx="5791159" cy="53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cs typeface="+mn-ea"/>
                <a:sym typeface="+mn-lt"/>
              </a:rPr>
              <a:t>传说早在</a:t>
            </a:r>
            <a:r>
              <a:rPr lang="en-US" altLang="zh-CN" sz="1000">
                <a:cs typeface="+mn-ea"/>
                <a:sym typeface="+mn-lt"/>
              </a:rPr>
              <a:t>3000</a:t>
            </a:r>
            <a:r>
              <a:rPr lang="zh-CN" altLang="en-US" sz="1000">
                <a:cs typeface="+mn-ea"/>
                <a:sym typeface="+mn-lt"/>
              </a:rPr>
              <a:t>多年前，周公始用土圭法测影，在洛邑测得天下之中的位置，定此为土中，这在当时有着政治意义的举动，却成了影响后世几千年的节日之一。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D6B7B2-D8A9-4D8F-88F1-11D9C9AF34AA}"/>
              </a:ext>
            </a:extLst>
          </p:cNvPr>
          <p:cNvSpPr txBox="1"/>
          <p:nvPr/>
        </p:nvSpPr>
        <p:spPr>
          <a:xfrm>
            <a:off x="4328035" y="4026307"/>
            <a:ext cx="2749099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cs typeface="+mn-ea"/>
                <a:sym typeface="+mn-lt"/>
              </a:rPr>
              <a:t>三、民俗活动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DD7403-9012-47A7-97A0-BB6030B23B76}"/>
              </a:ext>
            </a:extLst>
          </p:cNvPr>
          <p:cNvSpPr txBox="1"/>
          <p:nvPr/>
        </p:nvSpPr>
        <p:spPr>
          <a:xfrm>
            <a:off x="5198217" y="4682859"/>
            <a:ext cx="5791159" cy="53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cs typeface="+mn-ea"/>
                <a:sym typeface="+mn-lt"/>
              </a:rPr>
              <a:t>冬至节亦称冬节、交冬。它既是二十四节气之一，是中国的一个传统节日，曾有“冬至大如年”的说法，宫廷和民间历来十分重视，从周代起就有祭祀活动。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3652A78-1D95-442A-B182-6E7049F2654B}"/>
              </a:ext>
            </a:extLst>
          </p:cNvPr>
          <p:cNvSpPr txBox="1"/>
          <p:nvPr/>
        </p:nvSpPr>
        <p:spPr>
          <a:xfrm>
            <a:off x="4328035" y="5238985"/>
            <a:ext cx="2749099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cs typeface="+mn-ea"/>
                <a:sym typeface="+mn-lt"/>
              </a:rPr>
              <a:t>四、传统饮食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1571776-640D-4F57-BC12-BA4FBBAAA854}"/>
              </a:ext>
            </a:extLst>
          </p:cNvPr>
          <p:cNvSpPr txBox="1"/>
          <p:nvPr/>
        </p:nvSpPr>
        <p:spPr>
          <a:xfrm>
            <a:off x="5198217" y="5889969"/>
            <a:ext cx="5791159" cy="53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cs typeface="+mn-ea"/>
                <a:sym typeface="+mn-lt"/>
              </a:rPr>
              <a:t>冬至是养生的大好时机，主要是因为“气始于冬至”。此时科学养生有助于保证旺盛的精力而防早衰，达到延年益寿的目的。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DF6F2A7-47DB-44DC-A859-E5733F9E4D6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769538" flipH="1">
            <a:off x="-1466295" y="3415526"/>
            <a:ext cx="5440680" cy="287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15556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8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0978128-260C-43EF-AE0D-355B618FC1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1"/>
            <a:ext cx="12192000" cy="681125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7ECE048-3D8D-4C90-9C98-E34B770D9F3F}"/>
              </a:ext>
            </a:extLst>
          </p:cNvPr>
          <p:cNvSpPr txBox="1"/>
          <p:nvPr/>
        </p:nvSpPr>
        <p:spPr>
          <a:xfrm>
            <a:off x="3342641" y="3020716"/>
            <a:ext cx="5506718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>
                <a:cs typeface="+mn-ea"/>
                <a:sym typeface="+mn-lt"/>
              </a:rPr>
              <a:t>冬至</a:t>
            </a:r>
            <a:r>
              <a:rPr lang="zh-CN" altLang="en-US" sz="6000" dirty="0">
                <a:cs typeface="+mn-ea"/>
                <a:sym typeface="+mn-lt"/>
              </a:rPr>
              <a:t>起源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AA2599-E030-46DF-B26C-DEFA2BC3F2A0}"/>
              </a:ext>
            </a:extLst>
          </p:cNvPr>
          <p:cNvSpPr txBox="1"/>
          <p:nvPr/>
        </p:nvSpPr>
        <p:spPr>
          <a:xfrm>
            <a:off x="2499360" y="4259387"/>
            <a:ext cx="7193280" cy="792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冬至兼具自然与人文两大内涵，既是自然节气点，也是一个传统的祭祀祖先和神灵的节日。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33EFB4-17EF-4099-AF31-0561C08C8C7B}"/>
              </a:ext>
            </a:extLst>
          </p:cNvPr>
          <p:cNvSpPr txBox="1"/>
          <p:nvPr/>
        </p:nvSpPr>
        <p:spPr>
          <a:xfrm>
            <a:off x="5130800" y="2005053"/>
            <a:ext cx="1930400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cs typeface="+mn-ea"/>
                <a:sym typeface="+mn-lt"/>
              </a:rPr>
              <a:t>一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9A11A9F-B35E-4488-8B9E-06EAABB6644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00375" y="0"/>
            <a:ext cx="3869550" cy="28869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27AA14D-0076-4895-8DBA-ACC4C5F5426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0576337" y="5271685"/>
            <a:ext cx="1194952" cy="126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06518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10BE04-D4FC-4D8B-B05D-B4717FD6B503}"/>
              </a:ext>
            </a:extLst>
          </p:cNvPr>
          <p:cNvSpPr txBox="1"/>
          <p:nvPr/>
        </p:nvSpPr>
        <p:spPr>
          <a:xfrm>
            <a:off x="5013278" y="2311796"/>
            <a:ext cx="6037182" cy="253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，不但是中国农历中一个非常重要的节气，也是我国一个传统节日，冬至俗称“冬节”、“长至节”、“亚岁”等，因此冬至可谓是众多节气中最为丰富多彩的一个。冬至，历来就是我国一个非常重要的节气，至也被称为“冬节”、“长至节”、“亚岁”、廷和民间都十分重视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3221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</a:t>
            </a:r>
            <a:endParaRPr lang="zh-CN" altLang="en-US" sz="3600" dirty="0">
              <a:cs typeface="+mn-ea"/>
              <a:sym typeface="+mn-lt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E2CC840-C3B4-45F0-B44E-DF6E1E22140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3811" y="1663791"/>
            <a:ext cx="4257614" cy="394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115977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10BE04-D4FC-4D8B-B05D-B4717FD6B503}"/>
              </a:ext>
            </a:extLst>
          </p:cNvPr>
          <p:cNvSpPr txBox="1"/>
          <p:nvPr/>
        </p:nvSpPr>
        <p:spPr>
          <a:xfrm>
            <a:off x="5013278" y="996142"/>
            <a:ext cx="6037182" cy="50280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，俗称“冬节”“长至节”或“亚岁”等。冬至是太阳历二十四节气中一个重要的节气，也是中华民族的一个传统节日。冬至为“冬节”，所以被视为冬季的大节日，在古代民间有“冬至大如年”的讲法。古时候，漂在外地的人到了这时节都要回家过冬节，所谓“年终有所归宿”。古时有“冬至一阳生”的讲法，也就是说从冬至这天开始，阳气慢慢开始回升。</a:t>
            </a:r>
          </a:p>
          <a:p>
            <a:pPr hangingPunct="0"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古人讲：阴极之至，阳气始生，日南至，日短之至，日影长之至，故曰“冬至”。古人认为自冬至起，天地阳气开始兴作渐强，即下一个循环开始了，冬至一阳生、天地阳气回升，为“大吉之日”。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3221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俗称“冬节”</a:t>
            </a:r>
            <a:endParaRPr lang="zh-CN" altLang="en-US" sz="3600" dirty="0"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924516-51A8-4776-B175-FCBE724B34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0436" y="1370717"/>
            <a:ext cx="3405412" cy="503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31384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10BE04-D4FC-4D8B-B05D-B4717FD6B503}"/>
              </a:ext>
            </a:extLst>
          </p:cNvPr>
          <p:cNvSpPr txBox="1"/>
          <p:nvPr/>
        </p:nvSpPr>
        <p:spPr>
          <a:xfrm>
            <a:off x="5013278" y="2372514"/>
            <a:ext cx="6037182" cy="253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冬至节，来由于节气特点“冬至一阳生、天地阳气回升”，古人认为自冬至起，天地阳气开始兴作渐强，代表下一个循环开始，是大吉之日。因此在冬至祭祀神灵和祖先，此后形成节日习俗。相传冬至是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24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节气中最早被制订的一个，为二十四节气之首。冬至是上古时期根据天象物候确定阳气渐渐开始回升而定出的节气。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3221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冬至节</a:t>
            </a:r>
            <a:endParaRPr lang="zh-CN" altLang="en-US" sz="3600" dirty="0">
              <a:cs typeface="+mn-ea"/>
              <a:sym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7AED60F-512D-4F57-AA77-18BB25083E0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123" y="1848752"/>
            <a:ext cx="4668302" cy="363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46086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301016F0-696D-5098-6EDD-D5C7BE4F7DA1}"/>
              </a:ext>
            </a:extLst>
          </p:cNvPr>
          <p:cNvSpPr txBox="1"/>
          <p:nvPr/>
        </p:nvSpPr>
        <p:spPr>
          <a:xfrm>
            <a:off x="1455993" y="6690583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t>节日PPT模板 https://www.ppthub.shop/jieri/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3221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春秋时代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64DF72-61F2-46FF-A13E-63041F0B097E}"/>
              </a:ext>
            </a:extLst>
          </p:cNvPr>
          <p:cNvSpPr txBox="1">
            <a:spLocks/>
          </p:cNvSpPr>
          <p:nvPr/>
        </p:nvSpPr>
        <p:spPr>
          <a:xfrm>
            <a:off x="5051425" y="2096298"/>
            <a:ext cx="5701456" cy="873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据现存文献记载，在二千五百多年前的春秋时代，中国就已经用土圭观测太阳，测定出了冬至。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00F8CC-67BF-4086-8A1C-19B0D1B92C31}"/>
              </a:ext>
            </a:extLst>
          </p:cNvPr>
          <p:cNvSpPr txBox="1">
            <a:spLocks/>
          </p:cNvSpPr>
          <p:nvPr/>
        </p:nvSpPr>
        <p:spPr>
          <a:xfrm>
            <a:off x="5051424" y="3485446"/>
            <a:ext cx="5701456" cy="12023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在二千五百多年前的春秋时代，中国就已经用土圭观测太阳，测定出了冬至。据说，唐宋时期冬至就是祭天祀祖的日子，皇帝要到郊外举行祭天大典，百姓则要向父母尊长祭拜。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AE95B1-9ABE-474E-B7FF-CADAE2E1446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2421" y="2082166"/>
            <a:ext cx="4414764" cy="345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375549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10BE04-D4FC-4D8B-B05D-B4717FD6B503}"/>
              </a:ext>
            </a:extLst>
          </p:cNvPr>
          <p:cNvSpPr txBox="1"/>
          <p:nvPr/>
        </p:nvSpPr>
        <p:spPr>
          <a:xfrm>
            <a:off x="1911239" y="2318086"/>
            <a:ext cx="6037182" cy="253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《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周礼春官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·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神仕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》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载：“以冬日至，致天神人鬼。”目的在于祈求与消除疫疾，减少荒年人们的饥饿与死亡。周历的正月为夏历的十一月，那么周代的正月就相当于现在的阴历十一月，所以拜岁和贺冬并没有区别，直到汉武帝采用夏历后才把正月和冬至分开，因此，可以说过“冬节”是自汉代以后才有，而盛行于唐宋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《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周礼春官</a:t>
            </a:r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·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神仕</a:t>
            </a:r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》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载</a:t>
            </a:r>
            <a:endParaRPr lang="zh-CN" altLang="en-US" sz="3600" dirty="0"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397BC6-4B1E-46FE-9C6B-43185B21E19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0078" y="2255520"/>
            <a:ext cx="2346960" cy="234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30545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10BE04-D4FC-4D8B-B05D-B4717FD6B503}"/>
              </a:ext>
            </a:extLst>
          </p:cNvPr>
          <p:cNvSpPr txBox="1"/>
          <p:nvPr/>
        </p:nvSpPr>
        <p:spPr>
          <a:xfrm>
            <a:off x="1878193" y="1761457"/>
            <a:ext cx="6037182" cy="17040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宋朝以后，冬至逐渐成为祭祀祖先和神灵的节日。明、清两代的冬至日，皇帝要举行祭天大典，谓“冬至郊天”。民间在这一期间同样有祭祖、家庭聚餐等习俗。故而冬至才被称为“小年”。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宋朝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6A3C90-E6D5-4DAC-A92C-00F5DC77CC88}"/>
              </a:ext>
            </a:extLst>
          </p:cNvPr>
          <p:cNvSpPr txBox="1"/>
          <p:nvPr/>
        </p:nvSpPr>
        <p:spPr>
          <a:xfrm>
            <a:off x="1878193" y="3882202"/>
            <a:ext cx="6037182" cy="17040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南宋孟元老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《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东京梦华录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》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所载：“十一月冬至。京师最重此节，虽至贫者，一年之间，积累假借，至此日更易新衣，各办饮食，享祀先祖。官放关扑，庆祝往来，一如年节。”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D9D269-1644-4E22-93F2-F04F9C0D128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1140" y="1515761"/>
            <a:ext cx="4272678" cy="427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5354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“小年”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EC36B1-E551-43AC-8DA7-D27CC2EAD213}"/>
              </a:ext>
            </a:extLst>
          </p:cNvPr>
          <p:cNvSpPr txBox="1"/>
          <p:nvPr/>
        </p:nvSpPr>
        <p:spPr>
          <a:xfrm>
            <a:off x="1911239" y="1663791"/>
            <a:ext cx="6037182" cy="419704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古人认为自冬至起，天地阳气开始兴作渐强，代表下一个循环开始，是大吉之日。因此，后来一般春节期间的祭祖、家庭聚餐等习俗，也往往出现在冬至。冬至又被称为“小年”，一是说明年关将近，余日不多；二是表示冬至的重要性。在现存文字记述中的把冬至作为节日来过最早在汉代。周历的正月为夏历的冬季十一月，因此，周代的正月等于如今的农历十一月，所以说拜岁和贺冬并没有分别；直到汉武帝采用夏历后，才把正月和冬至分开；从现存文献上考究，专门过“冬至节”是自汉代以后才有，盛于唐宋，相沿至今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03D9FB-906A-4771-9BCC-506EF19EC19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5121" y="2275840"/>
            <a:ext cx="3133854" cy="230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15120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0978128-260C-43EF-AE0D-355B618FC1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1"/>
            <a:ext cx="12192000" cy="681125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7ECE048-3D8D-4C90-9C98-E34B770D9F3F}"/>
              </a:ext>
            </a:extLst>
          </p:cNvPr>
          <p:cNvSpPr txBox="1"/>
          <p:nvPr/>
        </p:nvSpPr>
        <p:spPr>
          <a:xfrm>
            <a:off x="3342641" y="3020716"/>
            <a:ext cx="5506718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cs typeface="+mn-ea"/>
                <a:sym typeface="+mn-lt"/>
              </a:rPr>
              <a:t>历史渊源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AA2599-E030-46DF-B26C-DEFA2BC3F2A0}"/>
              </a:ext>
            </a:extLst>
          </p:cNvPr>
          <p:cNvSpPr txBox="1"/>
          <p:nvPr/>
        </p:nvSpPr>
        <p:spPr>
          <a:xfrm>
            <a:off x="2499360" y="4259387"/>
            <a:ext cx="7193280" cy="792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冬至兼具自然与人文两大内涵，既是自然节气点，也是一个传统的祭祀祖先和神灵的节日。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33EFB4-17EF-4099-AF31-0561C08C8C7B}"/>
              </a:ext>
            </a:extLst>
          </p:cNvPr>
          <p:cNvSpPr txBox="1"/>
          <p:nvPr/>
        </p:nvSpPr>
        <p:spPr>
          <a:xfrm>
            <a:off x="5130800" y="2005053"/>
            <a:ext cx="1930400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cs typeface="+mn-ea"/>
                <a:sym typeface="+mn-lt"/>
              </a:rPr>
              <a:t>二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9A11A9F-B35E-4488-8B9E-06EAABB6644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00375" y="0"/>
            <a:ext cx="3869550" cy="28869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27AA14D-0076-4895-8DBA-ACC4C5F5426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0576337" y="5271685"/>
            <a:ext cx="1194952" cy="126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975398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冬至大如年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EC36B1-E551-43AC-8DA7-D27CC2EAD213}"/>
              </a:ext>
            </a:extLst>
          </p:cNvPr>
          <p:cNvSpPr txBox="1"/>
          <p:nvPr/>
        </p:nvSpPr>
        <p:spPr>
          <a:xfrm>
            <a:off x="5051425" y="2107088"/>
            <a:ext cx="5797550" cy="2950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据现存文献上说，人们早在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2500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多年前的春秋时代就开始过冬至了。周秦时代是以冬天十一月为正月。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《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汉书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》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说：“冬至阳气起，君道长，故贺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……”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另外有云：古人认为自冬至起，天地阳气开始兴作渐强，即下一个循环开始了，为“大吉之日”。还有一种说法是，冬至作为节日来源于汉代。冬至为“冬节”，所以被视为大节日，有“冬至大如年”的说法。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134B42-2734-4DE2-AB9B-C78480F7791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3265" y="1480146"/>
            <a:ext cx="4505308" cy="429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417234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习俗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FB499E-E402-4311-B155-7C141F5B6684}"/>
              </a:ext>
            </a:extLst>
          </p:cNvPr>
          <p:cNvSpPr txBox="1"/>
          <p:nvPr/>
        </p:nvSpPr>
        <p:spPr>
          <a:xfrm>
            <a:off x="3753757" y="1019127"/>
            <a:ext cx="6098451" cy="1289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古时有“冬至一阳生”的说法，就是说从冬至这天开始，阳气慢慢开始回升了。就如现代诗所云：冬天到了，春天还会远吗？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F25D2A-EC92-433B-92B3-D46D293E4365}"/>
              </a:ext>
            </a:extLst>
          </p:cNvPr>
          <p:cNvSpPr txBox="1"/>
          <p:nvPr/>
        </p:nvSpPr>
        <p:spPr>
          <a:xfrm>
            <a:off x="3686849" y="2508658"/>
            <a:ext cx="6098451" cy="873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古时漂在外地的人到了这时节都要回家过冬节，所谓“年终有所归宿”。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4BBADC-545F-4537-9767-304ADB15C5BA}"/>
              </a:ext>
            </a:extLst>
          </p:cNvPr>
          <p:cNvSpPr txBox="1"/>
          <p:nvPr/>
        </p:nvSpPr>
        <p:spPr>
          <a:xfrm>
            <a:off x="3686849" y="3582691"/>
            <a:ext cx="3499234" cy="1289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《</a:t>
            </a:r>
            <a:r>
              <a:rPr lang="zh-CN" altLang="en-US" dirty="0">
                <a:cs typeface="+mn-ea"/>
                <a:sym typeface="+mn-lt"/>
              </a:rPr>
              <a:t>后汉书</a:t>
            </a:r>
            <a:r>
              <a:rPr lang="en-US" altLang="zh-CN" dirty="0">
                <a:cs typeface="+mn-ea"/>
                <a:sym typeface="+mn-lt"/>
              </a:rPr>
              <a:t>》</a:t>
            </a:r>
            <a:r>
              <a:rPr lang="zh-CN" altLang="en-US" dirty="0">
                <a:cs typeface="+mn-ea"/>
                <a:sym typeface="+mn-lt"/>
              </a:rPr>
              <a:t>记载：“冬至前后，君子安身静体，百官绝事，不听政，择吉辰而后省事。</a:t>
            </a:r>
            <a:r>
              <a:rPr lang="en-US" altLang="zh-CN" dirty="0">
                <a:cs typeface="+mn-ea"/>
                <a:sym typeface="+mn-lt"/>
              </a:rPr>
              <a:t>”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6B9F2B4-3236-48DE-88CE-96F04A784A9E}"/>
              </a:ext>
            </a:extLst>
          </p:cNvPr>
          <p:cNvSpPr txBox="1"/>
          <p:nvPr/>
        </p:nvSpPr>
        <p:spPr>
          <a:xfrm>
            <a:off x="3686849" y="5072221"/>
            <a:ext cx="3499234" cy="873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>
                <a:cs typeface="+mn-ea"/>
                <a:sym typeface="+mn-lt"/>
              </a:rPr>
              <a:t>在民间，人们则亲朋相互拜访，并以美食相赠。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0B48089-6B68-4E66-A1B6-E89C9513DA0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7570398" y="2386392"/>
            <a:ext cx="2759809" cy="490306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2BF848E-4D7C-4D20-AEE6-363708AD44B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661936" y="1546879"/>
            <a:ext cx="2912990" cy="517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11123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8" grpId="0"/>
      <p:bldP spid="10" grpId="0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冬至还是一个传统的祭祀之日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EC36B1-E551-43AC-8DA7-D27CC2EAD213}"/>
              </a:ext>
            </a:extLst>
          </p:cNvPr>
          <p:cNvSpPr txBox="1"/>
          <p:nvPr/>
        </p:nvSpPr>
        <p:spPr>
          <a:xfrm>
            <a:off x="5051425" y="2400960"/>
            <a:ext cx="5797550" cy="253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还是一个传统的祭祀之日。据说，宋朝以后，冬至逐渐成为祭祀祖先和神灵的节日。唐宋时期冬至就是祭天祀祖的日子，皇帝要到郊外举行祭天大典，百姓则要向父母尊长祭拜。明、清两代的冬至日，皇帝要举行祭天大典，谓“冬至郊天”。民间在这一期间同样有祭祖、家庭聚餐等习俗。故而冬至才被称为“小年”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62EC1B-9157-4868-8A57-5196E71B68D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1754" y="2122715"/>
            <a:ext cx="3091542" cy="309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11316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历史渊源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EC36B1-E551-43AC-8DA7-D27CC2EAD213}"/>
              </a:ext>
            </a:extLst>
          </p:cNvPr>
          <p:cNvSpPr txBox="1"/>
          <p:nvPr/>
        </p:nvSpPr>
        <p:spPr>
          <a:xfrm>
            <a:off x="5051425" y="2313917"/>
            <a:ext cx="5797550" cy="253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把冬至作为节日来过源于汉代，盛于唐宋，相沿至今。周历正月为夏历的十一月，因此，周代正月等于如今公历的十一月，所以拜岁和贺冬并没有分别。直到汉朝汉武帝采用夏历后，把正月和冬至分开。也可以说单纯的过“冬至节”是自汉代以后才有，盛于唐宋，相沿至今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3C4FF24-6DA5-493D-A324-3B5C711B8F6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8048" r="18048"/>
          <a:stretch/>
        </p:blipFill>
        <p:spPr>
          <a:xfrm>
            <a:off x="907689" y="1755816"/>
            <a:ext cx="3884230" cy="314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366393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历史渊源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532623-7600-41DD-A923-6286917A2EA1}"/>
              </a:ext>
            </a:extLst>
          </p:cNvPr>
          <p:cNvSpPr txBox="1"/>
          <p:nvPr/>
        </p:nvSpPr>
        <p:spPr>
          <a:xfrm>
            <a:off x="2995027" y="1862972"/>
            <a:ext cx="8097017" cy="2120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汉代以冬至为“冬节”，官府要举行祝贺仪式称为“贺冬”，官方例行放假，官场流行互贺的“拜冬”礼俗。</a:t>
            </a:r>
            <a:r>
              <a:rPr lang="en-US" altLang="zh-CN" dirty="0">
                <a:cs typeface="+mn-ea"/>
                <a:sym typeface="+mn-lt"/>
              </a:rPr>
              <a:t>《</a:t>
            </a:r>
            <a:r>
              <a:rPr lang="zh-CN" altLang="en-US" dirty="0">
                <a:cs typeface="+mn-ea"/>
                <a:sym typeface="+mn-lt"/>
              </a:rPr>
              <a:t>后汉书</a:t>
            </a:r>
            <a:r>
              <a:rPr lang="en-US" altLang="zh-CN" dirty="0">
                <a:cs typeface="+mn-ea"/>
                <a:sym typeface="+mn-lt"/>
              </a:rPr>
              <a:t>》</a:t>
            </a:r>
            <a:r>
              <a:rPr lang="zh-CN" altLang="en-US" dirty="0">
                <a:cs typeface="+mn-ea"/>
                <a:sym typeface="+mn-lt"/>
              </a:rPr>
              <a:t>中有这样的记载：“冬至前后，君子安身静体，百官绝事，不听政，择吉辰而后省事。”所以这天朝廷上下要放假休息，军队待命，边塞闭关，商旅停业，亲朋各以美食相赠，相互拜访，欢乐地过一个“安身静体”的节日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859BAB-E668-4B15-BA45-FD623D129946}"/>
              </a:ext>
            </a:extLst>
          </p:cNvPr>
          <p:cNvSpPr txBox="1"/>
          <p:nvPr/>
        </p:nvSpPr>
        <p:spPr>
          <a:xfrm>
            <a:off x="2995027" y="4311620"/>
            <a:ext cx="8097017" cy="458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cs typeface="+mn-ea"/>
                <a:sym typeface="+mn-lt"/>
              </a:rPr>
              <a:t>魏晋六朝时，冬至称为“亚岁”，民众要向父母长辈拜节。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B6B8EF-E8B2-4CAF-BEB4-2E78F4C2FBA8}"/>
              </a:ext>
            </a:extLst>
          </p:cNvPr>
          <p:cNvSpPr txBox="1"/>
          <p:nvPr/>
        </p:nvSpPr>
        <p:spPr>
          <a:xfrm>
            <a:off x="2995027" y="5098275"/>
            <a:ext cx="8097017" cy="458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cs typeface="+mn-ea"/>
                <a:sym typeface="+mn-lt"/>
              </a:rPr>
              <a:t>宋朝以后，冬至逐渐成为祭祀祖先和神灵的节庆活动。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5C85646-9FE8-40DE-AA65-93A1607D2C81}"/>
              </a:ext>
            </a:extLst>
          </p:cNvPr>
          <p:cNvPicPr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557" y="2072172"/>
            <a:ext cx="2316486" cy="356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867522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8" grpId="0"/>
      <p:bldP spid="10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0978128-260C-43EF-AE0D-355B618FC1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1"/>
            <a:ext cx="12192000" cy="681125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7ECE048-3D8D-4C90-9C98-E34B770D9F3F}"/>
              </a:ext>
            </a:extLst>
          </p:cNvPr>
          <p:cNvSpPr txBox="1"/>
          <p:nvPr/>
        </p:nvSpPr>
        <p:spPr>
          <a:xfrm>
            <a:off x="3342641" y="3020716"/>
            <a:ext cx="5506718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cs typeface="+mn-ea"/>
                <a:sym typeface="+mn-lt"/>
              </a:rPr>
              <a:t>民俗活动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AA2599-E030-46DF-B26C-DEFA2BC3F2A0}"/>
              </a:ext>
            </a:extLst>
          </p:cNvPr>
          <p:cNvSpPr txBox="1"/>
          <p:nvPr/>
        </p:nvSpPr>
        <p:spPr>
          <a:xfrm>
            <a:off x="1103453" y="4259387"/>
            <a:ext cx="9985094" cy="792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冬至节亦称冬节、交冬。它既是二十四节气之一，是中国的一个传统节日，曾有“冬至大如年”的说法，宫廷和民间历来十分重视，从周代起就有祭祀活动。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33EFB4-17EF-4099-AF31-0561C08C8C7B}"/>
              </a:ext>
            </a:extLst>
          </p:cNvPr>
          <p:cNvSpPr txBox="1"/>
          <p:nvPr/>
        </p:nvSpPr>
        <p:spPr>
          <a:xfrm>
            <a:off x="5130800" y="2005053"/>
            <a:ext cx="1930400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cs typeface="+mn-ea"/>
                <a:sym typeface="+mn-lt"/>
              </a:rPr>
              <a:t>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9A11A9F-B35E-4488-8B9E-06EAABB6644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00375" y="0"/>
            <a:ext cx="3869550" cy="28869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27AA14D-0076-4895-8DBA-ACC4C5F5426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0576337" y="5271685"/>
            <a:ext cx="1194952" cy="126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98931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062163" algn="l"/>
              </a:tabLst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冬至习俗</a:t>
            </a:r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祭天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EC36B1-E551-43AC-8DA7-D27CC2EAD213}"/>
              </a:ext>
            </a:extLst>
          </p:cNvPr>
          <p:cNvSpPr txBox="1"/>
          <p:nvPr/>
        </p:nvSpPr>
        <p:spPr>
          <a:xfrm>
            <a:off x="1955800" y="2106946"/>
            <a:ext cx="5797550" cy="33660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历代统治者都要于冬至日祭天。“祭天”即是古代的“郊祀”礼，是历代帝王禳灾祈福，在冬至日必须举行的一种仪式。</a:t>
            </a:r>
          </a:p>
          <a:p>
            <a:pPr algn="just" hangingPunct="0"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just" hangingPunct="0">
              <a:lnSpc>
                <a:spcPct val="150000"/>
              </a:lnSpc>
              <a:tabLst>
                <a:tab pos="3230563" algn="l"/>
              </a:tabLst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北宋时祭天多在京城的南郊举行，明清时则在北京天坛的圆丘。圆丘在古代即是高出地面的圆土丘，它像征着天圆，故用来祭天的前一天晚上，皇帝要斋戒沐浴，住在斋宫，冬至日举行祭天大典。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A2DA29-A54B-4FAF-9CFB-EC1CDC51A3E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0370" y="1913425"/>
            <a:ext cx="3673447" cy="333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854752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062163" algn="l"/>
              </a:tabLst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冬至习俗</a:t>
            </a:r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--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祭祖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EC36B1-E551-43AC-8DA7-D27CC2EAD213}"/>
              </a:ext>
            </a:extLst>
          </p:cNvPr>
          <p:cNvSpPr txBox="1"/>
          <p:nvPr/>
        </p:nvSpPr>
        <p:spPr>
          <a:xfrm>
            <a:off x="1955800" y="2134009"/>
            <a:ext cx="5797550" cy="253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民间，有于冬至日祭祖的习俗。冬至祭祖之礼与元旦祭祖相同。在祭祖的同时，人们还要向父母长辈拜节。古时流传有向老人敬献鞋袜的习俗，此习俗现代仍然十分流行。闽台有俗谚“冬至大过年，唔（“不”的意思）返无祖宗”，所有外出谋生的人都要在冬至节时赶回家乡过年，表示年终有归宿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D2F6FE-C7AB-46D6-9D82-1CD835278C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7511" y="1276723"/>
            <a:ext cx="3726750" cy="378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29080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062163" algn="l"/>
              </a:tabLst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冬至习俗</a:t>
            </a:r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数九九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EC36B1-E551-43AC-8DA7-D27CC2EAD213}"/>
              </a:ext>
            </a:extLst>
          </p:cNvPr>
          <p:cNvSpPr txBox="1"/>
          <p:nvPr/>
        </p:nvSpPr>
        <p:spPr>
          <a:xfrm>
            <a:off x="1955799" y="1909360"/>
            <a:ext cx="8893175" cy="37815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民间把冬至义称为作“交九”或“数九”，即从冬至这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—·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大起，每隔九天作为一个“九”，共分成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9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个“九”，共九九八十一天，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8l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天之后便进入春天。冬至之后数九九在全国各地都十分流行，各地的人们根据各地不同的气候条件、景物特征、农事物候及风俗习惯，编排出了各种数九九的谚语和顺口溜。这些谚语和顺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溜在许多古籍：卜部多有记载。其中最有代表性的是下面这首顺口溜：一九二九不出乎，三九四九冰上走，五九六九沿河看柳，七九河开，八九雁来，九九加一九，耕牛遍地走。</a:t>
            </a:r>
          </a:p>
          <a:p>
            <a:pPr algn="just" hangingPunct="0"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数九九的谚语和顺口溜不仅仅是人们多年来对气候的经验总结，也是人们在严冬时节对春天的一种企盼。</a:t>
            </a:r>
          </a:p>
        </p:txBody>
      </p:sp>
    </p:spTree>
    <p:extLst>
      <p:ext uri="{BB962C8B-B14F-4D97-AF65-F5344CB8AC3E}">
        <p14:creationId xmlns:p14="http://schemas.microsoft.com/office/powerpoint/2010/main" val="2434545454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062163" algn="l"/>
              </a:tabLst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EC36B1-E551-43AC-8DA7-D27CC2EAD213}"/>
              </a:ext>
            </a:extLst>
          </p:cNvPr>
          <p:cNvSpPr txBox="1"/>
          <p:nvPr/>
        </p:nvSpPr>
        <p:spPr>
          <a:xfrm>
            <a:off x="1955799" y="1663791"/>
            <a:ext cx="8893175" cy="419704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古人认为冬至是阴阳二气的自然转换，是上天所赐的福气。汉朝把冬至作为“冬节”，官府要举行庆贺仪式，称为“贺冬”，依例放假。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《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后汉书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》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记载：“冬至前后，君子安身静体，百官绝事，不听政，择吉辰而后省事。”因此这天朝廷上下放假休息，军队听命，边塞关闭，商旅停业，亲朋皆以美食相送，互相拜访，愉悦地过一个“安身静体”的节日。</a:t>
            </a:r>
          </a:p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及至唐宋，与岁首同等重要。在南宋孟元老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《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东京梦华录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》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中说：“十一月冬至。京师最重此节，虽至贫者，一年之间，积累假借，至此日更易新衣，备办饮食，享祀先祖。官放关扑，庆祝往来，一如年节。”</a:t>
            </a:r>
          </a:p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明、清两代皇帝均有祭天大典，谓之“冬至郊天”。百官须向皇帝呈递贺表的礼仪，且还要互相投刺庆贺，仿若元旦一般。</a:t>
            </a:r>
          </a:p>
        </p:txBody>
      </p:sp>
    </p:spTree>
    <p:extLst>
      <p:ext uri="{BB962C8B-B14F-4D97-AF65-F5344CB8AC3E}">
        <p14:creationId xmlns:p14="http://schemas.microsoft.com/office/powerpoint/2010/main" val="893178613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0978128-260C-43EF-AE0D-355B618FC1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1"/>
            <a:ext cx="12192000" cy="681125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7ECE048-3D8D-4C90-9C98-E34B770D9F3F}"/>
              </a:ext>
            </a:extLst>
          </p:cNvPr>
          <p:cNvSpPr txBox="1"/>
          <p:nvPr/>
        </p:nvSpPr>
        <p:spPr>
          <a:xfrm>
            <a:off x="3342641" y="3020716"/>
            <a:ext cx="5506718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cs typeface="+mn-ea"/>
                <a:sym typeface="+mn-lt"/>
              </a:rPr>
              <a:t>传统饮食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AA2599-E030-46DF-B26C-DEFA2BC3F2A0}"/>
              </a:ext>
            </a:extLst>
          </p:cNvPr>
          <p:cNvSpPr txBox="1"/>
          <p:nvPr/>
        </p:nvSpPr>
        <p:spPr>
          <a:xfrm>
            <a:off x="2499360" y="4259387"/>
            <a:ext cx="7193280" cy="792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冬至是养生的大好时机，主要是因为“气始于冬至”。此时科学养生有助于保证旺盛的精力而防早衰，达到延年益寿的目的。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33EFB4-17EF-4099-AF31-0561C08C8C7B}"/>
              </a:ext>
            </a:extLst>
          </p:cNvPr>
          <p:cNvSpPr txBox="1"/>
          <p:nvPr/>
        </p:nvSpPr>
        <p:spPr>
          <a:xfrm>
            <a:off x="5130800" y="2005053"/>
            <a:ext cx="1930400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cs typeface="+mn-ea"/>
                <a:sym typeface="+mn-lt"/>
              </a:rPr>
              <a:t>四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9A11A9F-B35E-4488-8B9E-06EAABB6644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00375" y="0"/>
            <a:ext cx="3869550" cy="28869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27AA14D-0076-4895-8DBA-ACC4C5F5426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0576337" y="5271685"/>
            <a:ext cx="1194952" cy="126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130377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062163" algn="l"/>
              </a:tabLst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传统饮食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AC50F0-111B-4F59-8853-030BD16E9A03}"/>
              </a:ext>
            </a:extLst>
          </p:cNvPr>
          <p:cNvSpPr txBox="1"/>
          <p:nvPr/>
        </p:nvSpPr>
        <p:spPr>
          <a:xfrm>
            <a:off x="5051424" y="1823092"/>
            <a:ext cx="3524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cs typeface="+mn-ea"/>
                <a:sym typeface="+mn-lt"/>
              </a:rPr>
              <a:t>北方普遍吃水饺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2EE3037-0F74-48A5-8BA4-36CCD58FEBD3}"/>
              </a:ext>
            </a:extLst>
          </p:cNvPr>
          <p:cNvSpPr txBox="1"/>
          <p:nvPr/>
        </p:nvSpPr>
        <p:spPr>
          <a:xfrm>
            <a:off x="5051425" y="2284757"/>
            <a:ext cx="5875383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每年农历冬至这天，不论贫富，饺子是必不可少的节日饭。谚云：“十月一，冬至到，家家户户吃水饺。”这种习俗，是因纪念“医圣”张仲景冬至舍药留下的。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C053FBF-DB79-4786-8A0C-C59355927CF1}"/>
              </a:ext>
            </a:extLst>
          </p:cNvPr>
          <p:cNvSpPr txBox="1"/>
          <p:nvPr/>
        </p:nvSpPr>
        <p:spPr>
          <a:xfrm>
            <a:off x="5051425" y="3672204"/>
            <a:ext cx="2139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cs typeface="+mn-ea"/>
                <a:sym typeface="+mn-lt"/>
              </a:rPr>
              <a:t>江南米饭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FC1B30-0B17-457D-8B6E-741B6BF1024C}"/>
              </a:ext>
            </a:extLst>
          </p:cNvPr>
          <p:cNvSpPr txBox="1"/>
          <p:nvPr/>
        </p:nvSpPr>
        <p:spPr>
          <a:xfrm>
            <a:off x="5051425" y="4133869"/>
            <a:ext cx="5875383" cy="1346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在江南水乡，有冬至之夜全家欢聚一堂共吃赤豆糯米饭的习俗。相传，共工氏有不才子，作恶多端，死于冬至这一天，死后变成疫鬼，继续残害百姓。但是，这个疫鬼最怕赤豆，于是，人们就在冬至这一天煮吃赤豆饭，用以驱避疫鬼，防灾祛病。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25D1B72-2162-4738-A5A9-1467C24BAC8C}"/>
              </a:ext>
            </a:extLst>
          </p:cNvPr>
          <p:cNvPicPr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8384" y="1504533"/>
            <a:ext cx="2306030" cy="230603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2C9687B7-887C-4C30-B175-CCA9B1550021}"/>
              </a:ext>
            </a:extLst>
          </p:cNvPr>
          <p:cNvPicPr>
            <a:picLocks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97213" y="3218609"/>
            <a:ext cx="2306030" cy="230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54719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19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21A34D44-BEF4-48E8-A9F5-7FF94D7224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9" name="八边形 8">
            <a:extLst>
              <a:ext uri="{FF2B5EF4-FFF2-40B4-BE49-F238E27FC236}">
                <a16:creationId xmlns:a16="http://schemas.microsoft.com/office/drawing/2014/main" id="{810DE3C7-7ED7-4A68-BFBA-E48FD3A800E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3898617-AF13-45DB-BCAC-021D8C79E30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62A81A3-CEFC-44FA-A6F3-140C723A6CE9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062163" algn="l"/>
              </a:tabLst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传统饮食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A3491C-6D2F-4DE2-851A-98AFBE035279}"/>
              </a:ext>
            </a:extLst>
          </p:cNvPr>
          <p:cNvSpPr txBox="1"/>
          <p:nvPr/>
        </p:nvSpPr>
        <p:spPr>
          <a:xfrm>
            <a:off x="4953454" y="1663791"/>
            <a:ext cx="3004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cs typeface="+mn-ea"/>
                <a:sym typeface="+mn-lt"/>
              </a:rPr>
              <a:t>山东滕州羊肉汤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1DC523-67B8-45EA-A169-60045A55D752}"/>
              </a:ext>
            </a:extLst>
          </p:cNvPr>
          <p:cNvSpPr txBox="1"/>
          <p:nvPr/>
        </p:nvSpPr>
        <p:spPr>
          <a:xfrm>
            <a:off x="4953454" y="2257244"/>
            <a:ext cx="5797550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冬至吃羊肉的习俗据说是从汉代开始的。相传，汉高祖刘邦在冬至这一天吃了樊哙煮的羊肉，觉得味道特别鲜美，赞不绝口。从此在民间形成了冬至吃羊肉的习俗。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052937-3A2C-4CEC-BA9E-ED0702B2119C}"/>
              </a:ext>
            </a:extLst>
          </p:cNvPr>
          <p:cNvSpPr txBox="1"/>
          <p:nvPr/>
        </p:nvSpPr>
        <p:spPr>
          <a:xfrm>
            <a:off x="4953454" y="3567929"/>
            <a:ext cx="259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cs typeface="+mn-ea"/>
                <a:sym typeface="+mn-lt"/>
              </a:rPr>
              <a:t>宁波番薯汤果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08B1BA-A80A-4B89-B268-CD570F1C11F4}"/>
              </a:ext>
            </a:extLst>
          </p:cNvPr>
          <p:cNvSpPr txBox="1"/>
          <p:nvPr/>
        </p:nvSpPr>
        <p:spPr>
          <a:xfrm>
            <a:off x="4953454" y="4161382"/>
            <a:ext cx="5797550" cy="1346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“番”和“翻”同音，在宁波人的理解中，冬至吃番薯，就是将过去一年的霉运全部“翻”过去。汤果，跟汤团类似，但个头要小得多，而且里面没有馅。汤果也被叫做圆子，取其“团圆”、“圆满”之意。老宁波也有“吃了汤果大一岁”的说法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F540158-7E9F-4FAD-B780-96B4EA3A4E28}"/>
              </a:ext>
            </a:extLst>
          </p:cNvPr>
          <p:cNvPicPr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98886" y="1663791"/>
            <a:ext cx="1961754" cy="1961752"/>
          </a:xfrm>
          <a:custGeom>
            <a:avLst/>
            <a:gdLst>
              <a:gd name="connsiteX0" fmla="*/ 542197 w 1084394"/>
              <a:gd name="connsiteY0" fmla="*/ 0 h 1084394"/>
              <a:gd name="connsiteX1" fmla="*/ 1084394 w 1084394"/>
              <a:gd name="connsiteY1" fmla="*/ 542197 h 1084394"/>
              <a:gd name="connsiteX2" fmla="*/ 542197 w 1084394"/>
              <a:gd name="connsiteY2" fmla="*/ 1084394 h 1084394"/>
              <a:gd name="connsiteX3" fmla="*/ 0 w 1084394"/>
              <a:gd name="connsiteY3" fmla="*/ 542197 h 1084394"/>
              <a:gd name="connsiteX4" fmla="*/ 542197 w 1084394"/>
              <a:gd name="connsiteY4" fmla="*/ 0 h 1084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394" h="1084394">
                <a:moveTo>
                  <a:pt x="542197" y="0"/>
                </a:moveTo>
                <a:cubicBezTo>
                  <a:pt x="841644" y="0"/>
                  <a:pt x="1084394" y="242750"/>
                  <a:pt x="1084394" y="542197"/>
                </a:cubicBezTo>
                <a:cubicBezTo>
                  <a:pt x="1084394" y="841644"/>
                  <a:pt x="841644" y="1084394"/>
                  <a:pt x="542197" y="1084394"/>
                </a:cubicBezTo>
                <a:cubicBezTo>
                  <a:pt x="242750" y="1084394"/>
                  <a:pt x="0" y="841644"/>
                  <a:pt x="0" y="542197"/>
                </a:cubicBezTo>
                <a:cubicBezTo>
                  <a:pt x="0" y="242750"/>
                  <a:pt x="242750" y="0"/>
                  <a:pt x="542197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5FFCE4A-440A-45E9-A28F-9247C0ECB2D4}"/>
              </a:ext>
            </a:extLst>
          </p:cNvPr>
          <p:cNvPicPr>
            <a:picLocks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98886" y="3805910"/>
            <a:ext cx="1961754" cy="1961752"/>
          </a:xfrm>
          <a:custGeom>
            <a:avLst/>
            <a:gdLst>
              <a:gd name="connsiteX0" fmla="*/ 681078 w 1362156"/>
              <a:gd name="connsiteY0" fmla="*/ 0 h 1362155"/>
              <a:gd name="connsiteX1" fmla="*/ 1362156 w 1362156"/>
              <a:gd name="connsiteY1" fmla="*/ 681078 h 1362155"/>
              <a:gd name="connsiteX2" fmla="*/ 818339 w 1362156"/>
              <a:gd name="connsiteY2" fmla="*/ 1348319 h 1362155"/>
              <a:gd name="connsiteX3" fmla="*/ 681088 w 1362156"/>
              <a:gd name="connsiteY3" fmla="*/ 1362155 h 1362155"/>
              <a:gd name="connsiteX4" fmla="*/ 681068 w 1362156"/>
              <a:gd name="connsiteY4" fmla="*/ 1362155 h 1362155"/>
              <a:gd name="connsiteX5" fmla="*/ 543817 w 1362156"/>
              <a:gd name="connsiteY5" fmla="*/ 1348319 h 1362155"/>
              <a:gd name="connsiteX6" fmla="*/ 0 w 1362156"/>
              <a:gd name="connsiteY6" fmla="*/ 681078 h 1362155"/>
              <a:gd name="connsiteX7" fmla="*/ 681078 w 1362156"/>
              <a:gd name="connsiteY7" fmla="*/ 0 h 1362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2156" h="1362155">
                <a:moveTo>
                  <a:pt x="681078" y="0"/>
                </a:moveTo>
                <a:cubicBezTo>
                  <a:pt x="1057227" y="0"/>
                  <a:pt x="1362156" y="304929"/>
                  <a:pt x="1362156" y="681078"/>
                </a:cubicBezTo>
                <a:cubicBezTo>
                  <a:pt x="1362156" y="1010209"/>
                  <a:pt x="1128695" y="1284811"/>
                  <a:pt x="818339" y="1348319"/>
                </a:cubicBezTo>
                <a:lnTo>
                  <a:pt x="681088" y="1362155"/>
                </a:lnTo>
                <a:lnTo>
                  <a:pt x="681068" y="1362155"/>
                </a:lnTo>
                <a:lnTo>
                  <a:pt x="543817" y="1348319"/>
                </a:lnTo>
                <a:cubicBezTo>
                  <a:pt x="233461" y="1284811"/>
                  <a:pt x="0" y="1010209"/>
                  <a:pt x="0" y="681078"/>
                </a:cubicBezTo>
                <a:cubicBezTo>
                  <a:pt x="0" y="304929"/>
                  <a:pt x="304929" y="0"/>
                  <a:pt x="681078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2772660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4" grpId="0"/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B3BD999-73AD-45D0-A9CF-4EC2E6C26C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D4A9DC7-A108-43D4-80AE-C8D3421AAB25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6E2D0AC-889B-43F6-B597-A7B619854EA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A48C9FA-9EEC-45B2-B515-D32C5334D31E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062163" algn="l"/>
              </a:tabLst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传统饮食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736DB5-956E-48C1-9A62-BEC7C50877E3}"/>
              </a:ext>
            </a:extLst>
          </p:cNvPr>
          <p:cNvSpPr txBox="1"/>
          <p:nvPr/>
        </p:nvSpPr>
        <p:spPr>
          <a:xfrm>
            <a:off x="5051424" y="1432958"/>
            <a:ext cx="3328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cs typeface="+mn-ea"/>
                <a:sym typeface="+mn-lt"/>
              </a:rPr>
              <a:t>台湾糯糕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BC42077-FC4B-4D10-8493-7DE0E93142EE}"/>
              </a:ext>
            </a:extLst>
          </p:cNvPr>
          <p:cNvSpPr txBox="1"/>
          <p:nvPr/>
        </p:nvSpPr>
        <p:spPr>
          <a:xfrm>
            <a:off x="5051425" y="1973445"/>
            <a:ext cx="5797550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cs typeface="+mn-ea"/>
                <a:sym typeface="+mn-lt"/>
              </a:rPr>
              <a:t>在我国台湾还保存着冬至用九层糕祭祖的传统，用糯米粉捏成鸡、鸭、龟、猪、牛、羊等象征吉祥中意福禄寿的动物，然后用蒸笼分层蒸成，用以祭祖，以示不忘老祖宗。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23ECCF-9E90-458D-B9B5-7AF0DE5EE814}"/>
              </a:ext>
            </a:extLst>
          </p:cNvPr>
          <p:cNvSpPr txBox="1"/>
          <p:nvPr/>
        </p:nvSpPr>
        <p:spPr>
          <a:xfrm>
            <a:off x="5064088" y="3582148"/>
            <a:ext cx="3003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cs typeface="+mn-ea"/>
                <a:sym typeface="+mn-lt"/>
              </a:rPr>
              <a:t>江苏苏州酿酒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26B78E-7003-4F42-BB3C-9B9B19FEB5EC}"/>
              </a:ext>
            </a:extLst>
          </p:cNvPr>
          <p:cNvSpPr txBox="1"/>
          <p:nvPr/>
        </p:nvSpPr>
        <p:spPr>
          <a:xfrm>
            <a:off x="5064088" y="4122635"/>
            <a:ext cx="5797550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姑苏地区对冬至这一节气非常重视，姑苏地区有俗语云：“冬至如大年”。传统的姑苏人家，会在冬至夜喝冬酿酒，冬酿酒是一种米酒，加入桂花酿造，香气宜人。姑苏百姓在冬至夜畅饮冬酿酒的同时，还会配以卤牛肉、卤羊肉等各式各样的卤菜。在寒冷的冬天，冬酿酒不仅能够驱寒，更是寄托了姑苏人对生活的一种美好的祈愿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B7F281C-7460-4C1B-818D-5B88F3897E62}"/>
              </a:ext>
            </a:extLst>
          </p:cNvPr>
          <p:cNvPicPr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15765" y="1651371"/>
            <a:ext cx="1814144" cy="1814142"/>
          </a:xfrm>
          <a:custGeom>
            <a:avLst/>
            <a:gdLst>
              <a:gd name="connsiteX0" fmla="*/ 488790 w 977580"/>
              <a:gd name="connsiteY0" fmla="*/ 0 h 977580"/>
              <a:gd name="connsiteX1" fmla="*/ 977580 w 977580"/>
              <a:gd name="connsiteY1" fmla="*/ 488790 h 977580"/>
              <a:gd name="connsiteX2" fmla="*/ 488790 w 977580"/>
              <a:gd name="connsiteY2" fmla="*/ 977580 h 977580"/>
              <a:gd name="connsiteX3" fmla="*/ 0 w 977580"/>
              <a:gd name="connsiteY3" fmla="*/ 488790 h 977580"/>
              <a:gd name="connsiteX4" fmla="*/ 488790 w 977580"/>
              <a:gd name="connsiteY4" fmla="*/ 0 h 97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7580" h="977580">
                <a:moveTo>
                  <a:pt x="488790" y="0"/>
                </a:moveTo>
                <a:cubicBezTo>
                  <a:pt x="758741" y="0"/>
                  <a:pt x="977580" y="218839"/>
                  <a:pt x="977580" y="488790"/>
                </a:cubicBezTo>
                <a:cubicBezTo>
                  <a:pt x="977580" y="758741"/>
                  <a:pt x="758741" y="977580"/>
                  <a:pt x="488790" y="977580"/>
                </a:cubicBezTo>
                <a:cubicBezTo>
                  <a:pt x="218839" y="977580"/>
                  <a:pt x="0" y="758741"/>
                  <a:pt x="0" y="488790"/>
                </a:cubicBezTo>
                <a:cubicBezTo>
                  <a:pt x="0" y="218839"/>
                  <a:pt x="218839" y="0"/>
                  <a:pt x="488790" y="0"/>
                </a:cubicBezTo>
                <a:close/>
              </a:path>
            </a:pathLst>
          </a:cu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3F43CC3-2FF7-428C-BDBA-005E682477ED}"/>
              </a:ext>
            </a:extLst>
          </p:cNvPr>
          <p:cNvPicPr>
            <a:picLocks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57677" y="3718932"/>
            <a:ext cx="1814144" cy="1814142"/>
          </a:xfrm>
          <a:custGeom>
            <a:avLst/>
            <a:gdLst>
              <a:gd name="connsiteX0" fmla="*/ 921524 w 1843048"/>
              <a:gd name="connsiteY0" fmla="*/ 0 h 1843048"/>
              <a:gd name="connsiteX1" fmla="*/ 1843048 w 1843048"/>
              <a:gd name="connsiteY1" fmla="*/ 921524 h 1843048"/>
              <a:gd name="connsiteX2" fmla="*/ 921524 w 1843048"/>
              <a:gd name="connsiteY2" fmla="*/ 1843048 h 1843048"/>
              <a:gd name="connsiteX3" fmla="*/ 0 w 1843048"/>
              <a:gd name="connsiteY3" fmla="*/ 921524 h 1843048"/>
              <a:gd name="connsiteX4" fmla="*/ 921524 w 1843048"/>
              <a:gd name="connsiteY4" fmla="*/ 0 h 1843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3048" h="1843048">
                <a:moveTo>
                  <a:pt x="921524" y="0"/>
                </a:moveTo>
                <a:cubicBezTo>
                  <a:pt x="1430468" y="0"/>
                  <a:pt x="1843048" y="412580"/>
                  <a:pt x="1843048" y="921524"/>
                </a:cubicBezTo>
                <a:cubicBezTo>
                  <a:pt x="1843048" y="1430468"/>
                  <a:pt x="1430468" y="1843048"/>
                  <a:pt x="921524" y="1843048"/>
                </a:cubicBezTo>
                <a:cubicBezTo>
                  <a:pt x="412580" y="1843048"/>
                  <a:pt x="0" y="1430468"/>
                  <a:pt x="0" y="921524"/>
                </a:cubicBezTo>
                <a:cubicBezTo>
                  <a:pt x="0" y="412580"/>
                  <a:pt x="412580" y="0"/>
                  <a:pt x="92152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50716839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B3BD999-73AD-45D0-A9CF-4EC2E6C26C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D4A9DC7-A108-43D4-80AE-C8D3421AAB25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6E2D0AC-889B-43F6-B597-A7B619854EA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A48C9FA-9EEC-45B2-B515-D32C5334D31E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062163" algn="l"/>
              </a:tabLst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传统饮食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40CB54-CE7D-4348-8A75-F460B291EA46}"/>
              </a:ext>
            </a:extLst>
          </p:cNvPr>
          <p:cNvSpPr txBox="1"/>
          <p:nvPr/>
        </p:nvSpPr>
        <p:spPr>
          <a:xfrm>
            <a:off x="4997581" y="1432958"/>
            <a:ext cx="3112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cs typeface="+mn-ea"/>
                <a:sym typeface="+mn-lt"/>
              </a:rPr>
              <a:t>浙江台州擂圆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15AD8D1-C65E-4396-8317-1969814D60F2}"/>
              </a:ext>
            </a:extLst>
          </p:cNvPr>
          <p:cNvSpPr txBox="1"/>
          <p:nvPr/>
        </p:nvSpPr>
        <p:spPr>
          <a:xfrm>
            <a:off x="4997582" y="1973445"/>
            <a:ext cx="5797550" cy="1346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浙江台州人好美食，冬至是一年中重要节气，在这一天要做些特色菜肴和食物，首先要祭奠祖先，祈祷祖先保佑全家人来年一切平安如意。然后全家人欢乐地聚在一起喝酒吃菜。其中吃“冬至圆”（擂圆，又叫硬擂圆、翻糙圆）是台州的老传统，擂圆取圆圆润润、团圆之意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A5057E4-3507-4588-B188-3AB7027D9257}"/>
              </a:ext>
            </a:extLst>
          </p:cNvPr>
          <p:cNvSpPr txBox="1"/>
          <p:nvPr/>
        </p:nvSpPr>
        <p:spPr>
          <a:xfrm>
            <a:off x="4997581" y="4044070"/>
            <a:ext cx="4281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cs typeface="+mn-ea"/>
                <a:sym typeface="+mn-lt"/>
              </a:rPr>
              <a:t>潮汕、闽南地区的汤圆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EBB205-C6AF-41A5-9AC9-D7F9D31F47BC}"/>
              </a:ext>
            </a:extLst>
          </p:cNvPr>
          <p:cNvSpPr txBox="1"/>
          <p:nvPr/>
        </p:nvSpPr>
        <p:spPr>
          <a:xfrm>
            <a:off x="4997582" y="4584557"/>
            <a:ext cx="5797550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cs typeface="+mn-ea"/>
                <a:sym typeface="+mn-lt"/>
              </a:rPr>
              <a:t>潮汕地区汉族民谚云：“冬节大如年”、“冬节没返没祖宗”。意思是外出的人，到冬至这一天无论如何要赶回家敬拜祖宗，否则就是没有祖家观念。海峡两岸的同胞，都很看重冬至，把冬至当作团圆节。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F0E721D-222B-4A8C-8C7A-077CB9B89984}"/>
              </a:ext>
            </a:extLst>
          </p:cNvPr>
          <p:cNvPicPr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73721" y="1725721"/>
            <a:ext cx="1900044" cy="1900040"/>
          </a:xfrm>
          <a:custGeom>
            <a:avLst/>
            <a:gdLst>
              <a:gd name="connsiteX0" fmla="*/ 780241 w 1560482"/>
              <a:gd name="connsiteY0" fmla="*/ 0 h 1560482"/>
              <a:gd name="connsiteX1" fmla="*/ 1560482 w 1560482"/>
              <a:gd name="connsiteY1" fmla="*/ 780241 h 1560482"/>
              <a:gd name="connsiteX2" fmla="*/ 780241 w 1560482"/>
              <a:gd name="connsiteY2" fmla="*/ 1560482 h 1560482"/>
              <a:gd name="connsiteX3" fmla="*/ 0 w 1560482"/>
              <a:gd name="connsiteY3" fmla="*/ 780241 h 1560482"/>
              <a:gd name="connsiteX4" fmla="*/ 780241 w 1560482"/>
              <a:gd name="connsiteY4" fmla="*/ 0 h 1560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0482" h="1560482">
                <a:moveTo>
                  <a:pt x="780241" y="0"/>
                </a:moveTo>
                <a:cubicBezTo>
                  <a:pt x="1211156" y="0"/>
                  <a:pt x="1560482" y="349326"/>
                  <a:pt x="1560482" y="780241"/>
                </a:cubicBezTo>
                <a:cubicBezTo>
                  <a:pt x="1560482" y="1211156"/>
                  <a:pt x="1211156" y="1560482"/>
                  <a:pt x="780241" y="1560482"/>
                </a:cubicBezTo>
                <a:cubicBezTo>
                  <a:pt x="349326" y="1560482"/>
                  <a:pt x="0" y="1211156"/>
                  <a:pt x="0" y="780241"/>
                </a:cubicBezTo>
                <a:cubicBezTo>
                  <a:pt x="0" y="349326"/>
                  <a:pt x="349326" y="0"/>
                  <a:pt x="780241" y="0"/>
                </a:cubicBezTo>
                <a:close/>
              </a:path>
            </a:pathLst>
          </a:cu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1509ACB-CD53-4675-9AAA-89BCDDA070E8}"/>
              </a:ext>
            </a:extLst>
          </p:cNvPr>
          <p:cNvPicPr>
            <a:picLocks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483" y="3780662"/>
            <a:ext cx="2296520" cy="229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33111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12" grpId="0"/>
      <p:bldP spid="13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图片 2">
            <a:extLst>
              <a:ext uri="{FF2B5EF4-FFF2-40B4-BE49-F238E27FC236}">
                <a16:creationId xmlns:a16="http://schemas.microsoft.com/office/drawing/2014/main" id="{9B2D125E-5C79-1CBE-443E-9BB1ABA2B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3" y="0"/>
            <a:ext cx="12277259" cy="6858000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8A77B51F-CD29-E624-ED75-A04D5DE79E98}"/>
              </a:ext>
            </a:extLst>
          </p:cNvPr>
          <p:cNvGrpSpPr/>
          <p:nvPr/>
        </p:nvGrpSpPr>
        <p:grpSpPr>
          <a:xfrm>
            <a:off x="136796" y="130153"/>
            <a:ext cx="1468671" cy="711479"/>
            <a:chOff x="-3380888" y="4559088"/>
            <a:chExt cx="2628479" cy="1741900"/>
          </a:xfrm>
        </p:grpSpPr>
        <p:sp>
          <p:nvSpPr>
            <p:cNvPr id="4" name="TextBox 1">
              <a:extLst>
                <a:ext uri="{FF2B5EF4-FFF2-40B4-BE49-F238E27FC236}">
                  <a16:creationId xmlns:a16="http://schemas.microsoft.com/office/drawing/2014/main" id="{7780A0CC-F2CA-AF47-5ECD-0E870A02D612}"/>
                </a:ext>
              </a:extLst>
            </p:cNvPr>
            <p:cNvSpPr txBox="1"/>
            <p:nvPr/>
          </p:nvSpPr>
          <p:spPr>
            <a:xfrm>
              <a:off x="-3380888" y="4559088"/>
              <a:ext cx="2628479" cy="11302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8000" b="1">
                  <a:solidFill>
                    <a:srgbClr val="323232"/>
                  </a:solidFill>
                  <a:latin typeface="Arial"/>
                </a:defRPr>
              </a:pPr>
              <a:r>
                <a:rPr sz="2400" dirty="0"/>
                <a:t>THANKS</a:t>
              </a:r>
            </a:p>
          </p:txBody>
        </p:sp>
        <p:sp>
          <p:nvSpPr>
            <p:cNvPr id="5" name="TextBox 2">
              <a:extLst>
                <a:ext uri="{FF2B5EF4-FFF2-40B4-BE49-F238E27FC236}">
                  <a16:creationId xmlns:a16="http://schemas.microsoft.com/office/drawing/2014/main" id="{D72165FC-EF53-946B-2A05-45AB55386D7E}"/>
                </a:ext>
              </a:extLst>
            </p:cNvPr>
            <p:cNvSpPr txBox="1"/>
            <p:nvPr/>
          </p:nvSpPr>
          <p:spPr>
            <a:xfrm>
              <a:off x="-3286215" y="5472113"/>
              <a:ext cx="2533806" cy="8288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3200">
                  <a:solidFill>
                    <a:srgbClr val="646464"/>
                  </a:solidFill>
                  <a:latin typeface="Microsoft YaHei"/>
                </a:defRPr>
              </a:pPr>
              <a:r>
                <a:rPr sz="1600" dirty="0" err="1"/>
                <a:t>感谢您的观看</a:t>
              </a:r>
              <a:endParaRPr sz="1600" dirty="0"/>
            </a:p>
          </p:txBody>
        </p:sp>
      </p:grpSp>
      <p:sp>
        <p:nvSpPr>
          <p:cNvPr id="7" name="TextBox 3">
            <a:extLst>
              <a:ext uri="{FF2B5EF4-FFF2-40B4-BE49-F238E27FC236}">
                <a16:creationId xmlns:a16="http://schemas.microsoft.com/office/drawing/2014/main" id="{251ACDF2-D250-D947-6D2E-E9B3034ED6BF}"/>
              </a:ext>
            </a:extLst>
          </p:cNvPr>
          <p:cNvSpPr txBox="1"/>
          <p:nvPr/>
        </p:nvSpPr>
        <p:spPr>
          <a:xfrm>
            <a:off x="4195924" y="2503268"/>
            <a:ext cx="383778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70C0"/>
                </a:solidFill>
                <a:latin typeface="Arial"/>
              </a:defRPr>
            </a:pPr>
            <a:r>
              <a:rPr sz="1600" dirty="0" err="1">
                <a:solidFill>
                  <a:srgbClr val="FF0000"/>
                </a:solidFill>
              </a:rPr>
              <a:t>更多精品模板</a:t>
            </a:r>
            <a:r>
              <a:rPr sz="1600" dirty="0">
                <a:solidFill>
                  <a:srgbClr val="FF0000"/>
                </a:solidFill>
              </a:rPr>
              <a:t>: https://</a:t>
            </a:r>
            <a:r>
              <a:rPr sz="1600" dirty="0" err="1">
                <a:solidFill>
                  <a:srgbClr val="FF0000"/>
                </a:solidFill>
              </a:rPr>
              <a:t>www.ppthub.shop</a:t>
            </a:r>
            <a:r>
              <a:rPr dirty="0"/>
              <a:t>/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07EF9D-7BEF-C5DE-8BE0-0613F0C0E5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9" t="7618" r="72244" b="11372"/>
          <a:stretch/>
        </p:blipFill>
        <p:spPr>
          <a:xfrm>
            <a:off x="3714750" y="2983074"/>
            <a:ext cx="1971675" cy="19431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6CE07EC-E767-4260-1A6E-0F5BE1DF3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453" y="3136900"/>
            <a:ext cx="1833317" cy="17892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THub，https://www.ppthub.sho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uur0ekl">
      <a:majorFont>
        <a:latin typeface="Arial" panose="020F0302020204030204"/>
        <a:ea typeface="三极春联字体简"/>
        <a:cs typeface=""/>
      </a:majorFont>
      <a:minorFont>
        <a:latin typeface="Arial" panose="020F0502020204030204"/>
        <a:ea typeface="三极春联字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3196</Words>
  <Application>Microsoft Office PowerPoint</Application>
  <PresentationFormat>宽屏</PresentationFormat>
  <Paragraphs>108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微软雅黑</vt:lpstr>
      <vt:lpstr>Arial</vt:lpstr>
      <vt:lpstr>Calibri</vt:lpstr>
      <vt:lpstr>Wingdings</vt:lpstr>
      <vt:lpstr>PPTHub，https://www.ppthub.shop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PPTHub</Manager>
  <Company>PPTHub，https://www.ppthub.shop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冬至</dc:title>
  <dc:creator>PPTHub</dc:creator>
  <cp:keywords>https://www.ppthub.shop</cp:keywords>
  <dc:description>https://www.ppthub.shop</dc:description>
  <cp:lastModifiedBy>Administrator</cp:lastModifiedBy>
  <cp:revision>39</cp:revision>
  <dcterms:created xsi:type="dcterms:W3CDTF">2019-11-10T07:38:23Z</dcterms:created>
  <dcterms:modified xsi:type="dcterms:W3CDTF">2022-12-16T02:00:54Z</dcterms:modified>
  <dc:subject/>
  <cp:category/>
</cp:coreProperties>
</file>