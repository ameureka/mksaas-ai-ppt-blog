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style1.xml" ContentType="application/vnd.ms-office.chartstyle+xml"/>
  <Override PartName="/ppt/charts/colors1.xml" ContentType="application/vnd.ms-office.chartcolorstyle+xml"/>
  <Override PartName="/ppt/charts/style2.xml" ContentType="application/vnd.ms-office.chartstyle+xml"/>
  <Override PartName="/ppt/charts/colors2.xml" ContentType="application/vnd.ms-office.chartcolorstyle+xml"/>
  <Override PartName="/ppt/charts/style3.xml" ContentType="application/vnd.ms-office.chartstyle+xml"/>
  <Override PartName="/ppt/charts/colors3.xml" ContentType="application/vnd.ms-office.chartcolorstyle+xml"/>
  <Override PartName="/ppt/charts/style4.xml" ContentType="application/vnd.ms-office.chartstyle+xml"/>
  <Override PartName="/ppt/charts/colors4.xml" ContentType="application/vnd.ms-office.chartcolor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56" r:id="rId3"/>
    <p:sldId id="257" r:id="rId4"/>
    <p:sldId id="258" r:id="rId5"/>
    <p:sldId id="259" r:id="rId6"/>
    <p:sldId id="263" r:id="rId7"/>
    <p:sldId id="264" r:id="rId8"/>
    <p:sldId id="260" r:id="rId9"/>
    <p:sldId id="265" r:id="rId10"/>
    <p:sldId id="266" r:id="rId11"/>
    <p:sldId id="267" r:id="rId12"/>
    <p:sldId id="268" r:id="rId13"/>
    <p:sldId id="261" r:id="rId14"/>
    <p:sldId id="272" r:id="rId15"/>
    <p:sldId id="262" r:id="rId16"/>
    <p:sldId id="274" r:id="rId17"/>
    <p:sldId id="273" r:id="rId18"/>
    <p:sldId id="271" r:id="rId19"/>
    <p:sldId id="275" r:id="rId20"/>
    <p:sldId id="276" r:id="rId21"/>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1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A866"/>
    <a:srgbClr val="00554E"/>
    <a:srgbClr val="8FC877"/>
    <a:srgbClr val="EDEAE5"/>
    <a:srgbClr val="E3E0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88" autoAdjust="0"/>
    <p:restoredTop sz="94068" autoAdjust="0"/>
  </p:normalViewPr>
  <p:slideViewPr>
    <p:cSldViewPr snapToGrid="0" showGuides="1">
      <p:cViewPr>
        <p:scale>
          <a:sx n="50" d="100"/>
          <a:sy n="50" d="100"/>
        </p:scale>
        <p:origin x="-2664" y="-1626"/>
      </p:cViewPr>
      <p:guideLst>
        <p:guide orient="horz" pos="2160"/>
        <p:guide pos="3817"/>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3" Type="http://schemas.microsoft.com/office/2011/relationships/chartStyle" Target="style2.xml"/><Relationship Id="rId2" Type="http://schemas.microsoft.com/office/2011/relationships/chartColorStyle" Target="colors2.xml"/><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3" Type="http://schemas.microsoft.com/office/2011/relationships/chartStyle" Target="style3.xml"/><Relationship Id="rId2" Type="http://schemas.microsoft.com/office/2011/relationships/chartColorStyle" Target="colors3.xml"/><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openxmlformats.org/officeDocument/2006/relationships/image" Target="../media/image12.png"/><Relationship Id="rId1" Type="http://schemas.openxmlformats.org/officeDocument/2006/relationships/image" Target="../media/image11.png"/><Relationship Id="rId5" Type="http://schemas.microsoft.com/office/2011/relationships/chartStyle" Target="style4.xml"/><Relationship Id="rId4" Type="http://schemas.microsoft.com/office/2011/relationships/chartColorStyle" Target="colors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5888557652253399E-2"/>
          <c:y val="7.5662880120309695E-2"/>
          <c:w val="0.72786007359481197"/>
          <c:h val="0.79478944721959099"/>
        </c:manualLayout>
      </c:layout>
      <c:areaChart>
        <c:grouping val="standard"/>
        <c:varyColors val="0"/>
        <c:ser>
          <c:idx val="0"/>
          <c:order val="0"/>
          <c:tx>
            <c:strRef>
              <c:f>Sheet1!$B$1</c:f>
              <c:strCache>
                <c:ptCount val="1"/>
                <c:pt idx="0">
                  <c:v>收入</c:v>
                </c:pt>
              </c:strCache>
            </c:strRef>
          </c:tx>
          <c:spPr>
            <a:solidFill>
              <a:srgbClr val="00554E"/>
            </a:solidFill>
            <a:ln w="38100" cap="rnd" cmpd="sng" algn="ctr">
              <a:noFill/>
              <a:prstDash val="solid"/>
              <a:round/>
            </a:ln>
          </c:spPr>
          <c:dLbls>
            <c:dLbl>
              <c:idx val="0"/>
              <c:layout>
                <c:manualLayout>
                  <c:x val="9.9724428027399593E-3"/>
                  <c:y val="-0.14840792630126201"/>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0-5D38-4563-8399-ABD9D29A6436}"/>
                </c:ext>
              </c:extLst>
            </c:dLbl>
            <c:dLbl>
              <c:idx val="1"/>
              <c:layout>
                <c:manualLayout>
                  <c:x val="3.8212777148138098E-3"/>
                  <c:y val="-0.17114159688082201"/>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15:layout>
                    <c:manualLayout>
                      <c:w val="8.9748449029421404E-2"/>
                      <c:h val="7.3818748923969404E-2"/>
                    </c:manualLayout>
                  </c15:layout>
                </c:ext>
                <c:ext xmlns:c16="http://schemas.microsoft.com/office/drawing/2014/chart" uri="{C3380CC4-5D6E-409C-BE32-E72D297353CC}">
                  <c16:uniqueId val="{00000001-5D38-4563-8399-ABD9D29A6436}"/>
                </c:ext>
              </c:extLst>
            </c:dLbl>
            <c:dLbl>
              <c:idx val="2"/>
              <c:layout>
                <c:manualLayout>
                  <c:x val="-2.0063255088190301E-3"/>
                  <c:y val="-0.22109716756666001"/>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2-5D38-4563-8399-ABD9D29A6436}"/>
                </c:ext>
              </c:extLst>
            </c:dLbl>
            <c:dLbl>
              <c:idx val="3"/>
              <c:layout>
                <c:manualLayout>
                  <c:x val="-5.94015659575323E-3"/>
                  <c:y val="-0.33921757215706799"/>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5D38-4563-8399-ABD9D29A6436}"/>
                </c:ext>
              </c:extLst>
            </c:dLbl>
            <c:dLbl>
              <c:idx val="4"/>
              <c:layout>
                <c:manualLayout>
                  <c:x val="-1.1818336717069799E-3"/>
                  <c:y val="-0.38767722532236298"/>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4-5D38-4563-8399-ABD9D29A6436}"/>
                </c:ext>
              </c:extLst>
            </c:dLbl>
            <c:spPr>
              <a:noFill/>
              <a:ln>
                <a:noFill/>
              </a:ln>
              <a:effectLst/>
            </c:spPr>
            <c:txPr>
              <a:bodyPr rot="0" vert="horz"/>
              <a:lstStyle/>
              <a:p>
                <a:pPr>
                  <a:defRPr/>
                </a:pPr>
                <a:endParaRPr lang="zh-CN"/>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numRef>
              <c:f>Sheet1!$A$2:$A$6</c:f>
              <c:numCache>
                <c:formatCode>General</c:formatCode>
                <c:ptCount val="5"/>
                <c:pt idx="0">
                  <c:v>2017</c:v>
                </c:pt>
                <c:pt idx="1">
                  <c:v>2018</c:v>
                </c:pt>
                <c:pt idx="2">
                  <c:v>2019</c:v>
                </c:pt>
                <c:pt idx="3">
                  <c:v>2020</c:v>
                </c:pt>
                <c:pt idx="4">
                  <c:v>2021</c:v>
                </c:pt>
              </c:numCache>
            </c:numRef>
          </c:cat>
          <c:val>
            <c:numRef>
              <c:f>Sheet1!$B$2:$B$6</c:f>
              <c:numCache>
                <c:formatCode>General</c:formatCode>
                <c:ptCount val="5"/>
                <c:pt idx="0">
                  <c:v>5067.5</c:v>
                </c:pt>
                <c:pt idx="1">
                  <c:v>7135</c:v>
                </c:pt>
                <c:pt idx="2">
                  <c:v>72150</c:v>
                </c:pt>
                <c:pt idx="3">
                  <c:v>151800</c:v>
                </c:pt>
                <c:pt idx="4">
                  <c:v>205600</c:v>
                </c:pt>
              </c:numCache>
            </c:numRef>
          </c:val>
          <c:extLst xmlns:c16r2="http://schemas.microsoft.com/office/drawing/2015/06/chart">
            <c:ext xmlns:c16="http://schemas.microsoft.com/office/drawing/2014/chart" uri="{C3380CC4-5D6E-409C-BE32-E72D297353CC}">
              <c16:uniqueId val="{00000005-5D38-4563-8399-ABD9D29A6436}"/>
            </c:ext>
          </c:extLst>
        </c:ser>
        <c:ser>
          <c:idx val="1"/>
          <c:order val="1"/>
          <c:tx>
            <c:strRef>
              <c:f>Sheet1!$C$1</c:f>
              <c:strCache>
                <c:ptCount val="1"/>
                <c:pt idx="0">
                  <c:v>成本</c:v>
                </c:pt>
              </c:strCache>
            </c:strRef>
          </c:tx>
          <c:spPr>
            <a:solidFill>
              <a:srgbClr val="37A866"/>
            </a:solidFill>
            <a:ln w="38100" cap="rnd" cmpd="sng" algn="ctr">
              <a:noFill/>
              <a:prstDash val="solid"/>
              <a:round/>
            </a:ln>
          </c:spPr>
          <c:dLbls>
            <c:dLbl>
              <c:idx val="0"/>
              <c:layout>
                <c:manualLayout>
                  <c:x val="1.66751147611677E-2"/>
                  <c:y val="-7.2689479747943E-2"/>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6-5D38-4563-8399-ABD9D29A6436}"/>
                </c:ext>
              </c:extLst>
            </c:dLbl>
            <c:dLbl>
              <c:idx val="1"/>
              <c:layout>
                <c:manualLayout>
                  <c:x val="8.0764838084599396E-4"/>
                  <c:y val="-8.4804393039266901E-2"/>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5D38-4563-8399-ABD9D29A6436}"/>
                </c:ext>
              </c:extLst>
            </c:dLbl>
            <c:dLbl>
              <c:idx val="2"/>
              <c:layout>
                <c:manualLayout>
                  <c:x val="1.29443357271204E-4"/>
                  <c:y val="-1.21149132913239E-2"/>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8-5D38-4563-8399-ABD9D29A6436}"/>
                </c:ext>
              </c:extLst>
            </c:dLbl>
            <c:dLbl>
              <c:idx val="3"/>
              <c:layout>
                <c:manualLayout>
                  <c:x val="1.18183367170689E-3"/>
                  <c:y val="-7.5718208070774007E-2"/>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9-5D38-4563-8399-ABD9D29A6436}"/>
                </c:ext>
              </c:extLst>
            </c:dLbl>
            <c:dLbl>
              <c:idx val="4"/>
              <c:layout>
                <c:manualLayout>
                  <c:x val="3.5455010151205901E-3"/>
                  <c:y val="-0.112062947944745"/>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A-5D38-4563-8399-ABD9D29A6436}"/>
                </c:ext>
              </c:extLst>
            </c:dLbl>
            <c:spPr>
              <a:noFill/>
              <a:ln>
                <a:noFill/>
              </a:ln>
              <a:effectLst/>
            </c:spPr>
            <c:txPr>
              <a:bodyPr rot="0" vert="horz"/>
              <a:lstStyle/>
              <a:p>
                <a:pPr>
                  <a:defRPr/>
                </a:pPr>
                <a:endParaRPr lang="zh-CN"/>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numRef>
              <c:f>Sheet1!$A$2:$A$6</c:f>
              <c:numCache>
                <c:formatCode>General</c:formatCode>
                <c:ptCount val="5"/>
                <c:pt idx="0">
                  <c:v>2017</c:v>
                </c:pt>
                <c:pt idx="1">
                  <c:v>2018</c:v>
                </c:pt>
                <c:pt idx="2">
                  <c:v>2019</c:v>
                </c:pt>
                <c:pt idx="3">
                  <c:v>2020</c:v>
                </c:pt>
                <c:pt idx="4">
                  <c:v>2021</c:v>
                </c:pt>
              </c:numCache>
            </c:numRef>
          </c:cat>
          <c:val>
            <c:numRef>
              <c:f>Sheet1!$C$2:$C$6</c:f>
              <c:numCache>
                <c:formatCode>General</c:formatCode>
                <c:ptCount val="5"/>
                <c:pt idx="0">
                  <c:v>3500</c:v>
                </c:pt>
                <c:pt idx="1">
                  <c:v>4000</c:v>
                </c:pt>
                <c:pt idx="2">
                  <c:v>40000</c:v>
                </c:pt>
                <c:pt idx="3">
                  <c:v>80000</c:v>
                </c:pt>
                <c:pt idx="4">
                  <c:v>110000</c:v>
                </c:pt>
              </c:numCache>
            </c:numRef>
          </c:val>
          <c:extLst xmlns:c16r2="http://schemas.microsoft.com/office/drawing/2015/06/chart">
            <c:ext xmlns:c16="http://schemas.microsoft.com/office/drawing/2014/chart" uri="{C3380CC4-5D6E-409C-BE32-E72D297353CC}">
              <c16:uniqueId val="{0000000B-5D38-4563-8399-ABD9D29A6436}"/>
            </c:ext>
          </c:extLst>
        </c:ser>
        <c:dLbls>
          <c:showLegendKey val="0"/>
          <c:showVal val="0"/>
          <c:showCatName val="0"/>
          <c:showSerName val="0"/>
          <c:showPercent val="0"/>
          <c:showBubbleSize val="0"/>
        </c:dLbls>
        <c:axId val="697717120"/>
        <c:axId val="697718656"/>
      </c:areaChart>
      <c:catAx>
        <c:axId val="697717120"/>
        <c:scaling>
          <c:orientation val="minMax"/>
        </c:scaling>
        <c:delete val="0"/>
        <c:axPos val="b"/>
        <c:numFmt formatCode="General" sourceLinked="1"/>
        <c:majorTickMark val="out"/>
        <c:minorTickMark val="none"/>
        <c:tickLblPos val="nextTo"/>
        <c:txPr>
          <a:bodyPr rot="-60000000" vert="horz"/>
          <a:lstStyle/>
          <a:p>
            <a:pPr>
              <a:defRPr/>
            </a:pPr>
            <a:endParaRPr lang="zh-CN"/>
          </a:p>
        </c:txPr>
        <c:crossAx val="697718656"/>
        <c:crosses val="autoZero"/>
        <c:auto val="1"/>
        <c:lblAlgn val="ctr"/>
        <c:lblOffset val="100"/>
        <c:noMultiLvlLbl val="0"/>
      </c:catAx>
      <c:valAx>
        <c:axId val="697718656"/>
        <c:scaling>
          <c:orientation val="minMax"/>
        </c:scaling>
        <c:delete val="1"/>
        <c:axPos val="l"/>
        <c:numFmt formatCode="General" sourceLinked="1"/>
        <c:majorTickMark val="out"/>
        <c:minorTickMark val="none"/>
        <c:tickLblPos val="nextTo"/>
        <c:crossAx val="697717120"/>
        <c:crosses val="autoZero"/>
        <c:crossBetween val="midCat"/>
      </c:valAx>
      <c:dTable>
        <c:showHorzBorder val="1"/>
        <c:showVertBorder val="1"/>
        <c:showOutline val="1"/>
        <c:showKeys val="0"/>
      </c:dTable>
      <c:spPr>
        <a:noFill/>
        <a:ln w="25400">
          <a:noFill/>
        </a:ln>
      </c:spPr>
    </c:plotArea>
    <c:legend>
      <c:legendPos val="r"/>
      <c:layout>
        <c:manualLayout>
          <c:xMode val="edge"/>
          <c:yMode val="edge"/>
          <c:x val="7.70681181941619E-2"/>
          <c:y val="0.127600761356717"/>
          <c:w val="6.95858082434853E-2"/>
          <c:h val="0.14942044605312599"/>
        </c:manualLayout>
      </c:layout>
      <c:overlay val="0"/>
      <c:txPr>
        <a:bodyPr rot="0" vert="horz"/>
        <a:lstStyle/>
        <a:p>
          <a:pPr>
            <a:defRPr/>
          </a:pPr>
          <a:endParaRPr lang="zh-CN"/>
        </a:p>
      </c:txPr>
    </c:legend>
    <c:plotVisOnly val="1"/>
    <c:dispBlanksAs val="gap"/>
    <c:showDLblsOverMax val="0"/>
  </c:chart>
  <c:spPr>
    <a:ln>
      <a:noFill/>
    </a:ln>
  </c:spPr>
  <c:txPr>
    <a:bodyPr/>
    <a:lstStyle/>
    <a:p>
      <a:pPr>
        <a:defRPr lang="zh-CN" sz="1800" baseline="0">
          <a:solidFill>
            <a:schemeClr val="tx1">
              <a:lumMod val="75000"/>
              <a:lumOff val="25000"/>
            </a:schemeClr>
          </a:solidFill>
          <a:latin typeface="+mn-lt"/>
          <a:ea typeface="+mn-ea"/>
          <a:cs typeface="+mn-ea"/>
          <a:sym typeface="+mn-lt"/>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0246678149606"/>
          <c:y val="0.10366645523705401"/>
          <c:w val="0.46888176673228299"/>
          <c:h val="0.70332260683300896"/>
        </c:manualLayout>
      </c:layout>
      <c:doughnutChart>
        <c:varyColors val="1"/>
        <c:ser>
          <c:idx val="0"/>
          <c:order val="0"/>
          <c:tx>
            <c:strRef>
              <c:f>Sheet1!$B$1</c:f>
              <c:strCache>
                <c:ptCount val="1"/>
                <c:pt idx="0">
                  <c:v>销售额</c:v>
                </c:pt>
              </c:strCache>
            </c:strRef>
          </c:tx>
          <c:spPr>
            <a:ln w="19050">
              <a:noFill/>
            </a:ln>
          </c:spPr>
          <c:dPt>
            <c:idx val="0"/>
            <c:bubble3D val="0"/>
            <c:spPr>
              <a:solidFill>
                <a:srgbClr val="37A866"/>
              </a:solidFill>
              <a:ln w="19050">
                <a:noFill/>
              </a:ln>
              <a:effectLst/>
            </c:spPr>
            <c:extLst xmlns:c16r2="http://schemas.microsoft.com/office/drawing/2015/06/chart">
              <c:ext xmlns:c16="http://schemas.microsoft.com/office/drawing/2014/chart" uri="{C3380CC4-5D6E-409C-BE32-E72D297353CC}">
                <c16:uniqueId val="{00000001-82CC-4DE1-A571-E7C0CC4D0A7A}"/>
              </c:ext>
            </c:extLst>
          </c:dPt>
          <c:dPt>
            <c:idx val="1"/>
            <c:bubble3D val="0"/>
            <c:spPr>
              <a:noFill/>
              <a:ln w="19050">
                <a:noFill/>
              </a:ln>
              <a:effectLst/>
            </c:spPr>
            <c:extLst xmlns:c16r2="http://schemas.microsoft.com/office/drawing/2015/06/chart">
              <c:ext xmlns:c16="http://schemas.microsoft.com/office/drawing/2014/chart" uri="{C3380CC4-5D6E-409C-BE32-E72D297353CC}">
                <c16:uniqueId val="{00000003-82CC-4DE1-A571-E7C0CC4D0A7A}"/>
              </c:ext>
            </c:extLst>
          </c:dPt>
          <c:dPt>
            <c:idx val="2"/>
            <c:bubble3D val="0"/>
            <c:spPr>
              <a:noFill/>
              <a:ln w="19050">
                <a:noFill/>
              </a:ln>
              <a:effectLst/>
            </c:spPr>
            <c:extLst xmlns:c16r2="http://schemas.microsoft.com/office/drawing/2015/06/chart">
              <c:ext xmlns:c16="http://schemas.microsoft.com/office/drawing/2014/chart" uri="{C3380CC4-5D6E-409C-BE32-E72D297353CC}">
                <c16:uniqueId val="{00000005-82CC-4DE1-A571-E7C0CC4D0A7A}"/>
              </c:ext>
            </c:extLst>
          </c:dPt>
          <c:dPt>
            <c:idx val="3"/>
            <c:bubble3D val="0"/>
            <c:spPr>
              <a:noFill/>
              <a:ln w="19050">
                <a:noFill/>
              </a:ln>
              <a:effectLst/>
            </c:spPr>
            <c:extLst xmlns:c16r2="http://schemas.microsoft.com/office/drawing/2015/06/chart">
              <c:ext xmlns:c16="http://schemas.microsoft.com/office/drawing/2014/chart" uri="{C3380CC4-5D6E-409C-BE32-E72D297353CC}">
                <c16:uniqueId val="{00000007-82CC-4DE1-A571-E7C0CC4D0A7A}"/>
              </c:ext>
            </c:extLst>
          </c:dPt>
          <c:dLbls>
            <c:dLbl>
              <c:idx val="0"/>
              <c:layout>
                <c:manualLayout>
                  <c:x val="-9.8765800958525302E-2"/>
                  <c:y val="0.227734351069656"/>
                </c:manualLayout>
              </c:layout>
              <c:tx>
                <c:rich>
                  <a:bodyPr/>
                  <a:lstStyle/>
                  <a:p>
                    <a:r>
                      <a:rPr lang="en-US"/>
                      <a:t>[百分比]</a:t>
                    </a:r>
                    <a:endParaRPr lang="zh-CN"/>
                  </a:p>
                </c:rich>
              </c:tx>
              <c:showLegendKey val="0"/>
              <c:showVal val="0"/>
              <c:showCatName val="0"/>
              <c:showSerName val="0"/>
              <c:showPercent val="1"/>
              <c:showBubbleSize val="0"/>
              <c:extLst xmlns:c16r2="http://schemas.microsoft.com/office/drawing/2015/06/chart">
                <c:ext xmlns:c15="http://schemas.microsoft.com/office/drawing/2012/chart" uri="{CE6537A1-D6FC-4f65-9D91-7224C49458BB}">
                  <c15:layout>
                    <c:manualLayout>
                      <c:w val="0.22124224901574799"/>
                      <c:h val="0.241898422619438"/>
                    </c:manualLayout>
                  </c15:layout>
                </c:ext>
                <c:ext xmlns:c16="http://schemas.microsoft.com/office/drawing/2014/chart" uri="{C3380CC4-5D6E-409C-BE32-E72D297353CC}">
                  <c16:uniqueId val="{00000001-82CC-4DE1-A571-E7C0CC4D0A7A}"/>
                </c:ext>
              </c:extLst>
            </c:dLbl>
            <c:spPr>
              <a:noFill/>
              <a:ln>
                <a:noFill/>
              </a:ln>
              <a:effectLst/>
            </c:spPr>
            <c:txPr>
              <a:bodyPr rot="0" vert="horz"/>
              <a:lstStyle/>
              <a:p>
                <a:pPr>
                  <a:defRPr/>
                </a:pPr>
                <a:endParaRPr lang="zh-CN"/>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s>
          <c:cat>
            <c:strRef>
              <c:f>Sheet1!$A$2:$A$5</c:f>
              <c:strCache>
                <c:ptCount val="4"/>
                <c:pt idx="0">
                  <c:v>项目1</c:v>
                </c:pt>
                <c:pt idx="1">
                  <c:v>项目2</c:v>
                </c:pt>
                <c:pt idx="2">
                  <c:v>项目3</c:v>
                </c:pt>
                <c:pt idx="3">
                  <c:v>项目4</c:v>
                </c:pt>
              </c:strCache>
            </c:strRef>
          </c:cat>
          <c:val>
            <c:numRef>
              <c:f>Sheet1!$B$2:$B$5</c:f>
              <c:numCache>
                <c:formatCode>General</c:formatCode>
                <c:ptCount val="4"/>
                <c:pt idx="0">
                  <c:v>1</c:v>
                </c:pt>
                <c:pt idx="1">
                  <c:v>3.2</c:v>
                </c:pt>
                <c:pt idx="2">
                  <c:v>1.4</c:v>
                </c:pt>
                <c:pt idx="3">
                  <c:v>1.2</c:v>
                </c:pt>
              </c:numCache>
            </c:numRef>
          </c:val>
          <c:extLst xmlns:c16r2="http://schemas.microsoft.com/office/drawing/2015/06/chart">
            <c:ext xmlns:c16="http://schemas.microsoft.com/office/drawing/2014/chart" uri="{C3380CC4-5D6E-409C-BE32-E72D297353CC}">
              <c16:uniqueId val="{00000008-82CC-4DE1-A571-E7C0CC4D0A7A}"/>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0246678149606"/>
          <c:y val="0.10366645523705401"/>
          <c:w val="0.46888176673228299"/>
          <c:h val="0.70332260683300896"/>
        </c:manualLayout>
      </c:layout>
      <c:doughnutChart>
        <c:varyColors val="1"/>
        <c:ser>
          <c:idx val="0"/>
          <c:order val="0"/>
          <c:tx>
            <c:strRef>
              <c:f>Sheet1!$B$1</c:f>
              <c:strCache>
                <c:ptCount val="1"/>
                <c:pt idx="0">
                  <c:v>销售额</c:v>
                </c:pt>
              </c:strCache>
            </c:strRef>
          </c:tx>
          <c:spPr>
            <a:ln w="19050">
              <a:noFill/>
            </a:ln>
          </c:spPr>
          <c:dPt>
            <c:idx val="0"/>
            <c:bubble3D val="0"/>
            <c:spPr>
              <a:solidFill>
                <a:srgbClr val="37A866"/>
              </a:solidFill>
              <a:ln w="19050">
                <a:noFill/>
              </a:ln>
              <a:effectLst/>
            </c:spPr>
            <c:extLst xmlns:c16r2="http://schemas.microsoft.com/office/drawing/2015/06/chart">
              <c:ext xmlns:c16="http://schemas.microsoft.com/office/drawing/2014/chart" uri="{C3380CC4-5D6E-409C-BE32-E72D297353CC}">
                <c16:uniqueId val="{00000001-924B-49CC-BBF8-2C7E0F8C71C4}"/>
              </c:ext>
            </c:extLst>
          </c:dPt>
          <c:dPt>
            <c:idx val="1"/>
            <c:bubble3D val="0"/>
            <c:spPr>
              <a:noFill/>
              <a:ln w="19050">
                <a:noFill/>
              </a:ln>
              <a:effectLst/>
            </c:spPr>
            <c:extLst xmlns:c16r2="http://schemas.microsoft.com/office/drawing/2015/06/chart">
              <c:ext xmlns:c16="http://schemas.microsoft.com/office/drawing/2014/chart" uri="{C3380CC4-5D6E-409C-BE32-E72D297353CC}">
                <c16:uniqueId val="{00000003-924B-49CC-BBF8-2C7E0F8C71C4}"/>
              </c:ext>
            </c:extLst>
          </c:dPt>
          <c:dPt>
            <c:idx val="2"/>
            <c:bubble3D val="0"/>
            <c:spPr>
              <a:noFill/>
              <a:ln w="19050">
                <a:noFill/>
              </a:ln>
              <a:effectLst/>
            </c:spPr>
            <c:extLst xmlns:c16r2="http://schemas.microsoft.com/office/drawing/2015/06/chart">
              <c:ext xmlns:c16="http://schemas.microsoft.com/office/drawing/2014/chart" uri="{C3380CC4-5D6E-409C-BE32-E72D297353CC}">
                <c16:uniqueId val="{00000005-924B-49CC-BBF8-2C7E0F8C71C4}"/>
              </c:ext>
            </c:extLst>
          </c:dPt>
          <c:dPt>
            <c:idx val="3"/>
            <c:bubble3D val="0"/>
            <c:spPr>
              <a:noFill/>
              <a:ln w="19050">
                <a:noFill/>
              </a:ln>
              <a:effectLst/>
            </c:spPr>
            <c:extLst xmlns:c16r2="http://schemas.microsoft.com/office/drawing/2015/06/chart">
              <c:ext xmlns:c16="http://schemas.microsoft.com/office/drawing/2014/chart" uri="{C3380CC4-5D6E-409C-BE32-E72D297353CC}">
                <c16:uniqueId val="{00000007-924B-49CC-BBF8-2C7E0F8C71C4}"/>
              </c:ext>
            </c:extLst>
          </c:dPt>
          <c:dLbls>
            <c:dLbl>
              <c:idx val="0"/>
              <c:layout>
                <c:manualLayout>
                  <c:x val="-0.22219666705708699"/>
                  <c:y val="2.81931653188233E-2"/>
                </c:manualLayout>
              </c:layout>
              <c:tx>
                <c:rich>
                  <a:bodyPr/>
                  <a:lstStyle/>
                  <a:p>
                    <a:r>
                      <a:rPr lang="en-US"/>
                      <a:t>[百分比]</a:t>
                    </a:r>
                    <a:endParaRPr lang="zh-CN"/>
                  </a:p>
                </c:rich>
              </c:tx>
              <c:showLegendKey val="0"/>
              <c:showVal val="0"/>
              <c:showCatName val="0"/>
              <c:showSerName val="0"/>
              <c:showPercent val="1"/>
              <c:showBubbleSize val="0"/>
              <c:extLst xmlns:c16r2="http://schemas.microsoft.com/office/drawing/2015/06/chart">
                <c:ext xmlns:c15="http://schemas.microsoft.com/office/drawing/2012/chart" uri="{CE6537A1-D6FC-4f65-9D91-7224C49458BB}">
                  <c15:layout>
                    <c:manualLayout>
                      <c:w val="0.22124224901574799"/>
                      <c:h val="0.241898422619438"/>
                    </c:manualLayout>
                  </c15:layout>
                </c:ext>
                <c:ext xmlns:c16="http://schemas.microsoft.com/office/drawing/2014/chart" uri="{C3380CC4-5D6E-409C-BE32-E72D297353CC}">
                  <c16:uniqueId val="{00000001-924B-49CC-BBF8-2C7E0F8C71C4}"/>
                </c:ext>
              </c:extLst>
            </c:dLbl>
            <c:dLbl>
              <c:idx val="1"/>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924B-49CC-BBF8-2C7E0F8C71C4}"/>
                </c:ext>
              </c:extLst>
            </c:dLbl>
            <c:dLbl>
              <c:idx val="2"/>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5-924B-49CC-BBF8-2C7E0F8C71C4}"/>
                </c:ext>
              </c:extLst>
            </c:dLbl>
            <c:dLbl>
              <c:idx val="3"/>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924B-49CC-BBF8-2C7E0F8C71C4}"/>
                </c:ext>
              </c:extLst>
            </c:dLbl>
            <c:spPr>
              <a:noFill/>
              <a:ln>
                <a:noFill/>
              </a:ln>
              <a:effectLst/>
            </c:spPr>
            <c:txPr>
              <a:bodyPr rot="0" vert="horz"/>
              <a:lstStyle/>
              <a:p>
                <a:pPr>
                  <a:defRPr/>
                </a:pPr>
                <a:endParaRPr lang="zh-CN"/>
              </a:p>
            </c:txPr>
            <c:showLegendKey val="0"/>
            <c:showVal val="0"/>
            <c:showCatName val="0"/>
            <c:showSerName val="0"/>
            <c:showPercent val="1"/>
            <c:showBubbleSize val="0"/>
            <c:showLeaderLines val="0"/>
            <c:extLst xmlns:c16r2="http://schemas.microsoft.com/office/drawing/2015/06/chart">
              <c:ext xmlns:c15="http://schemas.microsoft.com/office/drawing/2012/chart" uri="{CE6537A1-D6FC-4f65-9D91-7224C49458BB}"/>
            </c:extLst>
          </c:dLbls>
          <c:cat>
            <c:strRef>
              <c:f>Sheet1!$A$2:$A$5</c:f>
              <c:strCache>
                <c:ptCount val="4"/>
                <c:pt idx="0">
                  <c:v>项目1</c:v>
                </c:pt>
                <c:pt idx="1">
                  <c:v>项目2</c:v>
                </c:pt>
                <c:pt idx="2">
                  <c:v>项目3</c:v>
                </c:pt>
                <c:pt idx="3">
                  <c:v>项目4</c:v>
                </c:pt>
              </c:strCache>
            </c:strRef>
          </c:cat>
          <c:val>
            <c:numRef>
              <c:f>Sheet1!$B$2:$B$5</c:f>
              <c:numCache>
                <c:formatCode>General</c:formatCode>
                <c:ptCount val="4"/>
                <c:pt idx="0">
                  <c:v>5</c:v>
                </c:pt>
                <c:pt idx="1">
                  <c:v>3.2</c:v>
                </c:pt>
                <c:pt idx="2">
                  <c:v>1.4</c:v>
                </c:pt>
                <c:pt idx="3">
                  <c:v>1.2</c:v>
                </c:pt>
              </c:numCache>
            </c:numRef>
          </c:val>
          <c:extLst xmlns:c16r2="http://schemas.microsoft.com/office/drawing/2015/06/chart">
            <c:ext xmlns:c16="http://schemas.microsoft.com/office/drawing/2014/chart" uri="{C3380CC4-5D6E-409C-BE32-E72D297353CC}">
              <c16:uniqueId val="{00000008-924B-49CC-BBF8-2C7E0F8C71C4}"/>
            </c:ext>
          </c:extLst>
        </c:ser>
        <c:dLbls>
          <c:showLegendKey val="0"/>
          <c:showVal val="0"/>
          <c:showCatName val="0"/>
          <c:showSerName val="0"/>
          <c:showPercent val="0"/>
          <c:showBubbleSize val="0"/>
          <c:showLeaderLines val="0"/>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0246678149606"/>
          <c:y val="0.10366645523705401"/>
          <c:w val="0.46888176673228299"/>
          <c:h val="0.70332260683300896"/>
        </c:manualLayout>
      </c:layout>
      <c:doughnutChart>
        <c:varyColors val="1"/>
        <c:ser>
          <c:idx val="0"/>
          <c:order val="0"/>
          <c:tx>
            <c:strRef>
              <c:f>Sheet1!$B$1</c:f>
              <c:strCache>
                <c:ptCount val="1"/>
                <c:pt idx="0">
                  <c:v>销售额</c:v>
                </c:pt>
              </c:strCache>
            </c:strRef>
          </c:tx>
          <c:spPr>
            <a:ln w="19050">
              <a:noFill/>
            </a:ln>
          </c:spPr>
          <c:dPt>
            <c:idx val="0"/>
            <c:bubble3D val="0"/>
            <c:spPr>
              <a:solidFill>
                <a:srgbClr val="37A866"/>
              </a:solidFill>
              <a:ln w="19050">
                <a:noFill/>
              </a:ln>
              <a:effectLst/>
            </c:spPr>
            <c:extLst xmlns:c16r2="http://schemas.microsoft.com/office/drawing/2015/06/chart">
              <c:ext xmlns:c16="http://schemas.microsoft.com/office/drawing/2014/chart" uri="{C3380CC4-5D6E-409C-BE32-E72D297353CC}">
                <c16:uniqueId val="{00000001-8F92-4B2D-99DF-5F8B82826222}"/>
              </c:ext>
            </c:extLst>
          </c:dPt>
          <c:dPt>
            <c:idx val="1"/>
            <c:bubble3D val="0"/>
            <c:spPr>
              <a:noFill/>
              <a:ln w="19050">
                <a:noFill/>
              </a:ln>
              <a:effectLst/>
            </c:spPr>
            <c:extLst xmlns:c16r2="http://schemas.microsoft.com/office/drawing/2015/06/chart">
              <c:ext xmlns:c16="http://schemas.microsoft.com/office/drawing/2014/chart" uri="{C3380CC4-5D6E-409C-BE32-E72D297353CC}">
                <c16:uniqueId val="{00000003-8F92-4B2D-99DF-5F8B82826222}"/>
              </c:ext>
            </c:extLst>
          </c:dPt>
          <c:dPt>
            <c:idx val="2"/>
            <c:bubble3D val="0"/>
            <c:spPr>
              <a:noFill/>
              <a:ln w="19050">
                <a:noFill/>
              </a:ln>
              <a:effectLst/>
            </c:spPr>
            <c:extLst xmlns:c16r2="http://schemas.microsoft.com/office/drawing/2015/06/chart">
              <c:ext xmlns:c16="http://schemas.microsoft.com/office/drawing/2014/chart" uri="{C3380CC4-5D6E-409C-BE32-E72D297353CC}">
                <c16:uniqueId val="{00000005-8F92-4B2D-99DF-5F8B82826222}"/>
              </c:ext>
            </c:extLst>
          </c:dPt>
          <c:dPt>
            <c:idx val="3"/>
            <c:bubble3D val="0"/>
            <c:spPr>
              <a:noFill/>
              <a:ln w="19050">
                <a:noFill/>
              </a:ln>
              <a:effectLst/>
            </c:spPr>
            <c:extLst xmlns:c16r2="http://schemas.microsoft.com/office/drawing/2015/06/chart">
              <c:ext xmlns:c16="http://schemas.microsoft.com/office/drawing/2014/chart" uri="{C3380CC4-5D6E-409C-BE32-E72D297353CC}">
                <c16:uniqueId val="{00000007-8F92-4B2D-99DF-5F8B82826222}"/>
              </c:ext>
            </c:extLst>
          </c:dPt>
          <c:dLbls>
            <c:dLbl>
              <c:idx val="0"/>
              <c:layout>
                <c:manualLayout>
                  <c:x val="-0.19388784844467699"/>
                  <c:y val="0.13849719996496099"/>
                </c:manualLayout>
              </c:layout>
              <c:tx>
                <c:rich>
                  <a:bodyPr/>
                  <a:lstStyle/>
                  <a:p>
                    <a:r>
                      <a:rPr lang="en-US"/>
                      <a:t>[百分比]</a:t>
                    </a:r>
                    <a:endParaRPr lang="zh-CN"/>
                  </a:p>
                </c:rich>
              </c:tx>
              <c:showLegendKey val="0"/>
              <c:showVal val="0"/>
              <c:showCatName val="0"/>
              <c:showSerName val="0"/>
              <c:showPercent val="1"/>
              <c:showBubbleSize val="0"/>
              <c:extLst xmlns:c16r2="http://schemas.microsoft.com/office/drawing/2015/06/chart">
                <c:ext xmlns:c15="http://schemas.microsoft.com/office/drawing/2012/chart" uri="{CE6537A1-D6FC-4f65-9D91-7224C49458BB}">
                  <c15:layout>
                    <c:manualLayout>
                      <c:w val="0.22124224901574799"/>
                      <c:h val="0.241898422619438"/>
                    </c:manualLayout>
                  </c15:layout>
                </c:ext>
                <c:ext xmlns:c16="http://schemas.microsoft.com/office/drawing/2014/chart" uri="{C3380CC4-5D6E-409C-BE32-E72D297353CC}">
                  <c16:uniqueId val="{00000001-8F92-4B2D-99DF-5F8B82826222}"/>
                </c:ext>
              </c:extLst>
            </c:dLbl>
            <c:dLbl>
              <c:idx val="1"/>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8F92-4B2D-99DF-5F8B82826222}"/>
                </c:ext>
              </c:extLst>
            </c:dLbl>
            <c:dLbl>
              <c:idx val="2"/>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5-8F92-4B2D-99DF-5F8B82826222}"/>
                </c:ext>
              </c:extLst>
            </c:dLbl>
            <c:dLbl>
              <c:idx val="3"/>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8F92-4B2D-99DF-5F8B82826222}"/>
                </c:ext>
              </c:extLst>
            </c:dLbl>
            <c:spPr>
              <a:noFill/>
              <a:ln>
                <a:noFill/>
              </a:ln>
              <a:effectLst/>
            </c:spPr>
            <c:txPr>
              <a:bodyPr rot="0" vert="horz"/>
              <a:lstStyle/>
              <a:p>
                <a:pPr>
                  <a:defRPr/>
                </a:pPr>
                <a:endParaRPr lang="zh-CN"/>
              </a:p>
            </c:txPr>
            <c:showLegendKey val="0"/>
            <c:showVal val="0"/>
            <c:showCatName val="0"/>
            <c:showSerName val="0"/>
            <c:showPercent val="1"/>
            <c:showBubbleSize val="0"/>
            <c:showLeaderLines val="0"/>
            <c:extLst xmlns:c16r2="http://schemas.microsoft.com/office/drawing/2015/06/chart">
              <c:ext xmlns:c15="http://schemas.microsoft.com/office/drawing/2012/chart" uri="{CE6537A1-D6FC-4f65-9D91-7224C49458BB}"/>
            </c:extLst>
          </c:dLbls>
          <c:cat>
            <c:strRef>
              <c:f>Sheet1!$A$2:$A$5</c:f>
              <c:strCache>
                <c:ptCount val="4"/>
                <c:pt idx="0">
                  <c:v>项目1</c:v>
                </c:pt>
                <c:pt idx="1">
                  <c:v>项目2</c:v>
                </c:pt>
                <c:pt idx="2">
                  <c:v>项目3</c:v>
                </c:pt>
                <c:pt idx="3">
                  <c:v>项目4</c:v>
                </c:pt>
              </c:strCache>
            </c:strRef>
          </c:cat>
          <c:val>
            <c:numRef>
              <c:f>Sheet1!$B$2:$B$5</c:f>
              <c:numCache>
                <c:formatCode>General</c:formatCode>
                <c:ptCount val="4"/>
                <c:pt idx="0">
                  <c:v>2.8</c:v>
                </c:pt>
                <c:pt idx="1">
                  <c:v>3.2</c:v>
                </c:pt>
                <c:pt idx="2">
                  <c:v>1.4</c:v>
                </c:pt>
                <c:pt idx="3">
                  <c:v>1.2</c:v>
                </c:pt>
              </c:numCache>
            </c:numRef>
          </c:val>
          <c:extLst xmlns:c16r2="http://schemas.microsoft.com/office/drawing/2015/06/chart">
            <c:ext xmlns:c16="http://schemas.microsoft.com/office/drawing/2014/chart" uri="{C3380CC4-5D6E-409C-BE32-E72D297353CC}">
              <c16:uniqueId val="{00000008-8F92-4B2D-99DF-5F8B82826222}"/>
            </c:ext>
          </c:extLst>
        </c:ser>
        <c:dLbls>
          <c:showLegendKey val="0"/>
          <c:showVal val="0"/>
          <c:showCatName val="0"/>
          <c:showSerName val="0"/>
          <c:showPercent val="0"/>
          <c:showBubbleSize val="0"/>
          <c:showLeaderLines val="0"/>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19951864163938299"/>
          <c:w val="0.96562499999999996"/>
          <c:h val="0.65810841664938602"/>
        </c:manualLayout>
      </c:layout>
      <c:barChart>
        <c:barDir val="col"/>
        <c:grouping val="clustered"/>
        <c:varyColors val="0"/>
        <c:ser>
          <c:idx val="0"/>
          <c:order val="0"/>
          <c:tx>
            <c:strRef>
              <c:f>Sheet1!$B$1</c:f>
              <c:strCache>
                <c:ptCount val="1"/>
                <c:pt idx="0">
                  <c:v>2016年</c:v>
                </c:pt>
              </c:strCache>
            </c:strRef>
          </c:tx>
          <c:spPr>
            <a:blipFill>
              <a:blip xmlns:r="http://schemas.openxmlformats.org/officeDocument/2006/relationships" r:embed="rId1"/>
              <a:stretch>
                <a:fillRect/>
              </a:stretch>
            </a:blipFill>
            <a:ln>
              <a:noFill/>
            </a:ln>
            <a:effectLst/>
          </c:spPr>
          <c:invertIfNegative val="0"/>
          <c:pictureOptions>
            <c:pictureFormat val="stack"/>
          </c:pictureOptions>
          <c:dLbls>
            <c:spPr>
              <a:noFill/>
              <a:ln>
                <a:noFill/>
              </a:ln>
              <a:effectLst/>
            </c:spPr>
            <c:txPr>
              <a:bodyPr rot="0" vert="horz"/>
              <a:lstStyle/>
              <a:p>
                <a:pPr>
                  <a:defRPr/>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重点产品A</c:v>
                </c:pt>
                <c:pt idx="1">
                  <c:v>重点产品B</c:v>
                </c:pt>
                <c:pt idx="2">
                  <c:v>重点产品C</c:v>
                </c:pt>
              </c:strCache>
            </c:strRef>
          </c:cat>
          <c:val>
            <c:numRef>
              <c:f>Sheet1!$B$2:$B$4</c:f>
              <c:numCache>
                <c:formatCode>General</c:formatCode>
                <c:ptCount val="3"/>
                <c:pt idx="0">
                  <c:v>4.3</c:v>
                </c:pt>
                <c:pt idx="1">
                  <c:v>2.5</c:v>
                </c:pt>
                <c:pt idx="2">
                  <c:v>3.5</c:v>
                </c:pt>
              </c:numCache>
            </c:numRef>
          </c:val>
          <c:extLst xmlns:c16r2="http://schemas.microsoft.com/office/drawing/2015/06/chart">
            <c:ext xmlns:c16="http://schemas.microsoft.com/office/drawing/2014/chart" uri="{C3380CC4-5D6E-409C-BE32-E72D297353CC}">
              <c16:uniqueId val="{00000000-F1E2-4169-B1D4-24C402A65DA6}"/>
            </c:ext>
          </c:extLst>
        </c:ser>
        <c:ser>
          <c:idx val="1"/>
          <c:order val="1"/>
          <c:tx>
            <c:strRef>
              <c:f>Sheet1!$C$1</c:f>
              <c:strCache>
                <c:ptCount val="1"/>
                <c:pt idx="0">
                  <c:v>2017年</c:v>
                </c:pt>
              </c:strCache>
            </c:strRef>
          </c:tx>
          <c:spPr>
            <a:blipFill>
              <a:blip xmlns:r="http://schemas.openxmlformats.org/officeDocument/2006/relationships" r:embed="rId2"/>
              <a:stretch>
                <a:fillRect/>
              </a:stretch>
            </a:blipFill>
            <a:ln>
              <a:noFill/>
            </a:ln>
            <a:effectLst/>
          </c:spPr>
          <c:invertIfNegative val="0"/>
          <c:pictureOptions>
            <c:pictureFormat val="stack"/>
          </c:pictureOptions>
          <c:dLbls>
            <c:spPr>
              <a:noFill/>
              <a:ln>
                <a:noFill/>
              </a:ln>
              <a:effectLst/>
            </c:spPr>
            <c:txPr>
              <a:bodyPr rot="0" vert="horz"/>
              <a:lstStyle/>
              <a:p>
                <a:pPr>
                  <a:defRPr/>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重点产品A</c:v>
                </c:pt>
                <c:pt idx="1">
                  <c:v>重点产品B</c:v>
                </c:pt>
                <c:pt idx="2">
                  <c:v>重点产品C</c:v>
                </c:pt>
              </c:strCache>
            </c:strRef>
          </c:cat>
          <c:val>
            <c:numRef>
              <c:f>Sheet1!$C$2:$C$4</c:f>
              <c:numCache>
                <c:formatCode>General</c:formatCode>
                <c:ptCount val="3"/>
                <c:pt idx="0">
                  <c:v>2.4</c:v>
                </c:pt>
                <c:pt idx="1">
                  <c:v>4.4000000000000004</c:v>
                </c:pt>
                <c:pt idx="2">
                  <c:v>1.8</c:v>
                </c:pt>
              </c:numCache>
            </c:numRef>
          </c:val>
          <c:extLst xmlns:c16r2="http://schemas.microsoft.com/office/drawing/2015/06/chart">
            <c:ext xmlns:c16="http://schemas.microsoft.com/office/drawing/2014/chart" uri="{C3380CC4-5D6E-409C-BE32-E72D297353CC}">
              <c16:uniqueId val="{00000001-F1E2-4169-B1D4-24C402A65DA6}"/>
            </c:ext>
          </c:extLst>
        </c:ser>
        <c:dLbls>
          <c:showLegendKey val="0"/>
          <c:showVal val="1"/>
          <c:showCatName val="0"/>
          <c:showSerName val="0"/>
          <c:showPercent val="0"/>
          <c:showBubbleSize val="0"/>
        </c:dLbls>
        <c:gapWidth val="219"/>
        <c:overlap val="-27"/>
        <c:axId val="762509952"/>
        <c:axId val="762536320"/>
      </c:barChart>
      <c:catAx>
        <c:axId val="762509952"/>
        <c:scaling>
          <c:orientation val="minMax"/>
        </c:scaling>
        <c:delete val="0"/>
        <c:axPos val="b"/>
        <c:numFmt formatCode="General" sourceLinked="1"/>
        <c:majorTickMark val="none"/>
        <c:minorTickMark val="none"/>
        <c:tickLblPos val="nextTo"/>
        <c:spPr>
          <a:noFill/>
          <a:ln w="9525" cap="flat" cmpd="sng" algn="ctr">
            <a:solidFill>
              <a:schemeClr val="accent5">
                <a:lumMod val="50000"/>
              </a:schemeClr>
            </a:solidFill>
            <a:round/>
          </a:ln>
          <a:effectLst/>
        </c:spPr>
        <c:txPr>
          <a:bodyPr rot="-60000000" vert="horz"/>
          <a:lstStyle/>
          <a:p>
            <a:pPr>
              <a:defRPr/>
            </a:pPr>
            <a:endParaRPr lang="zh-CN"/>
          </a:p>
        </c:txPr>
        <c:crossAx val="762536320"/>
        <c:crosses val="autoZero"/>
        <c:auto val="1"/>
        <c:lblAlgn val="ctr"/>
        <c:lblOffset val="100"/>
        <c:noMultiLvlLbl val="0"/>
      </c:catAx>
      <c:valAx>
        <c:axId val="762536320"/>
        <c:scaling>
          <c:orientation val="minMax"/>
        </c:scaling>
        <c:delete val="1"/>
        <c:axPos val="l"/>
        <c:numFmt formatCode="General" sourceLinked="1"/>
        <c:majorTickMark val="none"/>
        <c:minorTickMark val="none"/>
        <c:tickLblPos val="nextTo"/>
        <c:crossAx val="762509952"/>
        <c:crosses val="autoZero"/>
        <c:crossBetween val="between"/>
      </c:valAx>
      <c:spPr>
        <a:noFill/>
        <a:ln w="25400">
          <a:noFill/>
        </a:ln>
        <a:effectLst/>
      </c:spPr>
    </c:plotArea>
    <c:legend>
      <c:legendPos val="b"/>
      <c:layout>
        <c:manualLayout>
          <c:xMode val="edge"/>
          <c:yMode val="edge"/>
          <c:x val="0.67789825570404605"/>
          <c:y val="2.9247660971531898E-2"/>
          <c:w val="0.25313046249287502"/>
          <c:h val="0.13277410835011599"/>
        </c:manualLayout>
      </c:layout>
      <c:overlay val="0"/>
      <c:spPr>
        <a:noFill/>
        <a:ln>
          <a:noFill/>
        </a:ln>
        <a:effectLst/>
      </c:spPr>
      <c:txPr>
        <a:bodyPr rot="0" vert="horz"/>
        <a:lstStyle/>
        <a:p>
          <a:pPr>
            <a:defRPr/>
          </a:pPr>
          <a:endParaRPr lang="zh-CN"/>
        </a:p>
      </c:txPr>
    </c:legend>
    <c:plotVisOnly val="1"/>
    <c:dispBlanksAs val="gap"/>
    <c:showDLblsOverMax val="0"/>
  </c:chart>
  <c:spPr>
    <a:noFill/>
    <a:ln>
      <a:noFill/>
    </a:ln>
    <a:effectLst/>
  </c:spPr>
  <c:txPr>
    <a:bodyPr/>
    <a:lstStyle/>
    <a:p>
      <a:pPr>
        <a:defRPr lang="zh-CN" baseline="0">
          <a:solidFill>
            <a:schemeClr val="tx1">
              <a:lumMod val="75000"/>
              <a:lumOff val="25000"/>
            </a:schemeClr>
          </a:solidFill>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439F9-33CD-4E51-ADEE-9A4E4E91BCE5}" type="datetimeFigureOut">
              <a:rPr lang="zh-CN" altLang="en-US" smtClean="0"/>
              <a:t>2021/12/20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9DE9F-5A50-493A-B778-F7CB83A7F934}" type="slidenum">
              <a:rPr lang="zh-CN" altLang="en-US" smtClean="0"/>
              <a:t>‹#›</a:t>
            </a:fld>
            <a:endParaRPr lang="zh-CN" altLang="en-US"/>
          </a:p>
        </p:txBody>
      </p:sp>
    </p:spTree>
    <p:extLst>
      <p:ext uri="{BB962C8B-B14F-4D97-AF65-F5344CB8AC3E}">
        <p14:creationId xmlns:p14="http://schemas.microsoft.com/office/powerpoint/2010/main" val="1046165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a:t>
            </a:fld>
            <a:endParaRPr lang="zh-CN" altLang="en-US"/>
          </a:p>
        </p:txBody>
      </p:sp>
    </p:spTree>
    <p:extLst>
      <p:ext uri="{BB962C8B-B14F-4D97-AF65-F5344CB8AC3E}">
        <p14:creationId xmlns:p14="http://schemas.microsoft.com/office/powerpoint/2010/main" val="2044397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2</a:t>
            </a:fld>
            <a:endParaRPr lang="zh-CN" altLang="en-US"/>
          </a:p>
        </p:txBody>
      </p:sp>
    </p:spTree>
    <p:extLst>
      <p:ext uri="{BB962C8B-B14F-4D97-AF65-F5344CB8AC3E}">
        <p14:creationId xmlns:p14="http://schemas.microsoft.com/office/powerpoint/2010/main" val="2524367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99DE9F-5A50-493A-B778-F7CB83A7F934}"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4</a:t>
            </a:fld>
            <a:endParaRPr lang="zh-CN" altLang="en-US"/>
          </a:p>
        </p:txBody>
      </p:sp>
    </p:spTree>
    <p:extLst>
      <p:ext uri="{BB962C8B-B14F-4D97-AF65-F5344CB8AC3E}">
        <p14:creationId xmlns:p14="http://schemas.microsoft.com/office/powerpoint/2010/main" val="4129112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5</a:t>
            </a:fld>
            <a:endParaRPr lang="zh-CN" altLang="en-US"/>
          </a:p>
        </p:txBody>
      </p:sp>
    </p:spTree>
    <p:extLst>
      <p:ext uri="{BB962C8B-B14F-4D97-AF65-F5344CB8AC3E}">
        <p14:creationId xmlns:p14="http://schemas.microsoft.com/office/powerpoint/2010/main" val="4232769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6</a:t>
            </a:fld>
            <a:endParaRPr lang="zh-CN" altLang="en-US"/>
          </a:p>
        </p:txBody>
      </p:sp>
    </p:spTree>
    <p:extLst>
      <p:ext uri="{BB962C8B-B14F-4D97-AF65-F5344CB8AC3E}">
        <p14:creationId xmlns:p14="http://schemas.microsoft.com/office/powerpoint/2010/main" val="2169038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7</a:t>
            </a:fld>
            <a:endParaRPr lang="zh-CN" altLang="en-US"/>
          </a:p>
        </p:txBody>
      </p:sp>
    </p:spTree>
    <p:extLst>
      <p:ext uri="{BB962C8B-B14F-4D97-AF65-F5344CB8AC3E}">
        <p14:creationId xmlns:p14="http://schemas.microsoft.com/office/powerpoint/2010/main" val="747728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8</a:t>
            </a:fld>
            <a:endParaRPr lang="zh-CN" altLang="en-US"/>
          </a:p>
        </p:txBody>
      </p:sp>
    </p:spTree>
    <p:extLst>
      <p:ext uri="{BB962C8B-B14F-4D97-AF65-F5344CB8AC3E}">
        <p14:creationId xmlns:p14="http://schemas.microsoft.com/office/powerpoint/2010/main" val="154440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9</a:t>
            </a:fld>
            <a:endParaRPr lang="zh-CN" altLang="en-US"/>
          </a:p>
        </p:txBody>
      </p:sp>
    </p:spTree>
    <p:extLst>
      <p:ext uri="{BB962C8B-B14F-4D97-AF65-F5344CB8AC3E}">
        <p14:creationId xmlns:p14="http://schemas.microsoft.com/office/powerpoint/2010/main" val="3373748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10</a:t>
            </a:fld>
            <a:endParaRPr lang="zh-CN" altLang="en-US"/>
          </a:p>
        </p:txBody>
      </p:sp>
    </p:spTree>
    <p:extLst>
      <p:ext uri="{BB962C8B-B14F-4D97-AF65-F5344CB8AC3E}">
        <p14:creationId xmlns:p14="http://schemas.microsoft.com/office/powerpoint/2010/main" val="3824058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11</a:t>
            </a:fld>
            <a:endParaRPr lang="zh-CN" altLang="en-US"/>
          </a:p>
        </p:txBody>
      </p:sp>
    </p:spTree>
    <p:extLst>
      <p:ext uri="{BB962C8B-B14F-4D97-AF65-F5344CB8AC3E}">
        <p14:creationId xmlns:p14="http://schemas.microsoft.com/office/powerpoint/2010/main" val="25923321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12</a:t>
            </a:fld>
            <a:endParaRPr lang="zh-CN" altLang="en-US"/>
          </a:p>
        </p:txBody>
      </p:sp>
    </p:spTree>
    <p:extLst>
      <p:ext uri="{BB962C8B-B14F-4D97-AF65-F5344CB8AC3E}">
        <p14:creationId xmlns:p14="http://schemas.microsoft.com/office/powerpoint/2010/main" val="1250734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13</a:t>
            </a:fld>
            <a:endParaRPr lang="zh-CN" altLang="en-US"/>
          </a:p>
        </p:txBody>
      </p:sp>
    </p:spTree>
    <p:extLst>
      <p:ext uri="{BB962C8B-B14F-4D97-AF65-F5344CB8AC3E}">
        <p14:creationId xmlns:p14="http://schemas.microsoft.com/office/powerpoint/2010/main" val="3053484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14</a:t>
            </a:fld>
            <a:endParaRPr lang="zh-CN" altLang="en-US"/>
          </a:p>
        </p:txBody>
      </p:sp>
    </p:spTree>
    <p:extLst>
      <p:ext uri="{BB962C8B-B14F-4D97-AF65-F5344CB8AC3E}">
        <p14:creationId xmlns:p14="http://schemas.microsoft.com/office/powerpoint/2010/main" val="5887266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15</a:t>
            </a:fld>
            <a:endParaRPr lang="zh-CN" altLang="en-US"/>
          </a:p>
        </p:txBody>
      </p:sp>
    </p:spTree>
    <p:extLst>
      <p:ext uri="{BB962C8B-B14F-4D97-AF65-F5344CB8AC3E}">
        <p14:creationId xmlns:p14="http://schemas.microsoft.com/office/powerpoint/2010/main" val="316972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16</a:t>
            </a:fld>
            <a:endParaRPr lang="zh-CN" altLang="en-US"/>
          </a:p>
        </p:txBody>
      </p:sp>
    </p:spTree>
    <p:extLst>
      <p:ext uri="{BB962C8B-B14F-4D97-AF65-F5344CB8AC3E}">
        <p14:creationId xmlns:p14="http://schemas.microsoft.com/office/powerpoint/2010/main" val="29692140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17</a:t>
            </a:fld>
            <a:endParaRPr lang="zh-CN" altLang="en-US"/>
          </a:p>
        </p:txBody>
      </p:sp>
    </p:spTree>
    <p:extLst>
      <p:ext uri="{BB962C8B-B14F-4D97-AF65-F5344CB8AC3E}">
        <p14:creationId xmlns:p14="http://schemas.microsoft.com/office/powerpoint/2010/main" val="29366552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18</a:t>
            </a:fld>
            <a:endParaRPr lang="zh-CN" altLang="en-US"/>
          </a:p>
        </p:txBody>
      </p:sp>
    </p:spTree>
    <p:extLst>
      <p:ext uri="{BB962C8B-B14F-4D97-AF65-F5344CB8AC3E}">
        <p14:creationId xmlns:p14="http://schemas.microsoft.com/office/powerpoint/2010/main" val="2535631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8" name="矩形 7"/>
          <p:cNvSpPr/>
          <p:nvPr/>
        </p:nvSpPr>
        <p:spPr>
          <a:xfrm rot="2785408">
            <a:off x="9522143" y="6361475"/>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2785408">
            <a:off x="9575675" y="4582084"/>
            <a:ext cx="1983092" cy="1983092"/>
          </a:xfrm>
          <a:prstGeom prst="rect">
            <a:avLst/>
          </a:prstGeom>
          <a:solidFill>
            <a:srgbClr val="E3E0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2785408">
            <a:off x="5825321" y="1295061"/>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2785408">
            <a:off x="6553592" y="2737775"/>
            <a:ext cx="1568759" cy="1568759"/>
          </a:xfrm>
          <a:prstGeom prst="rect">
            <a:avLst/>
          </a:prstGeom>
          <a:solidFill>
            <a:srgbClr val="F2F1ED">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2785408">
            <a:off x="8166045" y="3121785"/>
            <a:ext cx="778489" cy="778489"/>
          </a:xfrm>
          <a:prstGeom prst="rect">
            <a:avLst/>
          </a:prstGeom>
          <a:solidFill>
            <a:srgbClr val="D8D4C9">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2785408">
            <a:off x="6342297" y="-530385"/>
            <a:ext cx="9503763" cy="4695673"/>
          </a:xfrm>
          <a:prstGeom prst="rect">
            <a:avLst/>
          </a:prstGeom>
          <a:solidFill>
            <a:srgbClr val="37A866"/>
          </a:solidFill>
          <a:ln>
            <a:noFill/>
          </a:ln>
          <a:effectLst>
            <a:outerShdw blurRad="342900" dist="203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2785408">
            <a:off x="5754944" y="749387"/>
            <a:ext cx="5801258" cy="94645"/>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2785408">
            <a:off x="7318216" y="3839387"/>
            <a:ext cx="730342" cy="730342"/>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2785408">
            <a:off x="10875048" y="4143834"/>
            <a:ext cx="792575" cy="792575"/>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2785408">
            <a:off x="9150590" y="3799252"/>
            <a:ext cx="1709033" cy="1709033"/>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2785408">
            <a:off x="6029011" y="-21659"/>
            <a:ext cx="1224354" cy="1224354"/>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rot="2785408">
            <a:off x="11461556" y="5676964"/>
            <a:ext cx="391995" cy="391995"/>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2785408">
            <a:off x="6628538" y="1122959"/>
            <a:ext cx="2253521" cy="2253521"/>
          </a:xfrm>
          <a:prstGeom prst="rect">
            <a:avLst/>
          </a:prstGeom>
          <a:solidFill>
            <a:srgbClr val="8FC877"/>
          </a:solidFill>
          <a:ln>
            <a:noFill/>
          </a:ln>
          <a:effectLst>
            <a:outerShdw blurRad="228600" dist="38100" dir="2700000" sx="102000" sy="102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2785408">
            <a:off x="9530823" y="2823651"/>
            <a:ext cx="5906939" cy="470520"/>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userDrawn="1"/>
        </p:nvSpPr>
        <p:spPr>
          <a:xfrm rot="2785408">
            <a:off x="12164695" y="4865599"/>
            <a:ext cx="469568" cy="469568"/>
          </a:xfrm>
          <a:prstGeom prst="rect">
            <a:avLst/>
          </a:prstGeom>
          <a:solidFill>
            <a:srgbClr val="D8D4C9">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userDrawn="1"/>
        </p:nvSpPr>
        <p:spPr>
          <a:xfrm rot="2785408">
            <a:off x="10746270" y="6379813"/>
            <a:ext cx="676270" cy="676270"/>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p:cNvGrpSpPr/>
          <p:nvPr userDrawn="1"/>
        </p:nvGrpSpPr>
        <p:grpSpPr>
          <a:xfrm>
            <a:off x="-1046897" y="957720"/>
            <a:ext cx="7376472" cy="10292570"/>
            <a:chOff x="-397968" y="648004"/>
            <a:chExt cx="7376472" cy="10292570"/>
          </a:xfrm>
        </p:grpSpPr>
        <p:sp>
          <p:nvSpPr>
            <p:cNvPr id="8" name="矩形 7"/>
            <p:cNvSpPr/>
            <p:nvPr/>
          </p:nvSpPr>
          <p:spPr>
            <a:xfrm rot="13866803">
              <a:off x="2532826" y="648004"/>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13866803">
              <a:off x="1560740" y="1577783"/>
              <a:ext cx="1983092" cy="1983092"/>
            </a:xfrm>
            <a:prstGeom prst="rect">
              <a:avLst/>
            </a:prstGeom>
            <a:solidFill>
              <a:srgbClr val="F2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3866803">
              <a:off x="5803025" y="5999719"/>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3866803">
              <a:off x="4818609" y="4093590"/>
              <a:ext cx="1568759" cy="1568759"/>
            </a:xfrm>
            <a:prstGeom prst="rect">
              <a:avLst/>
            </a:prstGeom>
            <a:solidFill>
              <a:srgbClr val="F2F1ED">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13866803">
              <a:off x="3999592" y="4400282"/>
              <a:ext cx="778489" cy="778489"/>
            </a:xfrm>
            <a:prstGeom prst="rect">
              <a:avLst/>
            </a:prstGeom>
            <a:solidFill>
              <a:srgbClr val="D8D4C9">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13866803">
              <a:off x="-2931284" y="3970127"/>
              <a:ext cx="9503763" cy="4437131"/>
            </a:xfrm>
            <a:prstGeom prst="rect">
              <a:avLst/>
            </a:prstGeom>
            <a:solidFill>
              <a:srgbClr val="37A866"/>
            </a:solidFill>
            <a:ln>
              <a:noFill/>
            </a:ln>
            <a:effectLst>
              <a:outerShdw blurRad="342900" dist="203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13866803">
              <a:off x="5683038" y="6222287"/>
              <a:ext cx="730342" cy="730342"/>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13866803">
              <a:off x="2159033" y="3118200"/>
              <a:ext cx="1282471" cy="1282471"/>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13866803">
              <a:off x="126866" y="2666970"/>
              <a:ext cx="1016175" cy="1016175"/>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13866803">
              <a:off x="5445563" y="7244585"/>
              <a:ext cx="1224354" cy="1224354"/>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13866803">
              <a:off x="1294082" y="1985854"/>
              <a:ext cx="391995" cy="391995"/>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rot="13866803">
              <a:off x="-2826229" y="5702256"/>
              <a:ext cx="9941099" cy="319248"/>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3866803">
              <a:off x="1644266" y="3889133"/>
              <a:ext cx="1284869" cy="1284869"/>
            </a:xfrm>
            <a:prstGeom prst="rect">
              <a:avLst/>
            </a:prstGeom>
            <a:solidFill>
              <a:srgbClr val="8FC877"/>
            </a:solidFill>
            <a:ln>
              <a:noFill/>
            </a:ln>
            <a:effectLst>
              <a:outerShdw blurRad="228600" dist="38100" dir="2700000" sx="102000" sy="102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13866803">
              <a:off x="3592874" y="5105756"/>
              <a:ext cx="1639861" cy="1639861"/>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8" name="矩形 7"/>
          <p:cNvSpPr/>
          <p:nvPr/>
        </p:nvSpPr>
        <p:spPr>
          <a:xfrm rot="7998300">
            <a:off x="5375057" y="2597819"/>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7998300">
            <a:off x="6369678" y="2575841"/>
            <a:ext cx="1983092" cy="1983092"/>
          </a:xfrm>
          <a:prstGeom prst="rect">
            <a:avLst/>
          </a:prstGeom>
          <a:solidFill>
            <a:srgbClr val="F2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7998300">
            <a:off x="10232860" y="-1369146"/>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7998300">
            <a:off x="8449609" y="-553062"/>
            <a:ext cx="1568759" cy="1568759"/>
          </a:xfrm>
          <a:prstGeom prst="rect">
            <a:avLst/>
          </a:prstGeom>
          <a:solidFill>
            <a:srgbClr val="F2F1ED">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7998300">
            <a:off x="8922076" y="1056984"/>
            <a:ext cx="778489" cy="778489"/>
          </a:xfrm>
          <a:prstGeom prst="rect">
            <a:avLst/>
          </a:prstGeom>
          <a:solidFill>
            <a:srgbClr val="D8D4C9">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7998300">
            <a:off x="6299187" y="1579997"/>
            <a:ext cx="9833662" cy="5214142"/>
          </a:xfrm>
          <a:prstGeom prst="rect">
            <a:avLst/>
          </a:prstGeom>
          <a:solidFill>
            <a:srgbClr val="37A866"/>
          </a:solidFill>
          <a:ln>
            <a:noFill/>
          </a:ln>
          <a:effectLst>
            <a:outerShdw blurRad="342900" dist="203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7998300">
            <a:off x="7048711" y="2078289"/>
            <a:ext cx="395679" cy="395679"/>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7998300">
            <a:off x="7957981" y="1421050"/>
            <a:ext cx="1282471" cy="1282471"/>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7998300">
            <a:off x="11511201" y="-1236095"/>
            <a:ext cx="1224354" cy="1224354"/>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7998300">
            <a:off x="6165338" y="4503247"/>
            <a:ext cx="635234" cy="635234"/>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7998300">
            <a:off x="6632663" y="5582790"/>
            <a:ext cx="3877749" cy="242945"/>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rot="7998300">
            <a:off x="8729275" y="2700620"/>
            <a:ext cx="1822428" cy="1822428"/>
          </a:xfrm>
          <a:prstGeom prst="rect">
            <a:avLst/>
          </a:prstGeom>
          <a:solidFill>
            <a:srgbClr val="8FC877"/>
          </a:solidFill>
          <a:ln>
            <a:noFill/>
          </a:ln>
          <a:effectLst>
            <a:outerShdw blurRad="228600" dist="38100" dir="2700000" sx="102000" sy="102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7998300">
            <a:off x="9613759" y="448192"/>
            <a:ext cx="1639861" cy="1639861"/>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7998300">
            <a:off x="8543491" y="3333713"/>
            <a:ext cx="7459541" cy="467348"/>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rot="7998300">
            <a:off x="5140208" y="6131540"/>
            <a:ext cx="1452916" cy="1452916"/>
          </a:xfrm>
          <a:prstGeom prst="rect">
            <a:avLst/>
          </a:prstGeom>
          <a:solidFill>
            <a:srgbClr val="8FC877"/>
          </a:solidFill>
          <a:ln>
            <a:noFill/>
          </a:ln>
          <a:effectLst>
            <a:outerShdw blurRad="228600" dist="38100" dir="2700000" sx="102000" sy="102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rot="7998300">
            <a:off x="7103090" y="4017775"/>
            <a:ext cx="1016175" cy="1016175"/>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grpSp>
        <p:nvGrpSpPr>
          <p:cNvPr id="8" name="组合 7"/>
          <p:cNvGrpSpPr/>
          <p:nvPr userDrawn="1"/>
        </p:nvGrpSpPr>
        <p:grpSpPr>
          <a:xfrm rot="16678406">
            <a:off x="-1157425" y="-1846990"/>
            <a:ext cx="5134209" cy="4018165"/>
            <a:chOff x="5128830" y="-1267454"/>
            <a:chExt cx="10122510" cy="7922139"/>
          </a:xfrm>
        </p:grpSpPr>
        <p:sp>
          <p:nvSpPr>
            <p:cNvPr id="9" name="矩形 8"/>
            <p:cNvSpPr/>
            <p:nvPr/>
          </p:nvSpPr>
          <p:spPr>
            <a:xfrm rot="2334366">
              <a:off x="9688441" y="5479206"/>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2334366">
              <a:off x="9558079" y="3651806"/>
              <a:ext cx="1983092" cy="1983092"/>
            </a:xfrm>
            <a:prstGeom prst="rect">
              <a:avLst/>
            </a:prstGeom>
            <a:solidFill>
              <a:srgbClr val="F2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2334366">
              <a:off x="5360570" y="939979"/>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2334366">
              <a:off x="6295363" y="2247601"/>
              <a:ext cx="1568759" cy="1568759"/>
            </a:xfrm>
            <a:prstGeom prst="rect">
              <a:avLst/>
            </a:prstGeom>
            <a:solidFill>
              <a:srgbClr val="F2F1ED">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2334366">
              <a:off x="7895898" y="2472448"/>
              <a:ext cx="778489" cy="778489"/>
            </a:xfrm>
            <a:prstGeom prst="rect">
              <a:avLst/>
            </a:prstGeom>
            <a:solidFill>
              <a:srgbClr val="D8D4C9">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2334366">
              <a:off x="5747577" y="-1267454"/>
              <a:ext cx="9503763" cy="4437131"/>
            </a:xfrm>
            <a:prstGeom prst="rect">
              <a:avLst/>
            </a:prstGeom>
            <a:solidFill>
              <a:srgbClr val="37A866"/>
            </a:solidFill>
            <a:ln>
              <a:noFill/>
            </a:ln>
            <a:effectLst>
              <a:outerShdw blurRad="342900" dist="203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2334366">
              <a:off x="5128830" y="110260"/>
              <a:ext cx="5801258" cy="94645"/>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2334366">
              <a:off x="7146295" y="3298158"/>
              <a:ext cx="730342" cy="730342"/>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2334366">
              <a:off x="10716190" y="3130321"/>
              <a:ext cx="792575" cy="792575"/>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2334366">
              <a:off x="9017483" y="2950419"/>
              <a:ext cx="1709033" cy="1709033"/>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rot="2334366">
              <a:off x="5393234" y="-395479"/>
              <a:ext cx="1224354" cy="1224354"/>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2334366">
              <a:off x="11473749" y="4601468"/>
              <a:ext cx="391995" cy="391995"/>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2334366">
              <a:off x="6200254" y="589123"/>
              <a:ext cx="2253521" cy="2253521"/>
            </a:xfrm>
            <a:prstGeom prst="rect">
              <a:avLst/>
            </a:prstGeom>
            <a:solidFill>
              <a:srgbClr val="8FC877"/>
            </a:solidFill>
            <a:ln>
              <a:noFill/>
            </a:ln>
            <a:effectLst>
              <a:outerShdw blurRad="228600" dist="38100" dir="2700000" sx="102000" sy="102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rot="2334366">
              <a:off x="8969509" y="2245181"/>
              <a:ext cx="5906939" cy="470520"/>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D446D32-82EC-46D4-A3CB-FC88618F1CF9}" type="slidenum">
              <a:rPr lang="zh-CN" altLang="en-US" smtClean="0"/>
              <a:t>‹#›</a:t>
            </a:fld>
            <a:endParaRPr lang="zh-CN" altLang="en-US"/>
          </a:p>
        </p:txBody>
      </p:sp>
      <p:sp>
        <p:nvSpPr>
          <p:cNvPr id="11" name="矩形 10"/>
          <p:cNvSpPr/>
          <p:nvPr userDrawn="1"/>
        </p:nvSpPr>
        <p:spPr>
          <a:xfrm>
            <a:off x="8192256" y="5326225"/>
            <a:ext cx="775136" cy="230832"/>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精美</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课件：</a:t>
            </a:r>
            <a:r>
              <a:rPr lang="en-US" altLang="zh-CN" sz="100" dirty="0">
                <a:solidFill>
                  <a:prstClr val="white"/>
                </a:solidFill>
                <a:latin typeface="Calibri"/>
                <a:ea typeface="宋体"/>
              </a:rPr>
              <a:t>www.1ppt.com/kejian/             </a:t>
            </a:r>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r>
              <a:rPr lang="zh-CN" altLang="en-US" sz="100" dirty="0">
                <a:solidFill>
                  <a:prstClr val="white"/>
                </a:solidFill>
                <a:latin typeface="Calibri"/>
                <a:ea typeface="宋体"/>
              </a:rPr>
              <a:t>工作总结</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www.1ppt.com/xiazai/zongjie/ </a:t>
            </a:r>
            <a:r>
              <a:rPr lang="zh-CN" altLang="en-US" sz="100" dirty="0">
                <a:solidFill>
                  <a:prstClr val="white"/>
                </a:solidFill>
                <a:latin typeface="Calibri"/>
                <a:ea typeface="宋体"/>
              </a:rPr>
              <a:t>工作计划：</a:t>
            </a:r>
            <a:r>
              <a:rPr lang="en-US" altLang="zh-CN" sz="100" dirty="0">
                <a:solidFill>
                  <a:prstClr val="white"/>
                </a:solidFill>
                <a:latin typeface="Calibri"/>
                <a:ea typeface="宋体"/>
              </a:rPr>
              <a:t>www.1ppt.com/xiazai/jihua/</a:t>
            </a:r>
          </a:p>
          <a:p>
            <a:r>
              <a:rPr lang="zh-CN" altLang="en-US" sz="100" dirty="0">
                <a:solidFill>
                  <a:prstClr val="white"/>
                </a:solidFill>
                <a:latin typeface="Calibri"/>
                <a:ea typeface="宋体"/>
              </a:rPr>
              <a:t>商务</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www.1ppt.com/moban/shangwu/  </a:t>
            </a:r>
            <a:r>
              <a:rPr lang="zh-CN" altLang="en-US" sz="100" dirty="0">
                <a:solidFill>
                  <a:prstClr val="white"/>
                </a:solidFill>
                <a:latin typeface="Calibri"/>
                <a:ea typeface="宋体"/>
              </a:rPr>
              <a:t>个人简历</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www.1ppt.com/xiazai/jianli/  </a:t>
            </a:r>
          </a:p>
          <a:p>
            <a:r>
              <a:rPr lang="zh-CN" altLang="en-US" sz="100" dirty="0">
                <a:solidFill>
                  <a:prstClr val="white"/>
                </a:solidFill>
                <a:latin typeface="Calibri"/>
                <a:ea typeface="宋体"/>
              </a:rPr>
              <a:t>毕业答辩</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www.1ppt.com/xiazai/dabian/  </a:t>
            </a:r>
            <a:r>
              <a:rPr lang="zh-CN" altLang="en-US" sz="100" dirty="0">
                <a:solidFill>
                  <a:prstClr val="white"/>
                </a:solidFill>
                <a:latin typeface="Calibri"/>
                <a:ea typeface="宋体"/>
              </a:rPr>
              <a:t>工作汇报</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www.1ppt.com/xiazai/huibao/    </a:t>
            </a:r>
          </a:p>
          <a:p>
            <a:r>
              <a:rPr lang="en-US" altLang="zh-CN" sz="100" dirty="0">
                <a:solidFill>
                  <a:prstClr val="white"/>
                </a:solidFill>
                <a:latin typeface="Calibri"/>
                <a:ea typeface="宋体"/>
              </a:rPr>
              <a:t>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D446D32-82EC-46D4-A3CB-FC88618F1CF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D446D32-82EC-46D4-A3CB-FC88618F1CF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D446D32-82EC-46D4-A3CB-FC88618F1CF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D446D32-82EC-46D4-A3CB-FC88618F1CF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446D32-82EC-46D4-A3CB-FC88618F1CF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446D32-82EC-46D4-A3CB-FC88618F1CF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78400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69386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640287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44264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08943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97748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406713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108657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172743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233273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44031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7C66D5-2F89-43E3-B00E-90D8A16004B2}" type="datetimeFigureOut">
              <a:rPr lang="zh-CN" altLang="en-US" smtClean="0"/>
              <a:t>2021/12/20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446D32-82EC-46D4-A3CB-FC88618F1CF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885022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chart" Target="../charts/chart4.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3.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13.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707922" y="3203755"/>
            <a:ext cx="5191433" cy="830997"/>
          </a:xfrm>
          <a:prstGeom prst="rect">
            <a:avLst/>
          </a:prstGeom>
          <a:noFill/>
        </p:spPr>
        <p:txBody>
          <a:bodyPr wrap="square" rtlCol="0">
            <a:spAutoFit/>
          </a:bodyPr>
          <a:lstStyle/>
          <a:p>
            <a:pPr algn="dist"/>
            <a:r>
              <a:rPr lang="zh-CN" altLang="en-US" sz="4800" b="1" dirty="0">
                <a:solidFill>
                  <a:schemeClr val="tx1">
                    <a:lumMod val="75000"/>
                    <a:lumOff val="25000"/>
                  </a:schemeClr>
                </a:solidFill>
                <a:cs typeface="+mn-ea"/>
                <a:sym typeface="+mn-lt"/>
              </a:rPr>
              <a:t>通用商</a:t>
            </a:r>
            <a:r>
              <a:rPr lang="zh-CN" altLang="en-US" sz="4800" b="1" dirty="0" smtClean="0">
                <a:solidFill>
                  <a:schemeClr val="tx1">
                    <a:lumMod val="75000"/>
                    <a:lumOff val="25000"/>
                  </a:schemeClr>
                </a:solidFill>
                <a:cs typeface="+mn-ea"/>
                <a:sym typeface="+mn-lt"/>
              </a:rPr>
              <a:t>务</a:t>
            </a:r>
            <a:r>
              <a:rPr lang="en-US" altLang="zh-CN" sz="4800" b="1" dirty="0" smtClean="0">
                <a:solidFill>
                  <a:schemeClr val="tx1">
                    <a:lumMod val="75000"/>
                    <a:lumOff val="25000"/>
                  </a:schemeClr>
                </a:solidFill>
                <a:cs typeface="+mn-ea"/>
                <a:sym typeface="+mn-lt"/>
              </a:rPr>
              <a:t>PPT</a:t>
            </a:r>
            <a:r>
              <a:rPr lang="zh-CN" altLang="en-US" sz="4800" b="1" dirty="0" smtClean="0">
                <a:solidFill>
                  <a:schemeClr val="tx1">
                    <a:lumMod val="75000"/>
                    <a:lumOff val="25000"/>
                  </a:schemeClr>
                </a:solidFill>
                <a:cs typeface="+mn-ea"/>
                <a:sym typeface="+mn-lt"/>
              </a:rPr>
              <a:t>模</a:t>
            </a:r>
            <a:r>
              <a:rPr lang="zh-CN" altLang="en-US" sz="4800" b="1" dirty="0">
                <a:solidFill>
                  <a:schemeClr val="tx1">
                    <a:lumMod val="75000"/>
                    <a:lumOff val="25000"/>
                  </a:schemeClr>
                </a:solidFill>
                <a:cs typeface="+mn-ea"/>
                <a:sym typeface="+mn-lt"/>
              </a:rPr>
              <a:t>板</a:t>
            </a:r>
          </a:p>
        </p:txBody>
      </p:sp>
      <p:sp>
        <p:nvSpPr>
          <p:cNvPr id="20" name="文本框 19"/>
          <p:cNvSpPr txBox="1"/>
          <p:nvPr/>
        </p:nvSpPr>
        <p:spPr>
          <a:xfrm>
            <a:off x="707922" y="2136028"/>
            <a:ext cx="5351566" cy="1107996"/>
          </a:xfrm>
          <a:prstGeom prst="rect">
            <a:avLst/>
          </a:prstGeom>
          <a:noFill/>
        </p:spPr>
        <p:txBody>
          <a:bodyPr wrap="square" rtlCol="0">
            <a:spAutoFit/>
          </a:bodyPr>
          <a:lstStyle/>
          <a:p>
            <a:r>
              <a:rPr lang="zh-CN" altLang="en-US" sz="6600" b="1" dirty="0">
                <a:solidFill>
                  <a:srgbClr val="37A866"/>
                </a:solidFill>
                <a:cs typeface="+mn-ea"/>
                <a:sym typeface="+mn-lt"/>
              </a:rPr>
              <a:t>绿</a:t>
            </a:r>
            <a:r>
              <a:rPr lang="zh-CN" altLang="en-US" sz="6600" b="1" dirty="0" smtClean="0">
                <a:solidFill>
                  <a:srgbClr val="37A866"/>
                </a:solidFill>
                <a:cs typeface="+mn-ea"/>
                <a:sym typeface="+mn-lt"/>
              </a:rPr>
              <a:t>色方形</a:t>
            </a:r>
            <a:endParaRPr lang="zh-CN" altLang="en-US" sz="6600" b="1" dirty="0">
              <a:solidFill>
                <a:srgbClr val="37A866"/>
              </a:solidFill>
              <a:cs typeface="+mn-ea"/>
              <a:sym typeface="+mn-lt"/>
            </a:endParaRPr>
          </a:p>
        </p:txBody>
      </p:sp>
      <p:cxnSp>
        <p:nvCxnSpPr>
          <p:cNvPr id="21" name="直接连接符 20"/>
          <p:cNvCxnSpPr/>
          <p:nvPr/>
        </p:nvCxnSpPr>
        <p:spPr>
          <a:xfrm>
            <a:off x="855405" y="4231312"/>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81663" y="4427873"/>
            <a:ext cx="5277825" cy="1323439"/>
          </a:xfrm>
          <a:prstGeom prst="rect">
            <a:avLst/>
          </a:prstGeom>
          <a:noFill/>
        </p:spPr>
        <p:txBody>
          <a:bodyPr wrap="square" rtlCol="0">
            <a:spAutoFit/>
          </a:bodyPr>
          <a:lstStyle/>
          <a:p>
            <a:r>
              <a:rPr lang="en-US" altLang="zh-CN" sz="1600" dirty="0" smtClean="0">
                <a:solidFill>
                  <a:schemeClr val="tx1">
                    <a:lumMod val="50000"/>
                    <a:lumOff val="50000"/>
                  </a:schemeClr>
                </a:solidFill>
                <a:cs typeface="+mn-ea"/>
                <a:sym typeface="+mn-lt"/>
              </a:rPr>
              <a:t>LIFE WAS LIKE A BOX OF CHOCOLATES, YOU NEVER KNOW WHAT YOU’RE GO TO GET.</a:t>
            </a:r>
          </a:p>
          <a:p>
            <a:endParaRPr lang="en-US" altLang="zh-CN" sz="1600" dirty="0">
              <a:solidFill>
                <a:schemeClr val="tx1">
                  <a:lumMod val="50000"/>
                  <a:lumOff val="50000"/>
                </a:schemeClr>
              </a:solidFill>
              <a:cs typeface="+mn-ea"/>
              <a:sym typeface="+mn-lt"/>
            </a:endParaRPr>
          </a:p>
          <a:p>
            <a:r>
              <a:rPr lang="zh-CN" altLang="en-US" sz="1600" dirty="0">
                <a:solidFill>
                  <a:schemeClr val="tx1">
                    <a:lumMod val="50000"/>
                    <a:lumOff val="50000"/>
                  </a:schemeClr>
                </a:solidFill>
                <a:cs typeface="+mn-ea"/>
                <a:sym typeface="+mn-lt"/>
              </a:rPr>
              <a:t>汇报人：第一</a:t>
            </a:r>
            <a:r>
              <a:rPr lang="en-US" altLang="zh-CN" sz="1600" dirty="0">
                <a:solidFill>
                  <a:schemeClr val="tx1">
                    <a:lumMod val="50000"/>
                    <a:lumOff val="50000"/>
                  </a:schemeClr>
                </a:solidFill>
                <a:cs typeface="+mn-ea"/>
                <a:sym typeface="+mn-lt"/>
              </a:rPr>
              <a:t>PPT   </a:t>
            </a:r>
            <a:r>
              <a:rPr lang="zh-CN" altLang="en-US" sz="1600" dirty="0">
                <a:solidFill>
                  <a:schemeClr val="tx1">
                    <a:lumMod val="50000"/>
                    <a:lumOff val="50000"/>
                  </a:schemeClr>
                </a:solidFill>
                <a:cs typeface="+mn-ea"/>
                <a:sym typeface="+mn-lt"/>
              </a:rPr>
              <a:t>时间：</a:t>
            </a:r>
            <a:r>
              <a:rPr lang="en-US" altLang="zh-CN" sz="1600" dirty="0">
                <a:solidFill>
                  <a:schemeClr val="tx1">
                    <a:lumMod val="50000"/>
                    <a:lumOff val="50000"/>
                  </a:schemeClr>
                </a:solidFill>
                <a:cs typeface="+mn-ea"/>
                <a:sym typeface="+mn-lt"/>
              </a:rPr>
              <a:t>2030.12.12</a:t>
            </a:r>
          </a:p>
          <a:p>
            <a:endParaRPr lang="zh-CN" altLang="en-US" sz="16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rot="5400000">
            <a:off x="3012850" y="1145582"/>
            <a:ext cx="2137666" cy="954107"/>
          </a:xfrm>
          <a:prstGeom prst="rect">
            <a:avLst/>
          </a:prstGeom>
          <a:noFill/>
        </p:spPr>
        <p:txBody>
          <a:bodyPr wrap="square" rtlCol="0">
            <a:spAutoFit/>
          </a:bodyPr>
          <a:lstStyle/>
          <a:p>
            <a:r>
              <a:rPr lang="en-US" altLang="zh-CN" sz="2800" dirty="0">
                <a:solidFill>
                  <a:schemeClr val="bg1">
                    <a:lumMod val="65000"/>
                  </a:schemeClr>
                </a:solidFill>
                <a:cs typeface="+mn-ea"/>
                <a:sym typeface="+mn-lt"/>
              </a:rPr>
              <a:t>CONTENTS</a:t>
            </a:r>
            <a:endParaRPr lang="zh-CN" altLang="en-US" sz="2800" dirty="0">
              <a:solidFill>
                <a:schemeClr val="bg1">
                  <a:lumMod val="65000"/>
                </a:schemeClr>
              </a:solidFill>
              <a:cs typeface="+mn-ea"/>
              <a:sym typeface="+mn-lt"/>
            </a:endParaRPr>
          </a:p>
        </p:txBody>
      </p:sp>
      <p:sp>
        <p:nvSpPr>
          <p:cNvPr id="23" name="圆角矩形 22"/>
          <p:cNvSpPr/>
          <p:nvPr/>
        </p:nvSpPr>
        <p:spPr>
          <a:xfrm>
            <a:off x="6659879" y="1445342"/>
            <a:ext cx="699565" cy="699565"/>
          </a:xfrm>
          <a:prstGeom prst="roundRect">
            <a:avLst>
              <a:gd name="adj" fmla="val 5856"/>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cs typeface="+mn-ea"/>
                <a:sym typeface="+mn-lt"/>
              </a:rPr>
              <a:t>1</a:t>
            </a:r>
            <a:endParaRPr lang="zh-CN" altLang="en-US" sz="3600" b="1" dirty="0">
              <a:cs typeface="+mn-ea"/>
              <a:sym typeface="+mn-lt"/>
            </a:endParaRPr>
          </a:p>
        </p:txBody>
      </p:sp>
      <p:sp>
        <p:nvSpPr>
          <p:cNvPr id="24" name="圆角矩形 23"/>
          <p:cNvSpPr/>
          <p:nvPr/>
        </p:nvSpPr>
        <p:spPr>
          <a:xfrm>
            <a:off x="6659879" y="2487090"/>
            <a:ext cx="699565" cy="699565"/>
          </a:xfrm>
          <a:prstGeom prst="roundRect">
            <a:avLst>
              <a:gd name="adj" fmla="val 5856"/>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cs typeface="+mn-ea"/>
                <a:sym typeface="+mn-lt"/>
              </a:rPr>
              <a:t>2</a:t>
            </a:r>
            <a:endParaRPr lang="zh-CN" altLang="en-US" sz="3600" b="1" dirty="0">
              <a:cs typeface="+mn-ea"/>
              <a:sym typeface="+mn-lt"/>
            </a:endParaRPr>
          </a:p>
        </p:txBody>
      </p:sp>
      <p:sp>
        <p:nvSpPr>
          <p:cNvPr id="25" name="圆角矩形 24"/>
          <p:cNvSpPr/>
          <p:nvPr/>
        </p:nvSpPr>
        <p:spPr>
          <a:xfrm>
            <a:off x="6659879" y="3528838"/>
            <a:ext cx="699565" cy="699565"/>
          </a:xfrm>
          <a:prstGeom prst="roundRect">
            <a:avLst>
              <a:gd name="adj" fmla="val 5856"/>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cs typeface="+mn-ea"/>
                <a:sym typeface="+mn-lt"/>
              </a:rPr>
              <a:t>3</a:t>
            </a:r>
            <a:endParaRPr lang="zh-CN" altLang="en-US" sz="3600" b="1" dirty="0">
              <a:cs typeface="+mn-ea"/>
              <a:sym typeface="+mn-lt"/>
            </a:endParaRPr>
          </a:p>
        </p:txBody>
      </p:sp>
      <p:sp>
        <p:nvSpPr>
          <p:cNvPr id="26" name="圆角矩形 25"/>
          <p:cNvSpPr/>
          <p:nvPr/>
        </p:nvSpPr>
        <p:spPr>
          <a:xfrm>
            <a:off x="6659879" y="4570587"/>
            <a:ext cx="699565" cy="699565"/>
          </a:xfrm>
          <a:prstGeom prst="roundRect">
            <a:avLst>
              <a:gd name="adj" fmla="val 5856"/>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cs typeface="+mn-ea"/>
                <a:sym typeface="+mn-lt"/>
              </a:rPr>
              <a:t>4</a:t>
            </a:r>
            <a:endParaRPr lang="zh-CN" altLang="en-US" sz="3600" b="1" dirty="0">
              <a:cs typeface="+mn-ea"/>
              <a:sym typeface="+mn-lt"/>
            </a:endParaRPr>
          </a:p>
        </p:txBody>
      </p:sp>
      <p:sp>
        <p:nvSpPr>
          <p:cNvPr id="27" name="文本框 26"/>
          <p:cNvSpPr txBox="1"/>
          <p:nvPr/>
        </p:nvSpPr>
        <p:spPr>
          <a:xfrm>
            <a:off x="4557462" y="553802"/>
            <a:ext cx="1107996" cy="1783080"/>
          </a:xfrm>
          <a:prstGeom prst="rect">
            <a:avLst/>
          </a:prstGeom>
          <a:noFill/>
        </p:spPr>
        <p:txBody>
          <a:bodyPr vert="eaVert" wrap="square" rtlCol="0">
            <a:spAutoFit/>
          </a:bodyPr>
          <a:lstStyle/>
          <a:p>
            <a:r>
              <a:rPr lang="zh-CN" altLang="en-US" sz="6000" dirty="0">
                <a:solidFill>
                  <a:schemeClr val="tx1">
                    <a:lumMod val="75000"/>
                    <a:lumOff val="25000"/>
                  </a:schemeClr>
                </a:solidFill>
                <a:cs typeface="+mn-ea"/>
                <a:sym typeface="+mn-lt"/>
              </a:rPr>
              <a:t>目录</a:t>
            </a:r>
          </a:p>
        </p:txBody>
      </p:sp>
      <p:cxnSp>
        <p:nvCxnSpPr>
          <p:cNvPr id="28" name="直接连接符 27"/>
          <p:cNvCxnSpPr/>
          <p:nvPr/>
        </p:nvCxnSpPr>
        <p:spPr>
          <a:xfrm>
            <a:off x="4450377" y="644515"/>
            <a:ext cx="0" cy="44491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7574280" y="1502736"/>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sp>
        <p:nvSpPr>
          <p:cNvPr id="30" name="文本框 29"/>
          <p:cNvSpPr txBox="1"/>
          <p:nvPr/>
        </p:nvSpPr>
        <p:spPr>
          <a:xfrm>
            <a:off x="7574280" y="2546095"/>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sp>
        <p:nvSpPr>
          <p:cNvPr id="31" name="文本框 30"/>
          <p:cNvSpPr txBox="1"/>
          <p:nvPr/>
        </p:nvSpPr>
        <p:spPr>
          <a:xfrm>
            <a:off x="7574280" y="3589454"/>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sp>
        <p:nvSpPr>
          <p:cNvPr id="32" name="文本框 31"/>
          <p:cNvSpPr txBox="1"/>
          <p:nvPr/>
        </p:nvSpPr>
        <p:spPr>
          <a:xfrm>
            <a:off x="7574280" y="4632812"/>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椭圆 21"/>
          <p:cNvSpPr/>
          <p:nvPr/>
        </p:nvSpPr>
        <p:spPr>
          <a:xfrm>
            <a:off x="962527" y="883919"/>
            <a:ext cx="1592179" cy="1592179"/>
          </a:xfrm>
          <a:prstGeom prst="ellipse">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800" dirty="0">
                <a:solidFill>
                  <a:schemeClr val="bg1"/>
                </a:solidFill>
                <a:latin typeface="Agency FB" panose="020B0503020202020204" pitchFamily="34" charset="0"/>
                <a:cs typeface="+mn-ea"/>
                <a:sym typeface="+mn-lt"/>
              </a:rPr>
              <a:t>1</a:t>
            </a:r>
            <a:endParaRPr lang="zh-CN" altLang="en-US" sz="13800" dirty="0">
              <a:solidFill>
                <a:schemeClr val="bg1"/>
              </a:solidFill>
              <a:latin typeface="Agency FB" panose="020B0503020202020204" pitchFamily="34" charset="0"/>
              <a:cs typeface="+mn-ea"/>
              <a:sym typeface="+mn-lt"/>
            </a:endParaRPr>
          </a:p>
        </p:txBody>
      </p:sp>
      <p:sp>
        <p:nvSpPr>
          <p:cNvPr id="23" name="文本框 22"/>
          <p:cNvSpPr txBox="1"/>
          <p:nvPr/>
        </p:nvSpPr>
        <p:spPr>
          <a:xfrm>
            <a:off x="962527" y="2788920"/>
            <a:ext cx="4569593" cy="707886"/>
          </a:xfrm>
          <a:prstGeom prst="rect">
            <a:avLst/>
          </a:prstGeom>
          <a:noFill/>
        </p:spPr>
        <p:txBody>
          <a:bodyPr wrap="square" rtlCol="0">
            <a:spAutoFit/>
          </a:bodyPr>
          <a:lstStyle/>
          <a:p>
            <a:r>
              <a:rPr lang="zh-CN" altLang="en-US" sz="4000" dirty="0">
                <a:solidFill>
                  <a:schemeClr val="tx1">
                    <a:lumMod val="75000"/>
                    <a:lumOff val="25000"/>
                  </a:schemeClr>
                </a:solidFill>
                <a:cs typeface="+mn-ea"/>
                <a:sym typeface="+mn-lt"/>
              </a:rPr>
              <a:t>在此输入你的标题</a:t>
            </a:r>
          </a:p>
        </p:txBody>
      </p:sp>
      <p:cxnSp>
        <p:nvCxnSpPr>
          <p:cNvPr id="24" name="直接连接符 23"/>
          <p:cNvCxnSpPr/>
          <p:nvPr/>
        </p:nvCxnSpPr>
        <p:spPr>
          <a:xfrm>
            <a:off x="1036269" y="3613067"/>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962527" y="3809628"/>
            <a:ext cx="5277825" cy="584775"/>
          </a:xfrm>
          <a:prstGeom prst="rect">
            <a:avLst/>
          </a:prstGeom>
          <a:noFill/>
        </p:spPr>
        <p:txBody>
          <a:bodyPr wrap="square" rtlCol="0">
            <a:spAutoFit/>
          </a:bodyPr>
          <a:lstStyle/>
          <a:p>
            <a:r>
              <a:rPr lang="en-US" altLang="zh-CN" sz="1600" dirty="0">
                <a:solidFill>
                  <a:schemeClr val="tx1">
                    <a:lumMod val="50000"/>
                    <a:lumOff val="50000"/>
                  </a:schemeClr>
                </a:solidFill>
                <a:cs typeface="+mn-ea"/>
                <a:sym typeface="+mn-lt"/>
              </a:rPr>
              <a:t>Life was like a box of chocolates, you never know what you’re go to get.</a:t>
            </a:r>
            <a:endParaRPr lang="zh-CN" altLang="en-US" sz="16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7551058" y="4748349"/>
            <a:ext cx="2135052" cy="1063896"/>
          </a:xfrm>
          <a:prstGeom prst="rect">
            <a:avLst/>
          </a:prstGeom>
          <a:solidFill>
            <a:srgbClr val="EDEA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75000"/>
                    <a:lumOff val="25000"/>
                  </a:schemeClr>
                </a:solidFill>
                <a:cs typeface="+mn-ea"/>
                <a:sym typeface="+mn-lt"/>
              </a:rPr>
              <a:t>点击替换文字点击替换文字点击替换文字点击替换文字点击替换文字点击替换文字</a:t>
            </a:r>
          </a:p>
        </p:txBody>
      </p:sp>
      <p:sp>
        <p:nvSpPr>
          <p:cNvPr id="32" name="矩形 31"/>
          <p:cNvSpPr/>
          <p:nvPr/>
        </p:nvSpPr>
        <p:spPr>
          <a:xfrm>
            <a:off x="7551058" y="2156944"/>
            <a:ext cx="2135052" cy="1051984"/>
          </a:xfrm>
          <a:prstGeom prst="rect">
            <a:avLst/>
          </a:prstGeom>
          <a:solidFill>
            <a:srgbClr val="EDEA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1400" dirty="0">
                <a:solidFill>
                  <a:schemeClr val="tx1">
                    <a:lumMod val="75000"/>
                    <a:lumOff val="25000"/>
                  </a:schemeClr>
                </a:solidFill>
                <a:cs typeface="+mn-ea"/>
                <a:sym typeface="+mn-lt"/>
              </a:rPr>
              <a:t>点击替换文字点击替换文字点击替换文字点击替换文字点击替换文字点击替换文字</a:t>
            </a:r>
          </a:p>
        </p:txBody>
      </p:sp>
      <p:sp>
        <p:nvSpPr>
          <p:cNvPr id="31" name="矩形 30"/>
          <p:cNvSpPr/>
          <p:nvPr/>
        </p:nvSpPr>
        <p:spPr>
          <a:xfrm>
            <a:off x="2497908" y="4969933"/>
            <a:ext cx="2135052" cy="1052286"/>
          </a:xfrm>
          <a:prstGeom prst="rect">
            <a:avLst/>
          </a:prstGeom>
          <a:solidFill>
            <a:srgbClr val="EDEA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75000"/>
                    <a:lumOff val="25000"/>
                  </a:schemeClr>
                </a:solidFill>
                <a:cs typeface="+mn-ea"/>
                <a:sym typeface="+mn-lt"/>
              </a:rPr>
              <a:t>点击替换文字点击替换文字点击替换文字点击替换文字点击替换文字点击替换文字</a:t>
            </a:r>
          </a:p>
        </p:txBody>
      </p:sp>
      <p:sp>
        <p:nvSpPr>
          <p:cNvPr id="30" name="矩形 29"/>
          <p:cNvSpPr/>
          <p:nvPr/>
        </p:nvSpPr>
        <p:spPr>
          <a:xfrm>
            <a:off x="2497908" y="2338009"/>
            <a:ext cx="2135052" cy="1031845"/>
          </a:xfrm>
          <a:prstGeom prst="rect">
            <a:avLst/>
          </a:prstGeom>
          <a:solidFill>
            <a:srgbClr val="EDEA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1400" dirty="0">
                <a:solidFill>
                  <a:schemeClr val="tx1">
                    <a:lumMod val="75000"/>
                    <a:lumOff val="25000"/>
                  </a:schemeClr>
                </a:solidFill>
                <a:cs typeface="+mn-ea"/>
                <a:sym typeface="+mn-lt"/>
              </a:rPr>
              <a:t>点击替换文字点击替换文字点击替换文字点击替换文字点击替换文字点击替换文字</a:t>
            </a:r>
          </a:p>
        </p:txBody>
      </p:sp>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096000" y="1960638"/>
            <a:ext cx="0" cy="425268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a:off x="5943600" y="1960638"/>
            <a:ext cx="304800" cy="304800"/>
          </a:xfrm>
          <a:prstGeom prst="ellipse">
            <a:avLst/>
          </a:prstGeom>
          <a:solidFill>
            <a:schemeClr val="bg1"/>
          </a:solidFill>
          <a:ln w="76200">
            <a:solidFill>
              <a:srgbClr val="0055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p:cNvSpPr/>
          <p:nvPr/>
        </p:nvSpPr>
        <p:spPr>
          <a:xfrm>
            <a:off x="5943600" y="5908524"/>
            <a:ext cx="304800" cy="304800"/>
          </a:xfrm>
          <a:prstGeom prst="ellipse">
            <a:avLst/>
          </a:prstGeom>
          <a:solidFill>
            <a:schemeClr val="bg1"/>
          </a:solidFill>
          <a:ln w="76200">
            <a:solidFill>
              <a:srgbClr val="0055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椭圆 23"/>
          <p:cNvSpPr/>
          <p:nvPr/>
        </p:nvSpPr>
        <p:spPr>
          <a:xfrm>
            <a:off x="5943600" y="3276600"/>
            <a:ext cx="304800" cy="304800"/>
          </a:xfrm>
          <a:prstGeom prst="ellipse">
            <a:avLst/>
          </a:prstGeom>
          <a:solidFill>
            <a:schemeClr val="bg1"/>
          </a:solidFill>
          <a:ln w="76200">
            <a:solidFill>
              <a:srgbClr val="37A8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5936343" y="4592562"/>
            <a:ext cx="304800" cy="304800"/>
          </a:xfrm>
          <a:prstGeom prst="ellipse">
            <a:avLst/>
          </a:prstGeom>
          <a:solidFill>
            <a:schemeClr val="bg1"/>
          </a:solidFill>
          <a:ln w="76200">
            <a:solidFill>
              <a:srgbClr val="37A8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25"/>
          <p:cNvSpPr/>
          <p:nvPr/>
        </p:nvSpPr>
        <p:spPr>
          <a:xfrm>
            <a:off x="2482668" y="1888066"/>
            <a:ext cx="2264230" cy="449943"/>
          </a:xfrm>
          <a:custGeom>
            <a:avLst/>
            <a:gdLst>
              <a:gd name="connsiteX0" fmla="*/ 74992 w 2264230"/>
              <a:gd name="connsiteY0" fmla="*/ 0 h 449943"/>
              <a:gd name="connsiteX1" fmla="*/ 2087637 w 2264230"/>
              <a:gd name="connsiteY1" fmla="*/ 0 h 449943"/>
              <a:gd name="connsiteX2" fmla="*/ 2162629 w 2264230"/>
              <a:gd name="connsiteY2" fmla="*/ 74992 h 449943"/>
              <a:gd name="connsiteX3" fmla="*/ 2162629 w 2264230"/>
              <a:gd name="connsiteY3" fmla="*/ 166043 h 449943"/>
              <a:gd name="connsiteX4" fmla="*/ 2264230 w 2264230"/>
              <a:gd name="connsiteY4" fmla="*/ 224971 h 449943"/>
              <a:gd name="connsiteX5" fmla="*/ 2162629 w 2264230"/>
              <a:gd name="connsiteY5" fmla="*/ 283900 h 449943"/>
              <a:gd name="connsiteX6" fmla="*/ 2162629 w 2264230"/>
              <a:gd name="connsiteY6" fmla="*/ 374951 h 449943"/>
              <a:gd name="connsiteX7" fmla="*/ 2087637 w 2264230"/>
              <a:gd name="connsiteY7" fmla="*/ 449943 h 449943"/>
              <a:gd name="connsiteX8" fmla="*/ 74992 w 2264230"/>
              <a:gd name="connsiteY8" fmla="*/ 449943 h 449943"/>
              <a:gd name="connsiteX9" fmla="*/ 0 w 2264230"/>
              <a:gd name="connsiteY9" fmla="*/ 374951 h 449943"/>
              <a:gd name="connsiteX10" fmla="*/ 0 w 2264230"/>
              <a:gd name="connsiteY10" fmla="*/ 74992 h 449943"/>
              <a:gd name="connsiteX11" fmla="*/ 74992 w 2264230"/>
              <a:gd name="connsiteY11" fmla="*/ 0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4230" h="449943">
                <a:moveTo>
                  <a:pt x="74992" y="0"/>
                </a:moveTo>
                <a:lnTo>
                  <a:pt x="2087637" y="0"/>
                </a:lnTo>
                <a:cubicBezTo>
                  <a:pt x="2129054" y="0"/>
                  <a:pt x="2162629" y="33575"/>
                  <a:pt x="2162629" y="74992"/>
                </a:cubicBezTo>
                <a:lnTo>
                  <a:pt x="2162629" y="166043"/>
                </a:lnTo>
                <a:lnTo>
                  <a:pt x="2264230" y="224971"/>
                </a:lnTo>
                <a:lnTo>
                  <a:pt x="2162629" y="283900"/>
                </a:lnTo>
                <a:lnTo>
                  <a:pt x="2162629" y="374951"/>
                </a:lnTo>
                <a:cubicBezTo>
                  <a:pt x="2162629" y="416368"/>
                  <a:pt x="2129054" y="449943"/>
                  <a:pt x="2087637" y="449943"/>
                </a:cubicBezTo>
                <a:lnTo>
                  <a:pt x="74992" y="449943"/>
                </a:lnTo>
                <a:cubicBezTo>
                  <a:pt x="33575" y="449943"/>
                  <a:pt x="0" y="416368"/>
                  <a:pt x="0" y="374951"/>
                </a:cubicBezTo>
                <a:lnTo>
                  <a:pt x="0" y="74992"/>
                </a:lnTo>
                <a:cubicBezTo>
                  <a:pt x="0" y="33575"/>
                  <a:pt x="33575" y="0"/>
                  <a:pt x="74992" y="0"/>
                </a:cubicBezTo>
                <a:close/>
              </a:path>
            </a:pathLst>
          </a:cu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cs typeface="+mn-ea"/>
                <a:sym typeface="+mn-lt"/>
              </a:rPr>
              <a:t>输入你的标题</a:t>
            </a:r>
          </a:p>
        </p:txBody>
      </p:sp>
      <p:sp>
        <p:nvSpPr>
          <p:cNvPr id="27" name="任意多边形 26"/>
          <p:cNvSpPr/>
          <p:nvPr/>
        </p:nvSpPr>
        <p:spPr>
          <a:xfrm>
            <a:off x="2494279" y="4519990"/>
            <a:ext cx="2264230" cy="449943"/>
          </a:xfrm>
          <a:custGeom>
            <a:avLst/>
            <a:gdLst>
              <a:gd name="connsiteX0" fmla="*/ 74992 w 2264230"/>
              <a:gd name="connsiteY0" fmla="*/ 0 h 449943"/>
              <a:gd name="connsiteX1" fmla="*/ 2087637 w 2264230"/>
              <a:gd name="connsiteY1" fmla="*/ 0 h 449943"/>
              <a:gd name="connsiteX2" fmla="*/ 2162629 w 2264230"/>
              <a:gd name="connsiteY2" fmla="*/ 74992 h 449943"/>
              <a:gd name="connsiteX3" fmla="*/ 2162629 w 2264230"/>
              <a:gd name="connsiteY3" fmla="*/ 166043 h 449943"/>
              <a:gd name="connsiteX4" fmla="*/ 2264230 w 2264230"/>
              <a:gd name="connsiteY4" fmla="*/ 224971 h 449943"/>
              <a:gd name="connsiteX5" fmla="*/ 2162629 w 2264230"/>
              <a:gd name="connsiteY5" fmla="*/ 283900 h 449943"/>
              <a:gd name="connsiteX6" fmla="*/ 2162629 w 2264230"/>
              <a:gd name="connsiteY6" fmla="*/ 374951 h 449943"/>
              <a:gd name="connsiteX7" fmla="*/ 2087637 w 2264230"/>
              <a:gd name="connsiteY7" fmla="*/ 449943 h 449943"/>
              <a:gd name="connsiteX8" fmla="*/ 74992 w 2264230"/>
              <a:gd name="connsiteY8" fmla="*/ 449943 h 449943"/>
              <a:gd name="connsiteX9" fmla="*/ 0 w 2264230"/>
              <a:gd name="connsiteY9" fmla="*/ 374951 h 449943"/>
              <a:gd name="connsiteX10" fmla="*/ 0 w 2264230"/>
              <a:gd name="connsiteY10" fmla="*/ 74992 h 449943"/>
              <a:gd name="connsiteX11" fmla="*/ 74992 w 2264230"/>
              <a:gd name="connsiteY11" fmla="*/ 0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4230" h="449943">
                <a:moveTo>
                  <a:pt x="74992" y="0"/>
                </a:moveTo>
                <a:lnTo>
                  <a:pt x="2087637" y="0"/>
                </a:lnTo>
                <a:cubicBezTo>
                  <a:pt x="2129054" y="0"/>
                  <a:pt x="2162629" y="33575"/>
                  <a:pt x="2162629" y="74992"/>
                </a:cubicBezTo>
                <a:lnTo>
                  <a:pt x="2162629" y="166043"/>
                </a:lnTo>
                <a:lnTo>
                  <a:pt x="2264230" y="224971"/>
                </a:lnTo>
                <a:lnTo>
                  <a:pt x="2162629" y="283900"/>
                </a:lnTo>
                <a:lnTo>
                  <a:pt x="2162629" y="374951"/>
                </a:lnTo>
                <a:cubicBezTo>
                  <a:pt x="2162629" y="416368"/>
                  <a:pt x="2129054" y="449943"/>
                  <a:pt x="2087637" y="449943"/>
                </a:cubicBezTo>
                <a:lnTo>
                  <a:pt x="74992" y="449943"/>
                </a:lnTo>
                <a:cubicBezTo>
                  <a:pt x="33575" y="449943"/>
                  <a:pt x="0" y="416368"/>
                  <a:pt x="0" y="374951"/>
                </a:cubicBezTo>
                <a:lnTo>
                  <a:pt x="0" y="74992"/>
                </a:lnTo>
                <a:cubicBezTo>
                  <a:pt x="0" y="33575"/>
                  <a:pt x="33575" y="0"/>
                  <a:pt x="74992" y="0"/>
                </a:cubicBezTo>
                <a:close/>
              </a:path>
            </a:pathLst>
          </a:cu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cs typeface="+mn-ea"/>
                <a:sym typeface="+mn-lt"/>
              </a:rPr>
              <a:t>输入你的标题</a:t>
            </a:r>
          </a:p>
        </p:txBody>
      </p:sp>
      <p:sp>
        <p:nvSpPr>
          <p:cNvPr id="28" name="任意多边形 27"/>
          <p:cNvSpPr/>
          <p:nvPr/>
        </p:nvSpPr>
        <p:spPr>
          <a:xfrm rot="10800000" flipV="1">
            <a:off x="7437120" y="3208927"/>
            <a:ext cx="2264230" cy="440146"/>
          </a:xfrm>
          <a:custGeom>
            <a:avLst/>
            <a:gdLst>
              <a:gd name="connsiteX0" fmla="*/ 74992 w 2264230"/>
              <a:gd name="connsiteY0" fmla="*/ 0 h 449943"/>
              <a:gd name="connsiteX1" fmla="*/ 2087637 w 2264230"/>
              <a:gd name="connsiteY1" fmla="*/ 0 h 449943"/>
              <a:gd name="connsiteX2" fmla="*/ 2162629 w 2264230"/>
              <a:gd name="connsiteY2" fmla="*/ 74992 h 449943"/>
              <a:gd name="connsiteX3" fmla="*/ 2162629 w 2264230"/>
              <a:gd name="connsiteY3" fmla="*/ 166043 h 449943"/>
              <a:gd name="connsiteX4" fmla="*/ 2264230 w 2264230"/>
              <a:gd name="connsiteY4" fmla="*/ 224971 h 449943"/>
              <a:gd name="connsiteX5" fmla="*/ 2162629 w 2264230"/>
              <a:gd name="connsiteY5" fmla="*/ 283900 h 449943"/>
              <a:gd name="connsiteX6" fmla="*/ 2162629 w 2264230"/>
              <a:gd name="connsiteY6" fmla="*/ 374951 h 449943"/>
              <a:gd name="connsiteX7" fmla="*/ 2087637 w 2264230"/>
              <a:gd name="connsiteY7" fmla="*/ 449943 h 449943"/>
              <a:gd name="connsiteX8" fmla="*/ 74992 w 2264230"/>
              <a:gd name="connsiteY8" fmla="*/ 449943 h 449943"/>
              <a:gd name="connsiteX9" fmla="*/ 0 w 2264230"/>
              <a:gd name="connsiteY9" fmla="*/ 374951 h 449943"/>
              <a:gd name="connsiteX10" fmla="*/ 0 w 2264230"/>
              <a:gd name="connsiteY10" fmla="*/ 74992 h 449943"/>
              <a:gd name="connsiteX11" fmla="*/ 74992 w 2264230"/>
              <a:gd name="connsiteY11" fmla="*/ 0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4230" h="449943">
                <a:moveTo>
                  <a:pt x="74992" y="0"/>
                </a:moveTo>
                <a:lnTo>
                  <a:pt x="2087637" y="0"/>
                </a:lnTo>
                <a:cubicBezTo>
                  <a:pt x="2129054" y="0"/>
                  <a:pt x="2162629" y="33575"/>
                  <a:pt x="2162629" y="74992"/>
                </a:cubicBezTo>
                <a:lnTo>
                  <a:pt x="2162629" y="166043"/>
                </a:lnTo>
                <a:lnTo>
                  <a:pt x="2264230" y="224971"/>
                </a:lnTo>
                <a:lnTo>
                  <a:pt x="2162629" y="283900"/>
                </a:lnTo>
                <a:lnTo>
                  <a:pt x="2162629" y="374951"/>
                </a:lnTo>
                <a:cubicBezTo>
                  <a:pt x="2162629" y="416368"/>
                  <a:pt x="2129054" y="449943"/>
                  <a:pt x="2087637" y="449943"/>
                </a:cubicBezTo>
                <a:lnTo>
                  <a:pt x="74992" y="449943"/>
                </a:lnTo>
                <a:cubicBezTo>
                  <a:pt x="33575" y="449943"/>
                  <a:pt x="0" y="416368"/>
                  <a:pt x="0" y="374951"/>
                </a:cubicBezTo>
                <a:lnTo>
                  <a:pt x="0" y="74992"/>
                </a:lnTo>
                <a:cubicBezTo>
                  <a:pt x="0" y="33575"/>
                  <a:pt x="33575" y="0"/>
                  <a:pt x="74992" y="0"/>
                </a:cubicBezTo>
                <a:close/>
              </a:path>
            </a:pathLst>
          </a:cu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cs typeface="+mn-ea"/>
                <a:sym typeface="+mn-lt"/>
              </a:rPr>
              <a:t>输入你的标题</a:t>
            </a:r>
          </a:p>
        </p:txBody>
      </p:sp>
      <p:sp>
        <p:nvSpPr>
          <p:cNvPr id="34" name="任意多边形 33"/>
          <p:cNvSpPr/>
          <p:nvPr/>
        </p:nvSpPr>
        <p:spPr>
          <a:xfrm rot="10800000" flipV="1">
            <a:off x="7421880" y="5812244"/>
            <a:ext cx="2264230" cy="440146"/>
          </a:xfrm>
          <a:custGeom>
            <a:avLst/>
            <a:gdLst>
              <a:gd name="connsiteX0" fmla="*/ 74992 w 2264230"/>
              <a:gd name="connsiteY0" fmla="*/ 0 h 449943"/>
              <a:gd name="connsiteX1" fmla="*/ 2087637 w 2264230"/>
              <a:gd name="connsiteY1" fmla="*/ 0 h 449943"/>
              <a:gd name="connsiteX2" fmla="*/ 2162629 w 2264230"/>
              <a:gd name="connsiteY2" fmla="*/ 74992 h 449943"/>
              <a:gd name="connsiteX3" fmla="*/ 2162629 w 2264230"/>
              <a:gd name="connsiteY3" fmla="*/ 166043 h 449943"/>
              <a:gd name="connsiteX4" fmla="*/ 2264230 w 2264230"/>
              <a:gd name="connsiteY4" fmla="*/ 224971 h 449943"/>
              <a:gd name="connsiteX5" fmla="*/ 2162629 w 2264230"/>
              <a:gd name="connsiteY5" fmla="*/ 283900 h 449943"/>
              <a:gd name="connsiteX6" fmla="*/ 2162629 w 2264230"/>
              <a:gd name="connsiteY6" fmla="*/ 374951 h 449943"/>
              <a:gd name="connsiteX7" fmla="*/ 2087637 w 2264230"/>
              <a:gd name="connsiteY7" fmla="*/ 449943 h 449943"/>
              <a:gd name="connsiteX8" fmla="*/ 74992 w 2264230"/>
              <a:gd name="connsiteY8" fmla="*/ 449943 h 449943"/>
              <a:gd name="connsiteX9" fmla="*/ 0 w 2264230"/>
              <a:gd name="connsiteY9" fmla="*/ 374951 h 449943"/>
              <a:gd name="connsiteX10" fmla="*/ 0 w 2264230"/>
              <a:gd name="connsiteY10" fmla="*/ 74992 h 449943"/>
              <a:gd name="connsiteX11" fmla="*/ 74992 w 2264230"/>
              <a:gd name="connsiteY11" fmla="*/ 0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4230" h="449943">
                <a:moveTo>
                  <a:pt x="74992" y="0"/>
                </a:moveTo>
                <a:lnTo>
                  <a:pt x="2087637" y="0"/>
                </a:lnTo>
                <a:cubicBezTo>
                  <a:pt x="2129054" y="0"/>
                  <a:pt x="2162629" y="33575"/>
                  <a:pt x="2162629" y="74992"/>
                </a:cubicBezTo>
                <a:lnTo>
                  <a:pt x="2162629" y="166043"/>
                </a:lnTo>
                <a:lnTo>
                  <a:pt x="2264230" y="224971"/>
                </a:lnTo>
                <a:lnTo>
                  <a:pt x="2162629" y="283900"/>
                </a:lnTo>
                <a:lnTo>
                  <a:pt x="2162629" y="374951"/>
                </a:lnTo>
                <a:cubicBezTo>
                  <a:pt x="2162629" y="416368"/>
                  <a:pt x="2129054" y="449943"/>
                  <a:pt x="2087637" y="449943"/>
                </a:cubicBezTo>
                <a:lnTo>
                  <a:pt x="74992" y="449943"/>
                </a:lnTo>
                <a:cubicBezTo>
                  <a:pt x="33575" y="449943"/>
                  <a:pt x="0" y="416368"/>
                  <a:pt x="0" y="374951"/>
                </a:cubicBezTo>
                <a:lnTo>
                  <a:pt x="0" y="74992"/>
                </a:lnTo>
                <a:cubicBezTo>
                  <a:pt x="0" y="33575"/>
                  <a:pt x="33575" y="0"/>
                  <a:pt x="74992" y="0"/>
                </a:cubicBezTo>
                <a:close/>
              </a:path>
            </a:pathLst>
          </a:cu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cs typeface="+mn-ea"/>
                <a:sym typeface="+mn-lt"/>
              </a:rPr>
              <a:t>输入你的标题</a:t>
            </a:r>
          </a:p>
        </p:txBody>
      </p:sp>
      <p:cxnSp>
        <p:nvCxnSpPr>
          <p:cNvPr id="36" name="直接连接符 35"/>
          <p:cNvCxnSpPr>
            <a:endCxn id="22" idx="2"/>
          </p:cNvCxnSpPr>
          <p:nvPr/>
        </p:nvCxnSpPr>
        <p:spPr>
          <a:xfrm>
            <a:off x="4731658" y="2113038"/>
            <a:ext cx="1211942" cy="0"/>
          </a:xfrm>
          <a:prstGeom prst="line">
            <a:avLst/>
          </a:prstGeom>
          <a:ln w="25400">
            <a:solidFill>
              <a:srgbClr val="00554E"/>
            </a:solidFill>
            <a:prstDash val="dash"/>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6282510" y="3421865"/>
            <a:ext cx="1166222" cy="15239"/>
          </a:xfrm>
          <a:prstGeom prst="line">
            <a:avLst/>
          </a:prstGeom>
          <a:ln w="25400">
            <a:solidFill>
              <a:srgbClr val="37A866"/>
            </a:solidFill>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6297749" y="6014599"/>
            <a:ext cx="1166222" cy="15239"/>
          </a:xfrm>
          <a:prstGeom prst="line">
            <a:avLst/>
          </a:prstGeom>
          <a:ln w="25400">
            <a:solidFill>
              <a:srgbClr val="00554E"/>
            </a:solidFill>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p:cNvCxnSpPr>
            <a:endCxn id="25" idx="2"/>
          </p:cNvCxnSpPr>
          <p:nvPr/>
        </p:nvCxnSpPr>
        <p:spPr>
          <a:xfrm flipV="1">
            <a:off x="4743269" y="4744962"/>
            <a:ext cx="1193074" cy="15239"/>
          </a:xfrm>
          <a:prstGeom prst="line">
            <a:avLst/>
          </a:prstGeom>
          <a:ln w="25400">
            <a:solidFill>
              <a:srgbClr val="37A866"/>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 name="任意多边形 4"/>
          <p:cNvSpPr/>
          <p:nvPr/>
        </p:nvSpPr>
        <p:spPr>
          <a:xfrm rot="1758189">
            <a:off x="4983461" y="3825708"/>
            <a:ext cx="1416673" cy="1776278"/>
          </a:xfrm>
          <a:custGeom>
            <a:avLst/>
            <a:gdLst>
              <a:gd name="connsiteX0" fmla="*/ 1190171 w 2380342"/>
              <a:gd name="connsiteY0" fmla="*/ 0 h 2984563"/>
              <a:gd name="connsiteX1" fmla="*/ 2380342 w 2380342"/>
              <a:gd name="connsiteY1" fmla="*/ 2052019 h 2984563"/>
              <a:gd name="connsiteX2" fmla="*/ 2119375 w 2380342"/>
              <a:gd name="connsiteY2" fmla="*/ 2052019 h 2984563"/>
              <a:gd name="connsiteX3" fmla="*/ 2380342 w 2380342"/>
              <a:gd name="connsiteY3" fmla="*/ 2501962 h 2984563"/>
              <a:gd name="connsiteX4" fmla="*/ 2100434 w 2380342"/>
              <a:gd name="connsiteY4" fmla="*/ 2501962 h 2984563"/>
              <a:gd name="connsiteX5" fmla="*/ 2380342 w 2380342"/>
              <a:gd name="connsiteY5" fmla="*/ 2984563 h 2984563"/>
              <a:gd name="connsiteX6" fmla="*/ 0 w 2380342"/>
              <a:gd name="connsiteY6" fmla="*/ 2984563 h 2984563"/>
              <a:gd name="connsiteX7" fmla="*/ 279909 w 2380342"/>
              <a:gd name="connsiteY7" fmla="*/ 2501962 h 2984563"/>
              <a:gd name="connsiteX8" fmla="*/ 0 w 2380342"/>
              <a:gd name="connsiteY8" fmla="*/ 2501962 h 2984563"/>
              <a:gd name="connsiteX9" fmla="*/ 260967 w 2380342"/>
              <a:gd name="connsiteY9" fmla="*/ 2052019 h 2984563"/>
              <a:gd name="connsiteX10" fmla="*/ 0 w 2380342"/>
              <a:gd name="connsiteY10" fmla="*/ 2052019 h 298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0342" h="2984563">
                <a:moveTo>
                  <a:pt x="1190171" y="0"/>
                </a:moveTo>
                <a:lnTo>
                  <a:pt x="2380342" y="2052019"/>
                </a:lnTo>
                <a:lnTo>
                  <a:pt x="2119375" y="2052019"/>
                </a:lnTo>
                <a:lnTo>
                  <a:pt x="2380342" y="2501962"/>
                </a:lnTo>
                <a:lnTo>
                  <a:pt x="2100434" y="2501962"/>
                </a:lnTo>
                <a:lnTo>
                  <a:pt x="2380342" y="2984563"/>
                </a:lnTo>
                <a:lnTo>
                  <a:pt x="0" y="2984563"/>
                </a:lnTo>
                <a:lnTo>
                  <a:pt x="279909" y="2501962"/>
                </a:lnTo>
                <a:lnTo>
                  <a:pt x="0" y="2501962"/>
                </a:lnTo>
                <a:lnTo>
                  <a:pt x="260967" y="2052019"/>
                </a:lnTo>
                <a:lnTo>
                  <a:pt x="0" y="2052019"/>
                </a:lnTo>
                <a:close/>
              </a:path>
            </a:pathLst>
          </a:cu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任意多边形 5"/>
          <p:cNvSpPr/>
          <p:nvPr/>
        </p:nvSpPr>
        <p:spPr>
          <a:xfrm rot="12558189">
            <a:off x="5852826" y="2276718"/>
            <a:ext cx="1416673" cy="1776278"/>
          </a:xfrm>
          <a:custGeom>
            <a:avLst/>
            <a:gdLst>
              <a:gd name="connsiteX0" fmla="*/ 1190171 w 2380342"/>
              <a:gd name="connsiteY0" fmla="*/ 0 h 2984563"/>
              <a:gd name="connsiteX1" fmla="*/ 2380342 w 2380342"/>
              <a:gd name="connsiteY1" fmla="*/ 2052019 h 2984563"/>
              <a:gd name="connsiteX2" fmla="*/ 2119375 w 2380342"/>
              <a:gd name="connsiteY2" fmla="*/ 2052019 h 2984563"/>
              <a:gd name="connsiteX3" fmla="*/ 2380342 w 2380342"/>
              <a:gd name="connsiteY3" fmla="*/ 2501962 h 2984563"/>
              <a:gd name="connsiteX4" fmla="*/ 2100434 w 2380342"/>
              <a:gd name="connsiteY4" fmla="*/ 2501962 h 2984563"/>
              <a:gd name="connsiteX5" fmla="*/ 2380342 w 2380342"/>
              <a:gd name="connsiteY5" fmla="*/ 2984563 h 2984563"/>
              <a:gd name="connsiteX6" fmla="*/ 0 w 2380342"/>
              <a:gd name="connsiteY6" fmla="*/ 2984563 h 2984563"/>
              <a:gd name="connsiteX7" fmla="*/ 279909 w 2380342"/>
              <a:gd name="connsiteY7" fmla="*/ 2501962 h 2984563"/>
              <a:gd name="connsiteX8" fmla="*/ 0 w 2380342"/>
              <a:gd name="connsiteY8" fmla="*/ 2501962 h 2984563"/>
              <a:gd name="connsiteX9" fmla="*/ 260967 w 2380342"/>
              <a:gd name="connsiteY9" fmla="*/ 2052019 h 2984563"/>
              <a:gd name="connsiteX10" fmla="*/ 0 w 2380342"/>
              <a:gd name="connsiteY10" fmla="*/ 2052019 h 298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0342" h="2984563">
                <a:moveTo>
                  <a:pt x="1190171" y="0"/>
                </a:moveTo>
                <a:lnTo>
                  <a:pt x="2380342" y="2052019"/>
                </a:lnTo>
                <a:lnTo>
                  <a:pt x="2119375" y="2052019"/>
                </a:lnTo>
                <a:lnTo>
                  <a:pt x="2380342" y="2501962"/>
                </a:lnTo>
                <a:lnTo>
                  <a:pt x="2100434" y="2501962"/>
                </a:lnTo>
                <a:lnTo>
                  <a:pt x="2380342" y="2984563"/>
                </a:lnTo>
                <a:lnTo>
                  <a:pt x="0" y="2984563"/>
                </a:lnTo>
                <a:lnTo>
                  <a:pt x="279909" y="2501962"/>
                </a:lnTo>
                <a:lnTo>
                  <a:pt x="0" y="2501962"/>
                </a:lnTo>
                <a:lnTo>
                  <a:pt x="260967" y="2052019"/>
                </a:lnTo>
                <a:lnTo>
                  <a:pt x="0" y="2052019"/>
                </a:lnTo>
                <a:close/>
              </a:path>
            </a:pathLst>
          </a:cu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任意多边形 6"/>
          <p:cNvSpPr/>
          <p:nvPr/>
        </p:nvSpPr>
        <p:spPr>
          <a:xfrm rot="17958189">
            <a:off x="6192639" y="3485895"/>
            <a:ext cx="1416673" cy="1776278"/>
          </a:xfrm>
          <a:custGeom>
            <a:avLst/>
            <a:gdLst>
              <a:gd name="connsiteX0" fmla="*/ 1190171 w 2380342"/>
              <a:gd name="connsiteY0" fmla="*/ 0 h 2984563"/>
              <a:gd name="connsiteX1" fmla="*/ 2380342 w 2380342"/>
              <a:gd name="connsiteY1" fmla="*/ 2052019 h 2984563"/>
              <a:gd name="connsiteX2" fmla="*/ 2119375 w 2380342"/>
              <a:gd name="connsiteY2" fmla="*/ 2052019 h 2984563"/>
              <a:gd name="connsiteX3" fmla="*/ 2380342 w 2380342"/>
              <a:gd name="connsiteY3" fmla="*/ 2501962 h 2984563"/>
              <a:gd name="connsiteX4" fmla="*/ 2100434 w 2380342"/>
              <a:gd name="connsiteY4" fmla="*/ 2501962 h 2984563"/>
              <a:gd name="connsiteX5" fmla="*/ 2380342 w 2380342"/>
              <a:gd name="connsiteY5" fmla="*/ 2984563 h 2984563"/>
              <a:gd name="connsiteX6" fmla="*/ 0 w 2380342"/>
              <a:gd name="connsiteY6" fmla="*/ 2984563 h 2984563"/>
              <a:gd name="connsiteX7" fmla="*/ 279909 w 2380342"/>
              <a:gd name="connsiteY7" fmla="*/ 2501962 h 2984563"/>
              <a:gd name="connsiteX8" fmla="*/ 0 w 2380342"/>
              <a:gd name="connsiteY8" fmla="*/ 2501962 h 2984563"/>
              <a:gd name="connsiteX9" fmla="*/ 260967 w 2380342"/>
              <a:gd name="connsiteY9" fmla="*/ 2052019 h 2984563"/>
              <a:gd name="connsiteX10" fmla="*/ 0 w 2380342"/>
              <a:gd name="connsiteY10" fmla="*/ 2052019 h 298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0342" h="2984563">
                <a:moveTo>
                  <a:pt x="1190171" y="0"/>
                </a:moveTo>
                <a:lnTo>
                  <a:pt x="2380342" y="2052019"/>
                </a:lnTo>
                <a:lnTo>
                  <a:pt x="2119375" y="2052019"/>
                </a:lnTo>
                <a:lnTo>
                  <a:pt x="2380342" y="2501962"/>
                </a:lnTo>
                <a:lnTo>
                  <a:pt x="2100434" y="2501962"/>
                </a:lnTo>
                <a:lnTo>
                  <a:pt x="2380342" y="2984563"/>
                </a:lnTo>
                <a:lnTo>
                  <a:pt x="0" y="2984563"/>
                </a:lnTo>
                <a:lnTo>
                  <a:pt x="279909" y="2501962"/>
                </a:lnTo>
                <a:lnTo>
                  <a:pt x="0" y="2501962"/>
                </a:lnTo>
                <a:lnTo>
                  <a:pt x="260967" y="2052019"/>
                </a:lnTo>
                <a:lnTo>
                  <a:pt x="0" y="2052019"/>
                </a:lnTo>
                <a:close/>
              </a:path>
            </a:pathLst>
          </a:cu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任意多边形 7"/>
          <p:cNvSpPr/>
          <p:nvPr/>
        </p:nvSpPr>
        <p:spPr>
          <a:xfrm rot="7158189">
            <a:off x="4643649" y="2616531"/>
            <a:ext cx="1416673" cy="1776278"/>
          </a:xfrm>
          <a:custGeom>
            <a:avLst/>
            <a:gdLst>
              <a:gd name="connsiteX0" fmla="*/ 1190171 w 2380342"/>
              <a:gd name="connsiteY0" fmla="*/ 0 h 2984563"/>
              <a:gd name="connsiteX1" fmla="*/ 2380342 w 2380342"/>
              <a:gd name="connsiteY1" fmla="*/ 2052019 h 2984563"/>
              <a:gd name="connsiteX2" fmla="*/ 2119375 w 2380342"/>
              <a:gd name="connsiteY2" fmla="*/ 2052019 h 2984563"/>
              <a:gd name="connsiteX3" fmla="*/ 2380342 w 2380342"/>
              <a:gd name="connsiteY3" fmla="*/ 2501962 h 2984563"/>
              <a:gd name="connsiteX4" fmla="*/ 2100434 w 2380342"/>
              <a:gd name="connsiteY4" fmla="*/ 2501962 h 2984563"/>
              <a:gd name="connsiteX5" fmla="*/ 2380342 w 2380342"/>
              <a:gd name="connsiteY5" fmla="*/ 2984563 h 2984563"/>
              <a:gd name="connsiteX6" fmla="*/ 0 w 2380342"/>
              <a:gd name="connsiteY6" fmla="*/ 2984563 h 2984563"/>
              <a:gd name="connsiteX7" fmla="*/ 279909 w 2380342"/>
              <a:gd name="connsiteY7" fmla="*/ 2501962 h 2984563"/>
              <a:gd name="connsiteX8" fmla="*/ 0 w 2380342"/>
              <a:gd name="connsiteY8" fmla="*/ 2501962 h 2984563"/>
              <a:gd name="connsiteX9" fmla="*/ 260967 w 2380342"/>
              <a:gd name="connsiteY9" fmla="*/ 2052019 h 2984563"/>
              <a:gd name="connsiteX10" fmla="*/ 0 w 2380342"/>
              <a:gd name="connsiteY10" fmla="*/ 2052019 h 298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0342" h="2984563">
                <a:moveTo>
                  <a:pt x="1190171" y="0"/>
                </a:moveTo>
                <a:lnTo>
                  <a:pt x="2380342" y="2052019"/>
                </a:lnTo>
                <a:lnTo>
                  <a:pt x="2119375" y="2052019"/>
                </a:lnTo>
                <a:lnTo>
                  <a:pt x="2380342" y="2501962"/>
                </a:lnTo>
                <a:lnTo>
                  <a:pt x="2100434" y="2501962"/>
                </a:lnTo>
                <a:lnTo>
                  <a:pt x="2380342" y="2984563"/>
                </a:lnTo>
                <a:lnTo>
                  <a:pt x="0" y="2984563"/>
                </a:lnTo>
                <a:lnTo>
                  <a:pt x="279909" y="2501962"/>
                </a:lnTo>
                <a:lnTo>
                  <a:pt x="0" y="2501962"/>
                </a:lnTo>
                <a:lnTo>
                  <a:pt x="260967" y="2052019"/>
                </a:lnTo>
                <a:lnTo>
                  <a:pt x="0" y="2052019"/>
                </a:lnTo>
                <a:close/>
              </a:path>
            </a:pathLst>
          </a:cu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9" name="图片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424459" y="2723306"/>
            <a:ext cx="506013" cy="506013"/>
          </a:xfrm>
          <a:prstGeom prst="rect">
            <a:avLst/>
          </a:prstGeom>
        </p:spPr>
      </p:pic>
      <p:pic>
        <p:nvPicPr>
          <p:cNvPr id="10" name="图片 9"/>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91283" y="4587824"/>
            <a:ext cx="506013" cy="506013"/>
          </a:xfrm>
          <a:prstGeom prst="rect">
            <a:avLst/>
          </a:prstGeom>
        </p:spPr>
      </p:pic>
      <p:pic>
        <p:nvPicPr>
          <p:cNvPr id="11" name="图片 10"/>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25338" y="4201019"/>
            <a:ext cx="467262" cy="467262"/>
          </a:xfrm>
          <a:prstGeom prst="rect">
            <a:avLst/>
          </a:prstGeom>
        </p:spPr>
      </p:pic>
      <p:pic>
        <p:nvPicPr>
          <p:cNvPr id="12" name="图片 1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910434" y="3213589"/>
            <a:ext cx="480849" cy="480849"/>
          </a:xfrm>
          <a:prstGeom prst="rect">
            <a:avLst/>
          </a:prstGeom>
        </p:spPr>
      </p:pic>
      <p:sp>
        <p:nvSpPr>
          <p:cNvPr id="13" name="文本框 12"/>
          <p:cNvSpPr txBox="1"/>
          <p:nvPr/>
        </p:nvSpPr>
        <p:spPr>
          <a:xfrm>
            <a:off x="1859552" y="2791606"/>
            <a:ext cx="2225040" cy="369332"/>
          </a:xfrm>
          <a:prstGeom prst="rect">
            <a:avLst/>
          </a:prstGeom>
          <a:noFill/>
        </p:spPr>
        <p:txBody>
          <a:bodyPr wrap="square" rtlCol="0">
            <a:spAutoFit/>
          </a:bodyPr>
          <a:lstStyle>
            <a:defPPr>
              <a:defRPr lang="zh-CN"/>
            </a:defPPr>
            <a:lvl1pP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r"/>
            <a:r>
              <a:rPr lang="zh-CN" altLang="en-US" dirty="0">
                <a:solidFill>
                  <a:schemeClr val="tx1">
                    <a:lumMod val="75000"/>
                    <a:lumOff val="25000"/>
                  </a:schemeClr>
                </a:solidFill>
                <a:effectLst/>
                <a:latin typeface="+mn-lt"/>
                <a:ea typeface="+mn-ea"/>
                <a:cs typeface="+mn-ea"/>
                <a:sym typeface="+mn-lt"/>
              </a:rPr>
              <a:t>输入你的标题</a:t>
            </a:r>
          </a:p>
        </p:txBody>
      </p:sp>
      <p:sp>
        <p:nvSpPr>
          <p:cNvPr id="14" name="文本框 13"/>
          <p:cNvSpPr txBox="1"/>
          <p:nvPr/>
        </p:nvSpPr>
        <p:spPr>
          <a:xfrm>
            <a:off x="1219472" y="3130160"/>
            <a:ext cx="2865120" cy="738664"/>
          </a:xfrm>
          <a:prstGeom prst="rect">
            <a:avLst/>
          </a:prstGeom>
          <a:noFill/>
        </p:spPr>
        <p:txBody>
          <a:bodyPr wrap="square" rtlCol="0">
            <a:spAutoFit/>
          </a:bodyPr>
          <a:lstStyle/>
          <a:p>
            <a:pPr algn="r"/>
            <a:r>
              <a:rPr lang="zh-CN" altLang="en-US" sz="14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5" name="文本框 14"/>
          <p:cNvSpPr txBox="1"/>
          <p:nvPr/>
        </p:nvSpPr>
        <p:spPr>
          <a:xfrm>
            <a:off x="1859552" y="4834815"/>
            <a:ext cx="2225040" cy="369332"/>
          </a:xfrm>
          <a:prstGeom prst="rect">
            <a:avLst/>
          </a:prstGeom>
          <a:noFill/>
        </p:spPr>
        <p:txBody>
          <a:bodyPr wrap="square" rtlCol="0">
            <a:spAutoFit/>
          </a:bodyPr>
          <a:lstStyle>
            <a:defPPr>
              <a:defRPr lang="zh-CN"/>
            </a:defPPr>
            <a:lvl1pP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r"/>
            <a:r>
              <a:rPr lang="zh-CN" altLang="en-US" dirty="0">
                <a:solidFill>
                  <a:schemeClr val="tx1">
                    <a:lumMod val="75000"/>
                    <a:lumOff val="25000"/>
                  </a:schemeClr>
                </a:solidFill>
                <a:effectLst/>
                <a:latin typeface="+mn-lt"/>
                <a:ea typeface="+mn-ea"/>
                <a:cs typeface="+mn-ea"/>
                <a:sym typeface="+mn-lt"/>
              </a:rPr>
              <a:t>输入你的标题</a:t>
            </a:r>
          </a:p>
        </p:txBody>
      </p:sp>
      <p:sp>
        <p:nvSpPr>
          <p:cNvPr id="16" name="文本框 15"/>
          <p:cNvSpPr txBox="1"/>
          <p:nvPr/>
        </p:nvSpPr>
        <p:spPr>
          <a:xfrm>
            <a:off x="1219472" y="5173369"/>
            <a:ext cx="2865120" cy="738664"/>
          </a:xfrm>
          <a:prstGeom prst="rect">
            <a:avLst/>
          </a:prstGeom>
          <a:noFill/>
        </p:spPr>
        <p:txBody>
          <a:bodyPr wrap="square" rtlCol="0">
            <a:spAutoFit/>
          </a:bodyPr>
          <a:lstStyle/>
          <a:p>
            <a:pPr algn="r"/>
            <a:r>
              <a:rPr lang="zh-CN" altLang="en-US" sz="1400" dirty="0">
                <a:solidFill>
                  <a:schemeClr val="tx1">
                    <a:lumMod val="65000"/>
                    <a:lumOff val="35000"/>
                  </a:schemeClr>
                </a:solidFill>
                <a:cs typeface="+mn-ea"/>
                <a:sym typeface="+mn-lt"/>
              </a:rPr>
              <a:t>通过为合作伙伴提供“连接一切”的能力，微信正在形成一个全新的“智慧型”生活方式。</a:t>
            </a:r>
          </a:p>
        </p:txBody>
      </p:sp>
      <p:sp>
        <p:nvSpPr>
          <p:cNvPr id="23" name="文本框 22"/>
          <p:cNvSpPr txBox="1"/>
          <p:nvPr/>
        </p:nvSpPr>
        <p:spPr>
          <a:xfrm>
            <a:off x="8129089" y="1828236"/>
            <a:ext cx="2225040" cy="369332"/>
          </a:xfrm>
          <a:prstGeom prst="rect">
            <a:avLst/>
          </a:prstGeom>
          <a:noFill/>
        </p:spPr>
        <p:txBody>
          <a:bodyPr wrap="square" rtlCol="0">
            <a:spAutoFit/>
          </a:bodyPr>
          <a:lstStyle>
            <a:defPPr>
              <a:defRPr lang="zh-CN"/>
            </a:defPPr>
            <a:lvl1pP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r>
              <a:rPr lang="zh-CN" altLang="en-US" dirty="0">
                <a:solidFill>
                  <a:schemeClr val="tx1">
                    <a:lumMod val="75000"/>
                    <a:lumOff val="25000"/>
                  </a:schemeClr>
                </a:solidFill>
                <a:effectLst/>
                <a:latin typeface="+mn-lt"/>
                <a:ea typeface="+mn-ea"/>
                <a:cs typeface="+mn-ea"/>
                <a:sym typeface="+mn-lt"/>
              </a:rPr>
              <a:t>输入你的标题</a:t>
            </a:r>
          </a:p>
        </p:txBody>
      </p:sp>
      <p:sp>
        <p:nvSpPr>
          <p:cNvPr id="24" name="文本框 23"/>
          <p:cNvSpPr txBox="1"/>
          <p:nvPr/>
        </p:nvSpPr>
        <p:spPr>
          <a:xfrm>
            <a:off x="8129089" y="2197568"/>
            <a:ext cx="2865120" cy="738664"/>
          </a:xfrm>
          <a:prstGeom prst="rect">
            <a:avLst/>
          </a:prstGeom>
          <a:noFill/>
        </p:spPr>
        <p:txBody>
          <a:bodyPr wrap="square" rtlCol="0">
            <a:spAutoFit/>
          </a:bodyPr>
          <a:lstStyle/>
          <a:p>
            <a:r>
              <a:rPr lang="zh-CN" altLang="en-US" sz="14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25" name="文本框 24"/>
          <p:cNvSpPr txBox="1"/>
          <p:nvPr/>
        </p:nvSpPr>
        <p:spPr>
          <a:xfrm>
            <a:off x="8129089" y="3871445"/>
            <a:ext cx="2225040" cy="369332"/>
          </a:xfrm>
          <a:prstGeom prst="rect">
            <a:avLst/>
          </a:prstGeom>
          <a:noFill/>
        </p:spPr>
        <p:txBody>
          <a:bodyPr wrap="square" rtlCol="0">
            <a:spAutoFit/>
          </a:bodyPr>
          <a:lstStyle>
            <a:defPPr>
              <a:defRPr lang="zh-CN"/>
            </a:defPPr>
            <a:lvl1pP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r>
              <a:rPr lang="zh-CN" altLang="en-US" dirty="0">
                <a:solidFill>
                  <a:schemeClr val="tx1">
                    <a:lumMod val="75000"/>
                    <a:lumOff val="25000"/>
                  </a:schemeClr>
                </a:solidFill>
                <a:effectLst/>
                <a:latin typeface="+mn-lt"/>
                <a:ea typeface="+mn-ea"/>
                <a:cs typeface="+mn-ea"/>
                <a:sym typeface="+mn-lt"/>
              </a:rPr>
              <a:t>输入你的标题</a:t>
            </a:r>
          </a:p>
        </p:txBody>
      </p:sp>
      <p:sp>
        <p:nvSpPr>
          <p:cNvPr id="26" name="文本框 25"/>
          <p:cNvSpPr txBox="1"/>
          <p:nvPr/>
        </p:nvSpPr>
        <p:spPr>
          <a:xfrm>
            <a:off x="8129089" y="4240777"/>
            <a:ext cx="2865120" cy="738664"/>
          </a:xfrm>
          <a:prstGeom prst="rect">
            <a:avLst/>
          </a:prstGeom>
          <a:noFill/>
        </p:spPr>
        <p:txBody>
          <a:bodyPr wrap="square" rtlCol="0">
            <a:spAutoFit/>
          </a:bodyPr>
          <a:lstStyle/>
          <a:p>
            <a:r>
              <a:rPr lang="zh-CN" altLang="en-US" sz="1400" dirty="0">
                <a:solidFill>
                  <a:schemeClr val="tx1">
                    <a:lumMod val="65000"/>
                    <a:lumOff val="35000"/>
                  </a:schemeClr>
                </a:solidFill>
                <a:cs typeface="+mn-ea"/>
                <a:sym typeface="+mn-lt"/>
              </a:rPr>
              <a:t>通过为合作伙伴提供“连接一切”的能力，微信正在形成一个全新的“智慧型”生活方式。</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85281" y="4451202"/>
            <a:ext cx="3708955" cy="124661"/>
          </a:xfrm>
          <a:prstGeom prst="rect">
            <a:avLst/>
          </a:prstGeom>
          <a:solidFill>
            <a:srgbClr val="37A866"/>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6"/>
          <p:cNvSpPr/>
          <p:nvPr/>
        </p:nvSpPr>
        <p:spPr>
          <a:xfrm>
            <a:off x="7197764" y="3436108"/>
            <a:ext cx="3708955" cy="124661"/>
          </a:xfrm>
          <a:prstGeom prst="rect">
            <a:avLst/>
          </a:prstGeom>
          <a:solidFill>
            <a:srgbClr val="37A866"/>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梯形 3"/>
          <p:cNvSpPr/>
          <p:nvPr/>
        </p:nvSpPr>
        <p:spPr>
          <a:xfrm rot="10800000">
            <a:off x="4998983" y="4513533"/>
            <a:ext cx="237449" cy="1864569"/>
          </a:xfrm>
          <a:prstGeom prst="trapezoid">
            <a:avLst/>
          </a:prstGeom>
          <a:solidFill>
            <a:srgbClr val="37A866"/>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梯形 4"/>
          <p:cNvSpPr/>
          <p:nvPr/>
        </p:nvSpPr>
        <p:spPr>
          <a:xfrm>
            <a:off x="6960315" y="1649109"/>
            <a:ext cx="237449" cy="1864569"/>
          </a:xfrm>
          <a:prstGeom prst="trapezoid">
            <a:avLst/>
          </a:prstGeom>
          <a:solidFill>
            <a:srgbClr val="37A866"/>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4994236" y="3498438"/>
            <a:ext cx="2203528" cy="1040027"/>
          </a:xfrm>
          <a:prstGeom prst="rect">
            <a:avLst/>
          </a:prstGeom>
          <a:noFill/>
          <a:ln w="63500">
            <a:solidFill>
              <a:srgbClr val="37A8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0" name="图片 29"/>
          <p:cNvPicPr>
            <a:picLocks noChangeAspect="1"/>
          </p:cNvPicPr>
          <p:nvPr/>
        </p:nvPicPr>
        <p:blipFill rotWithShape="1">
          <a:blip r:embed="rId3" cstate="screen">
            <a:extLst>
              <a:ext uri="{28A0092B-C50C-407E-A947-70E740481C1C}">
                <a14:useLocalDpi xmlns:a14="http://schemas.microsoft.com/office/drawing/2010/main"/>
              </a:ext>
            </a:extLst>
          </a:blip>
          <a:srcRect/>
          <a:stretch>
            <a:fillRect/>
          </a:stretch>
        </p:blipFill>
        <p:spPr>
          <a:xfrm>
            <a:off x="7120698" y="1677902"/>
            <a:ext cx="3786021" cy="1798320"/>
          </a:xfrm>
          <a:prstGeom prst="rect">
            <a:avLst/>
          </a:prstGeom>
        </p:spPr>
      </p:pic>
      <p:pic>
        <p:nvPicPr>
          <p:cNvPr id="31" name="图片 30"/>
          <p:cNvPicPr>
            <a:picLocks noChangeAspect="1"/>
          </p:cNvPicPr>
          <p:nvPr/>
        </p:nvPicPr>
        <p:blipFill rotWithShape="1">
          <a:blip r:embed="rId4" cstate="screen">
            <a:extLst>
              <a:ext uri="{28A0092B-C50C-407E-A947-70E740481C1C}">
                <a14:useLocalDpi xmlns:a14="http://schemas.microsoft.com/office/drawing/2010/main"/>
              </a:ext>
            </a:extLst>
          </a:blip>
          <a:srcRect/>
          <a:stretch>
            <a:fillRect/>
          </a:stretch>
        </p:blipFill>
        <p:spPr>
          <a:xfrm>
            <a:off x="1290027" y="4556761"/>
            <a:ext cx="3797200" cy="1813560"/>
          </a:xfrm>
          <a:prstGeom prst="rect">
            <a:avLst/>
          </a:prstGeom>
        </p:spPr>
      </p:pic>
      <p:sp>
        <p:nvSpPr>
          <p:cNvPr id="32" name="文本框 31"/>
          <p:cNvSpPr txBox="1"/>
          <p:nvPr/>
        </p:nvSpPr>
        <p:spPr>
          <a:xfrm>
            <a:off x="2505777" y="2038272"/>
            <a:ext cx="2730655" cy="369332"/>
          </a:xfrm>
          <a:prstGeom prst="rect">
            <a:avLst/>
          </a:prstGeom>
          <a:noFill/>
        </p:spPr>
        <p:txBody>
          <a:bodyPr wrap="square" rtlCol="0">
            <a:spAutoFit/>
          </a:bodyPr>
          <a:lstStyle/>
          <a:p>
            <a:pPr algn="ctr"/>
            <a:r>
              <a:rPr lang="zh-CN" altLang="en-US" dirty="0">
                <a:solidFill>
                  <a:schemeClr val="tx1">
                    <a:lumMod val="75000"/>
                    <a:lumOff val="25000"/>
                  </a:schemeClr>
                </a:solidFill>
                <a:cs typeface="+mn-ea"/>
                <a:sym typeface="+mn-lt"/>
              </a:rPr>
              <a:t>输入你的标题</a:t>
            </a:r>
          </a:p>
        </p:txBody>
      </p:sp>
      <p:sp>
        <p:nvSpPr>
          <p:cNvPr id="33" name="文本框 32"/>
          <p:cNvSpPr txBox="1"/>
          <p:nvPr/>
        </p:nvSpPr>
        <p:spPr>
          <a:xfrm>
            <a:off x="1285281" y="2376826"/>
            <a:ext cx="4932639" cy="738664"/>
          </a:xfrm>
          <a:prstGeom prst="rect">
            <a:avLst/>
          </a:prstGeom>
          <a:noFill/>
        </p:spPr>
        <p:txBody>
          <a:bodyPr wrap="square" rtlCol="0">
            <a:spAutoFit/>
          </a:bodyPr>
          <a:lstStyle/>
          <a:p>
            <a:pPr algn="just"/>
            <a:r>
              <a:rPr lang="zh-CN" altLang="en-US" sz="1400" dirty="0">
                <a:solidFill>
                  <a:schemeClr val="tx1">
                    <a:lumMod val="65000"/>
                    <a:lumOff val="35000"/>
                  </a:schemeClr>
                </a:solidFill>
                <a:cs typeface="+mn-ea"/>
                <a:sym typeface="+mn-lt"/>
              </a:rPr>
              <a:t>微信支付是集成在微信客户端的支付功能，用户可以通过手机完成快速的支付流程。微信支付向用户提供安全、快捷、高效的支付服务，以绑定银行卡的快捷支付为基础。</a:t>
            </a:r>
          </a:p>
        </p:txBody>
      </p:sp>
      <p:sp>
        <p:nvSpPr>
          <p:cNvPr id="34" name="文本框 33"/>
          <p:cNvSpPr txBox="1"/>
          <p:nvPr/>
        </p:nvSpPr>
        <p:spPr>
          <a:xfrm>
            <a:off x="7197764" y="4865096"/>
            <a:ext cx="2730655" cy="369332"/>
          </a:xfrm>
          <a:prstGeom prst="rect">
            <a:avLst/>
          </a:prstGeom>
          <a:noFill/>
        </p:spPr>
        <p:txBody>
          <a:bodyPr wrap="square" rtlCol="0">
            <a:spAutoFit/>
          </a:bodyPr>
          <a:lstStyle/>
          <a:p>
            <a:pPr algn="ctr"/>
            <a:r>
              <a:rPr lang="zh-CN" altLang="en-US" dirty="0">
                <a:solidFill>
                  <a:schemeClr val="tx1">
                    <a:lumMod val="75000"/>
                    <a:lumOff val="25000"/>
                  </a:schemeClr>
                </a:solidFill>
                <a:cs typeface="+mn-ea"/>
                <a:sym typeface="+mn-lt"/>
              </a:rPr>
              <a:t>输入你的标题</a:t>
            </a:r>
          </a:p>
        </p:txBody>
      </p:sp>
      <p:sp>
        <p:nvSpPr>
          <p:cNvPr id="35" name="文本框 34"/>
          <p:cNvSpPr txBox="1"/>
          <p:nvPr/>
        </p:nvSpPr>
        <p:spPr>
          <a:xfrm>
            <a:off x="5977268" y="5203650"/>
            <a:ext cx="4932639" cy="738664"/>
          </a:xfrm>
          <a:prstGeom prst="rect">
            <a:avLst/>
          </a:prstGeom>
          <a:noFill/>
        </p:spPr>
        <p:txBody>
          <a:bodyPr wrap="square" rtlCol="0">
            <a:spAutoFit/>
          </a:bodyPr>
          <a:lstStyle/>
          <a:p>
            <a:pPr algn="just"/>
            <a:r>
              <a:rPr lang="zh-CN" altLang="en-US" sz="1400" dirty="0">
                <a:solidFill>
                  <a:schemeClr val="tx1">
                    <a:lumMod val="65000"/>
                    <a:lumOff val="35000"/>
                  </a:schemeClr>
                </a:solidFill>
                <a:cs typeface="+mn-ea"/>
                <a:sym typeface="+mn-lt"/>
              </a:rPr>
              <a:t>微信支付是集成在微信客户端的支付功能，用户可以通过手机完成快速的支付流程。微信支付向用户提供安全、快捷、高效的支付服务，以绑定银行卡的快捷支付为基础。</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962527" y="883919"/>
            <a:ext cx="1592179" cy="1592179"/>
          </a:xfrm>
          <a:prstGeom prst="ellipse">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800" dirty="0">
                <a:solidFill>
                  <a:schemeClr val="bg1"/>
                </a:solidFill>
                <a:latin typeface="Agency FB" panose="020B0503020202020204" pitchFamily="34" charset="0"/>
                <a:cs typeface="+mn-ea"/>
                <a:sym typeface="+mn-lt"/>
              </a:rPr>
              <a:t>2</a:t>
            </a:r>
            <a:endParaRPr lang="zh-CN" altLang="en-US" sz="13800" dirty="0">
              <a:solidFill>
                <a:schemeClr val="bg1"/>
              </a:solidFill>
              <a:latin typeface="Agency FB" panose="020B0503020202020204" pitchFamily="34" charset="0"/>
              <a:cs typeface="+mn-ea"/>
              <a:sym typeface="+mn-lt"/>
            </a:endParaRPr>
          </a:p>
        </p:txBody>
      </p:sp>
      <p:sp>
        <p:nvSpPr>
          <p:cNvPr id="3" name="文本框 2"/>
          <p:cNvSpPr txBox="1"/>
          <p:nvPr/>
        </p:nvSpPr>
        <p:spPr>
          <a:xfrm>
            <a:off x="962527" y="2788920"/>
            <a:ext cx="4569593" cy="707886"/>
          </a:xfrm>
          <a:prstGeom prst="rect">
            <a:avLst/>
          </a:prstGeom>
          <a:noFill/>
        </p:spPr>
        <p:txBody>
          <a:bodyPr wrap="square" rtlCol="0">
            <a:spAutoFit/>
          </a:bodyPr>
          <a:lstStyle/>
          <a:p>
            <a:r>
              <a:rPr lang="zh-CN" altLang="en-US" sz="4000" dirty="0">
                <a:solidFill>
                  <a:schemeClr val="tx1">
                    <a:lumMod val="75000"/>
                    <a:lumOff val="25000"/>
                  </a:schemeClr>
                </a:solidFill>
                <a:cs typeface="+mn-ea"/>
                <a:sym typeface="+mn-lt"/>
              </a:rPr>
              <a:t>在此输入你的标题</a:t>
            </a:r>
          </a:p>
        </p:txBody>
      </p:sp>
      <p:cxnSp>
        <p:nvCxnSpPr>
          <p:cNvPr id="4" name="直接连接符 3"/>
          <p:cNvCxnSpPr/>
          <p:nvPr/>
        </p:nvCxnSpPr>
        <p:spPr>
          <a:xfrm>
            <a:off x="1036269" y="3613067"/>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962527" y="3809628"/>
            <a:ext cx="5277825" cy="584775"/>
          </a:xfrm>
          <a:prstGeom prst="rect">
            <a:avLst/>
          </a:prstGeom>
          <a:noFill/>
        </p:spPr>
        <p:txBody>
          <a:bodyPr wrap="square" rtlCol="0">
            <a:spAutoFit/>
          </a:bodyPr>
          <a:lstStyle/>
          <a:p>
            <a:r>
              <a:rPr lang="en-US" altLang="zh-CN" sz="1600" dirty="0">
                <a:solidFill>
                  <a:schemeClr val="tx1">
                    <a:lumMod val="50000"/>
                    <a:lumOff val="50000"/>
                  </a:schemeClr>
                </a:solidFill>
                <a:cs typeface="+mn-ea"/>
                <a:sym typeface="+mn-lt"/>
              </a:rPr>
              <a:t>Life was like a box of chocolates, you never know what you’re go to get.</a:t>
            </a:r>
            <a:endParaRPr lang="zh-CN" altLang="en-US" sz="16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429103" y="1996440"/>
            <a:ext cx="4839993" cy="4047550"/>
            <a:chOff x="5712823" y="1438608"/>
            <a:chExt cx="5762171" cy="4818742"/>
          </a:xfrm>
        </p:grpSpPr>
        <p:sp>
          <p:nvSpPr>
            <p:cNvPr id="4" name="菱形 3"/>
            <p:cNvSpPr/>
            <p:nvPr/>
          </p:nvSpPr>
          <p:spPr>
            <a:xfrm>
              <a:off x="5712823" y="2715865"/>
              <a:ext cx="2293257" cy="2293257"/>
            </a:xfrm>
            <a:prstGeom prst="diamond">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菱形 4"/>
            <p:cNvSpPr/>
            <p:nvPr/>
          </p:nvSpPr>
          <p:spPr>
            <a:xfrm>
              <a:off x="6961051" y="1438608"/>
              <a:ext cx="2293257" cy="2293257"/>
            </a:xfrm>
            <a:prstGeom prst="diamond">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菱形 5"/>
            <p:cNvSpPr/>
            <p:nvPr/>
          </p:nvSpPr>
          <p:spPr>
            <a:xfrm>
              <a:off x="6961051" y="3964093"/>
              <a:ext cx="2293257" cy="2293257"/>
            </a:xfrm>
            <a:prstGeom prst="diamond">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菱形 6"/>
            <p:cNvSpPr/>
            <p:nvPr/>
          </p:nvSpPr>
          <p:spPr>
            <a:xfrm>
              <a:off x="8223793" y="2222378"/>
              <a:ext cx="3251201" cy="3251201"/>
            </a:xfrm>
            <a:prstGeom prst="diamond">
              <a:avLst/>
            </a:prstGeom>
            <a:solidFill>
              <a:srgbClr val="8F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9" name="图片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139218" y="3767207"/>
            <a:ext cx="506013" cy="506013"/>
          </a:xfrm>
          <a:prstGeom prst="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495322" y="3611880"/>
            <a:ext cx="816668" cy="816666"/>
          </a:xfrm>
          <a:prstGeom prst="rect">
            <a:avLst/>
          </a:prstGeom>
        </p:spPr>
      </p:pic>
      <p:pic>
        <p:nvPicPr>
          <p:cNvPr id="11" name="图片 10"/>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58337" y="2677212"/>
            <a:ext cx="564699" cy="564699"/>
          </a:xfrm>
          <a:prstGeom prst="rect">
            <a:avLst/>
          </a:prstGeom>
        </p:spPr>
      </p:pic>
      <p:pic>
        <p:nvPicPr>
          <p:cNvPr id="12" name="图片 1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203615" y="4798518"/>
            <a:ext cx="564699" cy="564699"/>
          </a:xfrm>
          <a:prstGeom prst="rect">
            <a:avLst/>
          </a:prstGeom>
        </p:spPr>
      </p:pic>
      <p:sp>
        <p:nvSpPr>
          <p:cNvPr id="13" name="文本框 12"/>
          <p:cNvSpPr txBox="1"/>
          <p:nvPr/>
        </p:nvSpPr>
        <p:spPr>
          <a:xfrm>
            <a:off x="1555449" y="1996440"/>
            <a:ext cx="2225040"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latin typeface="+mn-lt"/>
                <a:ea typeface="+mn-ea"/>
                <a:cs typeface="+mn-ea"/>
                <a:sym typeface="+mn-lt"/>
              </a:rPr>
              <a:t>输入你的标题</a:t>
            </a:r>
          </a:p>
        </p:txBody>
      </p:sp>
      <p:sp>
        <p:nvSpPr>
          <p:cNvPr id="14" name="文本框 13"/>
          <p:cNvSpPr txBox="1"/>
          <p:nvPr/>
        </p:nvSpPr>
        <p:spPr>
          <a:xfrm>
            <a:off x="1555449" y="2379177"/>
            <a:ext cx="4760190" cy="738664"/>
          </a:xfrm>
          <a:prstGeom prst="rect">
            <a:avLst/>
          </a:prstGeom>
          <a:noFill/>
        </p:spPr>
        <p:txBody>
          <a:bodyPr wrap="square" rtlCol="0">
            <a:spAutoFit/>
          </a:bodyPr>
          <a:lstStyle/>
          <a:p>
            <a:r>
              <a:rPr lang="zh-CN" altLang="en-US" sz="1400" dirty="0">
                <a:solidFill>
                  <a:schemeClr val="tx1">
                    <a:lumMod val="65000"/>
                    <a:lumOff val="35000"/>
                  </a:schemeClr>
                </a:solidFill>
                <a:cs typeface="+mn-ea"/>
                <a:sym typeface="+mn-lt"/>
              </a:rPr>
              <a:t>全城搜索志在帮助那些不懂技术的个人或企业建立属于自己的接口程序，让完全不懂技术的个人或企业通过简单的配置，即可拥有强大的功能。</a:t>
            </a:r>
          </a:p>
        </p:txBody>
      </p:sp>
      <p:sp>
        <p:nvSpPr>
          <p:cNvPr id="15" name="文本框 14"/>
          <p:cNvSpPr txBox="1"/>
          <p:nvPr/>
        </p:nvSpPr>
        <p:spPr>
          <a:xfrm>
            <a:off x="1543353" y="3625285"/>
            <a:ext cx="2225040"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latin typeface="+mn-lt"/>
                <a:ea typeface="+mn-ea"/>
                <a:cs typeface="+mn-ea"/>
                <a:sym typeface="+mn-lt"/>
              </a:rPr>
              <a:t>输入你的标题</a:t>
            </a:r>
          </a:p>
        </p:txBody>
      </p:sp>
      <p:sp>
        <p:nvSpPr>
          <p:cNvPr id="16" name="文本框 15"/>
          <p:cNvSpPr txBox="1"/>
          <p:nvPr/>
        </p:nvSpPr>
        <p:spPr>
          <a:xfrm>
            <a:off x="1543353" y="4008022"/>
            <a:ext cx="2225040" cy="1815882"/>
          </a:xfrm>
          <a:prstGeom prst="rect">
            <a:avLst/>
          </a:prstGeom>
          <a:noFill/>
        </p:spPr>
        <p:txBody>
          <a:bodyPr wrap="square" rtlCol="0">
            <a:spAutoFit/>
          </a:bodyPr>
          <a:lstStyle/>
          <a:p>
            <a:r>
              <a:rPr lang="zh-CN" altLang="en-US" sz="1400" dirty="0">
                <a:solidFill>
                  <a:schemeClr val="tx1">
                    <a:lumMod val="65000"/>
                    <a:lumOff val="35000"/>
                  </a:schemeClr>
                </a:solidFill>
                <a:cs typeface="+mn-ea"/>
                <a:sym typeface="+mn-lt"/>
              </a:rPr>
              <a:t>企业使用全城搜索可以用低廉的成本实现智能客服机器人功能，店家可以轻松实现店铺商品和粉丝的关联与互动，也即将为微信地方号运维人员提供强大的地方运维的管理功能模块。</a:t>
            </a:r>
          </a:p>
        </p:txBody>
      </p:sp>
      <p:sp>
        <p:nvSpPr>
          <p:cNvPr id="17" name="文本框 16"/>
          <p:cNvSpPr txBox="1"/>
          <p:nvPr/>
        </p:nvSpPr>
        <p:spPr>
          <a:xfrm>
            <a:off x="4034890" y="3611880"/>
            <a:ext cx="2225040"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latin typeface="+mn-lt"/>
                <a:ea typeface="+mn-ea"/>
                <a:cs typeface="+mn-ea"/>
                <a:sym typeface="+mn-lt"/>
              </a:rPr>
              <a:t>输入你的标题</a:t>
            </a:r>
          </a:p>
        </p:txBody>
      </p:sp>
      <p:sp>
        <p:nvSpPr>
          <p:cNvPr id="18" name="文本框 17"/>
          <p:cNvSpPr txBox="1"/>
          <p:nvPr/>
        </p:nvSpPr>
        <p:spPr>
          <a:xfrm>
            <a:off x="4034890" y="3994617"/>
            <a:ext cx="2225040" cy="1815882"/>
          </a:xfrm>
          <a:prstGeom prst="rect">
            <a:avLst/>
          </a:prstGeom>
          <a:noFill/>
        </p:spPr>
        <p:txBody>
          <a:bodyPr wrap="square" rtlCol="0">
            <a:spAutoFit/>
          </a:bodyPr>
          <a:lstStyle/>
          <a:p>
            <a:r>
              <a:rPr lang="zh-CN" altLang="en-US" sz="1400" dirty="0">
                <a:solidFill>
                  <a:schemeClr val="tx1">
                    <a:lumMod val="65000"/>
                    <a:lumOff val="35000"/>
                  </a:schemeClr>
                </a:solidFill>
                <a:cs typeface="+mn-ea"/>
                <a:sym typeface="+mn-lt"/>
              </a:rPr>
              <a:t>企业使用全城搜索可以用低廉的成本实现智能客服机器人功能，店家可以轻松实现店铺商品和粉丝的关联与互动，也即将为微信地方号运维人员提供强大的地方运维的管理功能模块。</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图表 3"/>
          <p:cNvGraphicFramePr/>
          <p:nvPr/>
        </p:nvGraphicFramePr>
        <p:xfrm>
          <a:off x="1445987" y="1767605"/>
          <a:ext cx="10746013" cy="417622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1364331" y="2302191"/>
            <a:ext cx="2119084" cy="2119084"/>
          </a:xfrm>
          <a:prstGeom prst="ellipse">
            <a:avLst/>
          </a:prstGeom>
          <a:noFill/>
          <a:ln w="25400">
            <a:solidFill>
              <a:srgbClr val="0055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椭圆 41"/>
          <p:cNvSpPr/>
          <p:nvPr/>
        </p:nvSpPr>
        <p:spPr>
          <a:xfrm>
            <a:off x="5094507" y="2302191"/>
            <a:ext cx="2119084" cy="2119084"/>
          </a:xfrm>
          <a:prstGeom prst="ellipse">
            <a:avLst/>
          </a:prstGeom>
          <a:noFill/>
          <a:ln w="25400">
            <a:solidFill>
              <a:srgbClr val="0055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p:cNvSpPr/>
          <p:nvPr/>
        </p:nvSpPr>
        <p:spPr>
          <a:xfrm>
            <a:off x="8723081" y="2302191"/>
            <a:ext cx="2119084" cy="2119084"/>
          </a:xfrm>
          <a:prstGeom prst="ellipse">
            <a:avLst/>
          </a:prstGeom>
          <a:noFill/>
          <a:ln w="25400">
            <a:solidFill>
              <a:srgbClr val="0055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aphicFrame>
        <p:nvGraphicFramePr>
          <p:cNvPr id="53" name="图表 52"/>
          <p:cNvGraphicFramePr/>
          <p:nvPr/>
        </p:nvGraphicFramePr>
        <p:xfrm>
          <a:off x="280217" y="1331495"/>
          <a:ext cx="4752718" cy="437467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4" name="图表 53"/>
          <p:cNvGraphicFramePr/>
          <p:nvPr/>
        </p:nvGraphicFramePr>
        <p:xfrm>
          <a:off x="3918854" y="1535048"/>
          <a:ext cx="4934858" cy="402977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5" name="图表 54"/>
          <p:cNvGraphicFramePr/>
          <p:nvPr/>
        </p:nvGraphicFramePr>
        <p:xfrm>
          <a:off x="7547428" y="1535048"/>
          <a:ext cx="4934858" cy="4029771"/>
        </p:xfrm>
        <a:graphic>
          <a:graphicData uri="http://schemas.openxmlformats.org/drawingml/2006/chart">
            <c:chart xmlns:c="http://schemas.openxmlformats.org/drawingml/2006/chart" xmlns:r="http://schemas.openxmlformats.org/officeDocument/2006/relationships" r:id="rId5"/>
          </a:graphicData>
        </a:graphic>
      </p:graphicFrame>
      <p:sp>
        <p:nvSpPr>
          <p:cNvPr id="71" name="圆角矩形 70"/>
          <p:cNvSpPr/>
          <p:nvPr/>
        </p:nvSpPr>
        <p:spPr>
          <a:xfrm>
            <a:off x="8610325" y="4805358"/>
            <a:ext cx="2598270" cy="396785"/>
          </a:xfrm>
          <a:prstGeom prst="round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dirty="0">
                <a:solidFill>
                  <a:schemeClr val="bg1"/>
                </a:solidFill>
                <a:cs typeface="+mn-ea"/>
                <a:sym typeface="+mn-lt"/>
              </a:rPr>
              <a:t>输入你的标题</a:t>
            </a:r>
          </a:p>
        </p:txBody>
      </p:sp>
      <p:sp>
        <p:nvSpPr>
          <p:cNvPr id="72" name="圆角矩形 71"/>
          <p:cNvSpPr/>
          <p:nvPr/>
        </p:nvSpPr>
        <p:spPr>
          <a:xfrm>
            <a:off x="1163242" y="4805358"/>
            <a:ext cx="2598270" cy="396785"/>
          </a:xfrm>
          <a:prstGeom prst="round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dirty="0">
                <a:solidFill>
                  <a:schemeClr val="bg1"/>
                </a:solidFill>
                <a:cs typeface="+mn-ea"/>
                <a:sym typeface="+mn-lt"/>
              </a:rPr>
              <a:t>输入你的标题</a:t>
            </a:r>
          </a:p>
        </p:txBody>
      </p:sp>
      <p:sp>
        <p:nvSpPr>
          <p:cNvPr id="73" name="圆角矩形 72"/>
          <p:cNvSpPr/>
          <p:nvPr/>
        </p:nvSpPr>
        <p:spPr>
          <a:xfrm>
            <a:off x="4886783" y="4805358"/>
            <a:ext cx="2598270" cy="396785"/>
          </a:xfrm>
          <a:prstGeom prst="round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dirty="0">
                <a:solidFill>
                  <a:schemeClr val="bg1"/>
                </a:solidFill>
                <a:cs typeface="+mn-ea"/>
                <a:sym typeface="+mn-lt"/>
              </a:rPr>
              <a:t>输入你的标题</a:t>
            </a:r>
          </a:p>
        </p:txBody>
      </p:sp>
      <p:sp>
        <p:nvSpPr>
          <p:cNvPr id="74" name="文本框 73"/>
          <p:cNvSpPr txBox="1"/>
          <p:nvPr/>
        </p:nvSpPr>
        <p:spPr>
          <a:xfrm>
            <a:off x="8610325" y="5298563"/>
            <a:ext cx="2598270" cy="830997"/>
          </a:xfrm>
          <a:prstGeom prst="rect">
            <a:avLst/>
          </a:prstGeom>
          <a:noFill/>
        </p:spPr>
        <p:txBody>
          <a:bodyPr wrap="square" rtlCol="0">
            <a:spAutoFit/>
          </a:bodyPr>
          <a:lstStyle/>
          <a:p>
            <a:pPr algn="just"/>
            <a:r>
              <a:rPr lang="zh-CN" altLang="en-US" sz="1600" dirty="0">
                <a:solidFill>
                  <a:schemeClr val="tx1">
                    <a:lumMod val="75000"/>
                    <a:lumOff val="25000"/>
                  </a:schemeClr>
                </a:solidFill>
                <a:cs typeface="+mn-ea"/>
                <a:sym typeface="+mn-lt"/>
              </a:rPr>
              <a:t>这里是对小标题的简单描述，这里是对小标题的简单描述</a:t>
            </a:r>
          </a:p>
        </p:txBody>
      </p:sp>
      <p:sp>
        <p:nvSpPr>
          <p:cNvPr id="75" name="文本框 74"/>
          <p:cNvSpPr txBox="1"/>
          <p:nvPr/>
        </p:nvSpPr>
        <p:spPr>
          <a:xfrm>
            <a:off x="1163242" y="5355261"/>
            <a:ext cx="2598269" cy="830997"/>
          </a:xfrm>
          <a:prstGeom prst="rect">
            <a:avLst/>
          </a:prstGeom>
          <a:noFill/>
        </p:spPr>
        <p:txBody>
          <a:bodyPr wrap="square" rtlCol="0">
            <a:spAutoFit/>
          </a:bodyPr>
          <a:lstStyle/>
          <a:p>
            <a:pPr algn="just"/>
            <a:r>
              <a:rPr lang="zh-CN" altLang="en-US" sz="1600" dirty="0">
                <a:solidFill>
                  <a:schemeClr val="tx1">
                    <a:lumMod val="75000"/>
                    <a:lumOff val="25000"/>
                  </a:schemeClr>
                </a:solidFill>
                <a:cs typeface="+mn-ea"/>
                <a:sym typeface="+mn-lt"/>
              </a:rPr>
              <a:t>这里是对小标题的简单描述，这里是对小标题的简单描述</a:t>
            </a:r>
          </a:p>
        </p:txBody>
      </p:sp>
      <p:sp>
        <p:nvSpPr>
          <p:cNvPr id="76" name="文本框 75"/>
          <p:cNvSpPr txBox="1"/>
          <p:nvPr/>
        </p:nvSpPr>
        <p:spPr>
          <a:xfrm>
            <a:off x="4886783" y="5316351"/>
            <a:ext cx="2598270" cy="830997"/>
          </a:xfrm>
          <a:prstGeom prst="rect">
            <a:avLst/>
          </a:prstGeom>
          <a:noFill/>
        </p:spPr>
        <p:txBody>
          <a:bodyPr wrap="square" rtlCol="0">
            <a:spAutoFit/>
          </a:bodyPr>
          <a:lstStyle/>
          <a:p>
            <a:pPr algn="just"/>
            <a:r>
              <a:rPr lang="zh-CN" altLang="en-US" sz="1600" dirty="0">
                <a:solidFill>
                  <a:schemeClr val="tx1">
                    <a:lumMod val="75000"/>
                    <a:lumOff val="25000"/>
                  </a:schemeClr>
                </a:solidFill>
                <a:cs typeface="+mn-ea"/>
                <a:sym typeface="+mn-lt"/>
              </a:rPr>
              <a:t>这里是对小标题的简单描述，这里是对小标题的简单描述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58" name="组合 57"/>
          <p:cNvGrpSpPr/>
          <p:nvPr/>
        </p:nvGrpSpPr>
        <p:grpSpPr>
          <a:xfrm>
            <a:off x="5050095" y="2951505"/>
            <a:ext cx="2000248" cy="1956483"/>
            <a:chOff x="4477498" y="1456188"/>
            <a:chExt cx="2000248" cy="1956483"/>
          </a:xfrm>
        </p:grpSpPr>
        <p:sp>
          <p:nvSpPr>
            <p:cNvPr id="59" name="任意多边形 58"/>
            <p:cNvSpPr/>
            <p:nvPr/>
          </p:nvSpPr>
          <p:spPr>
            <a:xfrm rot="10800000">
              <a:off x="4477498" y="1472516"/>
              <a:ext cx="1183821" cy="1183822"/>
            </a:xfrm>
            <a:custGeom>
              <a:avLst/>
              <a:gdLst>
                <a:gd name="connsiteX0" fmla="*/ 1183821 w 1183821"/>
                <a:gd name="connsiteY0" fmla="*/ 4330 h 1183822"/>
                <a:gd name="connsiteX1" fmla="*/ 1152613 w 1183821"/>
                <a:gd name="connsiteY1" fmla="*/ 1576 h 1183822"/>
                <a:gd name="connsiteX2" fmla="*/ 1183821 w 1183821"/>
                <a:gd name="connsiteY2" fmla="*/ 0 h 1183822"/>
                <a:gd name="connsiteX3" fmla="*/ 475920 w 1183821"/>
                <a:gd name="connsiteY3" fmla="*/ 1183822 h 1183822"/>
                <a:gd name="connsiteX4" fmla="*/ 0 w 1183821"/>
                <a:gd name="connsiteY4" fmla="*/ 1183822 h 1183822"/>
                <a:gd name="connsiteX5" fmla="*/ 464181 w 1183821"/>
                <a:gd name="connsiteY5" fmla="*/ 243772 h 1183822"/>
                <a:gd name="connsiteX6" fmla="*/ 481595 w 1183821"/>
                <a:gd name="connsiteY6" fmla="*/ 232761 h 1183822"/>
                <a:gd name="connsiteX7" fmla="*/ 574142 w 1183821"/>
                <a:gd name="connsiteY7" fmla="*/ 302818 h 1183822"/>
                <a:gd name="connsiteX8" fmla="*/ 976052 w 1183821"/>
                <a:gd name="connsiteY8" fmla="*/ 460508 h 1183822"/>
                <a:gd name="connsiteX9" fmla="*/ 1162181 w 1183821"/>
                <a:gd name="connsiteY9" fmla="*/ 478102 h 1183822"/>
                <a:gd name="connsiteX10" fmla="*/ 1041155 w 1183821"/>
                <a:gd name="connsiteY10" fmla="*/ 490302 h 1183822"/>
                <a:gd name="connsiteX11" fmla="*/ 475920 w 1183821"/>
                <a:gd name="connsiteY11" fmla="*/ 1183822 h 1183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3821" h="1183822">
                  <a:moveTo>
                    <a:pt x="1183821" y="4330"/>
                  </a:moveTo>
                  <a:lnTo>
                    <a:pt x="1152613" y="1576"/>
                  </a:lnTo>
                  <a:lnTo>
                    <a:pt x="1183821" y="0"/>
                  </a:lnTo>
                  <a:close/>
                  <a:moveTo>
                    <a:pt x="475920" y="1183822"/>
                  </a:moveTo>
                  <a:lnTo>
                    <a:pt x="0" y="1183822"/>
                  </a:lnTo>
                  <a:cubicBezTo>
                    <a:pt x="0" y="800732"/>
                    <a:pt x="181967" y="460143"/>
                    <a:pt x="464181" y="243772"/>
                  </a:cubicBezTo>
                  <a:lnTo>
                    <a:pt x="481595" y="232761"/>
                  </a:lnTo>
                  <a:lnTo>
                    <a:pt x="574142" y="302818"/>
                  </a:lnTo>
                  <a:cubicBezTo>
                    <a:pt x="695210" y="378394"/>
                    <a:pt x="830923" y="432701"/>
                    <a:pt x="976052" y="460508"/>
                  </a:cubicBezTo>
                  <a:lnTo>
                    <a:pt x="1162181" y="478102"/>
                  </a:lnTo>
                  <a:lnTo>
                    <a:pt x="1041155" y="490302"/>
                  </a:lnTo>
                  <a:cubicBezTo>
                    <a:pt x="718577" y="556312"/>
                    <a:pt x="475920" y="841729"/>
                    <a:pt x="475920" y="1183822"/>
                  </a:cubicBezTo>
                  <a:close/>
                </a:path>
              </a:pathLst>
            </a:cu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0" name="任意多边形 59"/>
            <p:cNvSpPr/>
            <p:nvPr/>
          </p:nvSpPr>
          <p:spPr>
            <a:xfrm>
              <a:off x="5277596" y="2438849"/>
              <a:ext cx="1183821" cy="973822"/>
            </a:xfrm>
            <a:custGeom>
              <a:avLst/>
              <a:gdLst>
                <a:gd name="connsiteX0" fmla="*/ 517591 w 1183821"/>
                <a:gd name="connsiteY0" fmla="*/ 0 h 973822"/>
                <a:gd name="connsiteX1" fmla="*/ 535284 w 1183821"/>
                <a:gd name="connsiteY1" fmla="*/ 13086 h 973822"/>
                <a:gd name="connsiteX2" fmla="*/ 1042315 w 1183821"/>
                <a:gd name="connsiteY2" fmla="*/ 198008 h 973822"/>
                <a:gd name="connsiteX3" fmla="*/ 1183821 w 1183821"/>
                <a:gd name="connsiteY3" fmla="*/ 206378 h 973822"/>
                <a:gd name="connsiteX4" fmla="*/ 1183821 w 1183821"/>
                <a:gd name="connsiteY4" fmla="*/ 265920 h 973822"/>
                <a:gd name="connsiteX5" fmla="*/ 1041155 w 1183821"/>
                <a:gd name="connsiteY5" fmla="*/ 280302 h 973822"/>
                <a:gd name="connsiteX6" fmla="*/ 475920 w 1183821"/>
                <a:gd name="connsiteY6" fmla="*/ 973822 h 973822"/>
                <a:gd name="connsiteX7" fmla="*/ 0 w 1183821"/>
                <a:gd name="connsiteY7" fmla="*/ 973822 h 973822"/>
                <a:gd name="connsiteX8" fmla="*/ 464181 w 1183821"/>
                <a:gd name="connsiteY8" fmla="*/ 33772 h 973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3821" h="973822">
                  <a:moveTo>
                    <a:pt x="517591" y="0"/>
                  </a:moveTo>
                  <a:lnTo>
                    <a:pt x="535284" y="13086"/>
                  </a:lnTo>
                  <a:cubicBezTo>
                    <a:pt x="684306" y="110855"/>
                    <a:pt x="856721" y="175900"/>
                    <a:pt x="1042315" y="198008"/>
                  </a:cubicBezTo>
                  <a:lnTo>
                    <a:pt x="1183821" y="206378"/>
                  </a:lnTo>
                  <a:lnTo>
                    <a:pt x="1183821" y="265920"/>
                  </a:lnTo>
                  <a:lnTo>
                    <a:pt x="1041155" y="280302"/>
                  </a:lnTo>
                  <a:cubicBezTo>
                    <a:pt x="718577" y="346312"/>
                    <a:pt x="475920" y="631729"/>
                    <a:pt x="475920" y="973822"/>
                  </a:cubicBezTo>
                  <a:lnTo>
                    <a:pt x="0" y="973822"/>
                  </a:lnTo>
                  <a:cubicBezTo>
                    <a:pt x="0" y="590732"/>
                    <a:pt x="181967" y="250143"/>
                    <a:pt x="464181" y="33772"/>
                  </a:cubicBezTo>
                  <a:close/>
                </a:path>
              </a:pathLst>
            </a:cu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1" name="任意多边形 60"/>
            <p:cNvSpPr/>
            <p:nvPr/>
          </p:nvSpPr>
          <p:spPr>
            <a:xfrm rot="16200000">
              <a:off x="5439691" y="1552969"/>
              <a:ext cx="1134835" cy="941274"/>
            </a:xfrm>
            <a:custGeom>
              <a:avLst/>
              <a:gdLst>
                <a:gd name="connsiteX0" fmla="*/ 1134835 w 1134835"/>
                <a:gd name="connsiteY0" fmla="*/ 222404 h 941274"/>
                <a:gd name="connsiteX1" fmla="*/ 1134835 w 1134835"/>
                <a:gd name="connsiteY1" fmla="*/ 238311 h 941274"/>
                <a:gd name="connsiteX2" fmla="*/ 1041155 w 1134835"/>
                <a:gd name="connsiteY2" fmla="*/ 247754 h 941274"/>
                <a:gd name="connsiteX3" fmla="*/ 475920 w 1134835"/>
                <a:gd name="connsiteY3" fmla="*/ 941274 h 941274"/>
                <a:gd name="connsiteX4" fmla="*/ 0 w 1134835"/>
                <a:gd name="connsiteY4" fmla="*/ 941274 h 941274"/>
                <a:gd name="connsiteX5" fmla="*/ 464181 w 1134835"/>
                <a:gd name="connsiteY5" fmla="*/ 1224 h 941274"/>
                <a:gd name="connsiteX6" fmla="*/ 466117 w 1134835"/>
                <a:gd name="connsiteY6" fmla="*/ 0 h 941274"/>
                <a:gd name="connsiteX7" fmla="*/ 525153 w 1134835"/>
                <a:gd name="connsiteY7" fmla="*/ 44689 h 941274"/>
                <a:gd name="connsiteX8" fmla="*/ 981917 w 1134835"/>
                <a:gd name="connsiteY8" fmla="*/ 211555 h 941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4835" h="941274">
                  <a:moveTo>
                    <a:pt x="1134835" y="222404"/>
                  </a:moveTo>
                  <a:lnTo>
                    <a:pt x="1134835" y="238311"/>
                  </a:lnTo>
                  <a:lnTo>
                    <a:pt x="1041155" y="247754"/>
                  </a:lnTo>
                  <a:cubicBezTo>
                    <a:pt x="718577" y="313764"/>
                    <a:pt x="475920" y="599181"/>
                    <a:pt x="475920" y="941274"/>
                  </a:cubicBezTo>
                  <a:lnTo>
                    <a:pt x="0" y="941274"/>
                  </a:lnTo>
                  <a:cubicBezTo>
                    <a:pt x="0" y="558184"/>
                    <a:pt x="181967" y="217595"/>
                    <a:pt x="464181" y="1224"/>
                  </a:cubicBezTo>
                  <a:lnTo>
                    <a:pt x="466117" y="0"/>
                  </a:lnTo>
                  <a:lnTo>
                    <a:pt x="525153" y="44689"/>
                  </a:lnTo>
                  <a:cubicBezTo>
                    <a:pt x="661355" y="129713"/>
                    <a:pt x="816092" y="187817"/>
                    <a:pt x="981917" y="211555"/>
                  </a:cubicBezTo>
                  <a:close/>
                </a:path>
              </a:pathLst>
            </a:cu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2" name="任意多边形 61"/>
            <p:cNvSpPr/>
            <p:nvPr/>
          </p:nvSpPr>
          <p:spPr>
            <a:xfrm rot="5400000">
              <a:off x="4397047" y="2341959"/>
              <a:ext cx="1134835" cy="941274"/>
            </a:xfrm>
            <a:custGeom>
              <a:avLst/>
              <a:gdLst>
                <a:gd name="connsiteX0" fmla="*/ 1134835 w 1134835"/>
                <a:gd name="connsiteY0" fmla="*/ 222404 h 941274"/>
                <a:gd name="connsiteX1" fmla="*/ 1134835 w 1134835"/>
                <a:gd name="connsiteY1" fmla="*/ 238311 h 941274"/>
                <a:gd name="connsiteX2" fmla="*/ 1041155 w 1134835"/>
                <a:gd name="connsiteY2" fmla="*/ 247754 h 941274"/>
                <a:gd name="connsiteX3" fmla="*/ 475920 w 1134835"/>
                <a:gd name="connsiteY3" fmla="*/ 941274 h 941274"/>
                <a:gd name="connsiteX4" fmla="*/ 0 w 1134835"/>
                <a:gd name="connsiteY4" fmla="*/ 941274 h 941274"/>
                <a:gd name="connsiteX5" fmla="*/ 464181 w 1134835"/>
                <a:gd name="connsiteY5" fmla="*/ 1224 h 941274"/>
                <a:gd name="connsiteX6" fmla="*/ 466117 w 1134835"/>
                <a:gd name="connsiteY6" fmla="*/ 0 h 941274"/>
                <a:gd name="connsiteX7" fmla="*/ 525153 w 1134835"/>
                <a:gd name="connsiteY7" fmla="*/ 44689 h 941274"/>
                <a:gd name="connsiteX8" fmla="*/ 981917 w 1134835"/>
                <a:gd name="connsiteY8" fmla="*/ 211555 h 941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4835" h="941274">
                  <a:moveTo>
                    <a:pt x="1134835" y="222404"/>
                  </a:moveTo>
                  <a:lnTo>
                    <a:pt x="1134835" y="238311"/>
                  </a:lnTo>
                  <a:lnTo>
                    <a:pt x="1041155" y="247754"/>
                  </a:lnTo>
                  <a:cubicBezTo>
                    <a:pt x="718577" y="313764"/>
                    <a:pt x="475920" y="599181"/>
                    <a:pt x="475920" y="941274"/>
                  </a:cubicBezTo>
                  <a:lnTo>
                    <a:pt x="0" y="941274"/>
                  </a:lnTo>
                  <a:cubicBezTo>
                    <a:pt x="0" y="558184"/>
                    <a:pt x="181967" y="217595"/>
                    <a:pt x="464181" y="1224"/>
                  </a:cubicBezTo>
                  <a:lnTo>
                    <a:pt x="466117" y="0"/>
                  </a:lnTo>
                  <a:lnTo>
                    <a:pt x="525153" y="44689"/>
                  </a:lnTo>
                  <a:cubicBezTo>
                    <a:pt x="661355" y="129713"/>
                    <a:pt x="816092" y="187817"/>
                    <a:pt x="981917" y="211555"/>
                  </a:cubicBezTo>
                  <a:close/>
                </a:path>
              </a:pathLst>
            </a:cu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grpSp>
      <p:sp>
        <p:nvSpPr>
          <p:cNvPr id="63" name="椭圆 62"/>
          <p:cNvSpPr/>
          <p:nvPr/>
        </p:nvSpPr>
        <p:spPr>
          <a:xfrm>
            <a:off x="4264794" y="2242515"/>
            <a:ext cx="1273629" cy="1273629"/>
          </a:xfrm>
          <a:prstGeom prst="ellipse">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4" name="椭圆 63"/>
          <p:cNvSpPr/>
          <p:nvPr/>
        </p:nvSpPr>
        <p:spPr>
          <a:xfrm>
            <a:off x="6527823" y="4389558"/>
            <a:ext cx="1273629" cy="1273629"/>
          </a:xfrm>
          <a:prstGeom prst="ellipse">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5" name="椭圆 64"/>
          <p:cNvSpPr/>
          <p:nvPr/>
        </p:nvSpPr>
        <p:spPr>
          <a:xfrm>
            <a:off x="6544153" y="2191884"/>
            <a:ext cx="1273629" cy="1273629"/>
          </a:xfrm>
          <a:prstGeom prst="ellipse">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6" name="椭圆 65"/>
          <p:cNvSpPr/>
          <p:nvPr/>
        </p:nvSpPr>
        <p:spPr>
          <a:xfrm>
            <a:off x="4328240" y="4374364"/>
            <a:ext cx="1273629" cy="1273629"/>
          </a:xfrm>
          <a:prstGeom prst="ellipse">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7" name="文本框 66"/>
          <p:cNvSpPr txBox="1"/>
          <p:nvPr/>
        </p:nvSpPr>
        <p:spPr>
          <a:xfrm>
            <a:off x="4515215" y="2635269"/>
            <a:ext cx="826414" cy="461665"/>
          </a:xfrm>
          <a:prstGeom prst="rect">
            <a:avLst/>
          </a:prstGeom>
          <a:noFill/>
        </p:spPr>
        <p:txBody>
          <a:bodyPr wrap="square" rtlCol="0">
            <a:spAutoFit/>
          </a:bodyPr>
          <a:lstStyle/>
          <a:p>
            <a:r>
              <a:rPr lang="zh-CN" altLang="en-US" sz="2400" dirty="0">
                <a:solidFill>
                  <a:schemeClr val="bg1"/>
                </a:solidFill>
                <a:cs typeface="+mn-ea"/>
                <a:sym typeface="+mn-lt"/>
              </a:rPr>
              <a:t>共享</a:t>
            </a:r>
          </a:p>
        </p:txBody>
      </p:sp>
      <p:sp>
        <p:nvSpPr>
          <p:cNvPr id="68" name="文本框 67"/>
          <p:cNvSpPr txBox="1"/>
          <p:nvPr/>
        </p:nvSpPr>
        <p:spPr>
          <a:xfrm>
            <a:off x="4584777" y="4780344"/>
            <a:ext cx="873531" cy="461665"/>
          </a:xfrm>
          <a:prstGeom prst="rect">
            <a:avLst/>
          </a:prstGeom>
          <a:noFill/>
        </p:spPr>
        <p:txBody>
          <a:bodyPr wrap="square" rtlCol="0">
            <a:spAutoFit/>
          </a:bodyPr>
          <a:lstStyle/>
          <a:p>
            <a:r>
              <a:rPr lang="zh-CN" altLang="en-US" sz="2400" dirty="0">
                <a:solidFill>
                  <a:schemeClr val="bg1"/>
                </a:solidFill>
                <a:cs typeface="+mn-ea"/>
                <a:sym typeface="+mn-lt"/>
              </a:rPr>
              <a:t>效率</a:t>
            </a:r>
          </a:p>
        </p:txBody>
      </p:sp>
      <p:sp>
        <p:nvSpPr>
          <p:cNvPr id="69" name="文本框 68"/>
          <p:cNvSpPr txBox="1"/>
          <p:nvPr/>
        </p:nvSpPr>
        <p:spPr>
          <a:xfrm>
            <a:off x="6803494" y="2577464"/>
            <a:ext cx="805423" cy="461665"/>
          </a:xfrm>
          <a:prstGeom prst="rect">
            <a:avLst/>
          </a:prstGeom>
          <a:noFill/>
        </p:spPr>
        <p:txBody>
          <a:bodyPr wrap="square" rtlCol="0">
            <a:spAutoFit/>
          </a:bodyPr>
          <a:lstStyle/>
          <a:p>
            <a:r>
              <a:rPr lang="zh-CN" altLang="en-US" sz="2400" dirty="0">
                <a:solidFill>
                  <a:schemeClr val="bg1"/>
                </a:solidFill>
                <a:cs typeface="+mn-ea"/>
                <a:sym typeface="+mn-lt"/>
              </a:rPr>
              <a:t>智能</a:t>
            </a:r>
          </a:p>
        </p:txBody>
      </p:sp>
      <p:sp>
        <p:nvSpPr>
          <p:cNvPr id="70" name="文本框 69"/>
          <p:cNvSpPr txBox="1"/>
          <p:nvPr/>
        </p:nvSpPr>
        <p:spPr>
          <a:xfrm>
            <a:off x="6777967" y="4780344"/>
            <a:ext cx="800419" cy="461665"/>
          </a:xfrm>
          <a:prstGeom prst="rect">
            <a:avLst/>
          </a:prstGeom>
          <a:noFill/>
        </p:spPr>
        <p:txBody>
          <a:bodyPr wrap="square" rtlCol="0">
            <a:spAutoFit/>
          </a:bodyPr>
          <a:lstStyle/>
          <a:p>
            <a:r>
              <a:rPr lang="zh-CN" altLang="en-US" sz="2400" dirty="0">
                <a:solidFill>
                  <a:schemeClr val="bg1"/>
                </a:solidFill>
                <a:cs typeface="+mn-ea"/>
                <a:sym typeface="+mn-lt"/>
              </a:rPr>
              <a:t>绿色</a:t>
            </a:r>
          </a:p>
        </p:txBody>
      </p:sp>
      <p:sp>
        <p:nvSpPr>
          <p:cNvPr id="71" name="文本框 70"/>
          <p:cNvSpPr txBox="1"/>
          <p:nvPr/>
        </p:nvSpPr>
        <p:spPr>
          <a:xfrm>
            <a:off x="1729370" y="2508496"/>
            <a:ext cx="2343365" cy="646331"/>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共享经济，一种新型资源配置方式</a:t>
            </a:r>
          </a:p>
        </p:txBody>
      </p:sp>
      <p:sp>
        <p:nvSpPr>
          <p:cNvPr id="72" name="文本框 71"/>
          <p:cNvSpPr txBox="1"/>
          <p:nvPr/>
        </p:nvSpPr>
        <p:spPr>
          <a:xfrm>
            <a:off x="8158241" y="2505532"/>
            <a:ext cx="2343365" cy="646331"/>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线上</a:t>
            </a:r>
            <a:r>
              <a:rPr lang="en-US" altLang="zh-CN" dirty="0">
                <a:solidFill>
                  <a:schemeClr val="tx1">
                    <a:lumMod val="75000"/>
                    <a:lumOff val="25000"/>
                  </a:schemeClr>
                </a:solidFill>
                <a:cs typeface="+mn-ea"/>
                <a:sym typeface="+mn-lt"/>
              </a:rPr>
              <a:t>APP</a:t>
            </a:r>
            <a:r>
              <a:rPr lang="zh-CN" altLang="en-US" dirty="0">
                <a:solidFill>
                  <a:schemeClr val="tx1">
                    <a:lumMod val="75000"/>
                    <a:lumOff val="25000"/>
                  </a:schemeClr>
                </a:solidFill>
                <a:cs typeface="+mn-ea"/>
                <a:sym typeface="+mn-lt"/>
              </a:rPr>
              <a:t>即时定位，车位一点即来</a:t>
            </a:r>
          </a:p>
        </p:txBody>
      </p:sp>
      <p:sp>
        <p:nvSpPr>
          <p:cNvPr id="73" name="文本框 72"/>
          <p:cNvSpPr txBox="1"/>
          <p:nvPr/>
        </p:nvSpPr>
        <p:spPr>
          <a:xfrm>
            <a:off x="8190324" y="4688010"/>
            <a:ext cx="2343365" cy="646331"/>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减少找车位时间，就是减少碳排放</a:t>
            </a:r>
          </a:p>
        </p:txBody>
      </p:sp>
      <p:sp>
        <p:nvSpPr>
          <p:cNvPr id="74" name="文本框 73"/>
          <p:cNvSpPr txBox="1"/>
          <p:nvPr/>
        </p:nvSpPr>
        <p:spPr>
          <a:xfrm>
            <a:off x="1761343" y="4688009"/>
            <a:ext cx="2343365" cy="646331"/>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改变停车方式，提高车位使用效率</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962527" y="883919"/>
            <a:ext cx="1592179" cy="1592179"/>
          </a:xfrm>
          <a:prstGeom prst="ellipse">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800" dirty="0">
                <a:solidFill>
                  <a:schemeClr val="bg1"/>
                </a:solidFill>
                <a:latin typeface="Agency FB" panose="020B0503020202020204" pitchFamily="34" charset="0"/>
                <a:cs typeface="+mn-ea"/>
                <a:sym typeface="+mn-lt"/>
              </a:rPr>
              <a:t>3</a:t>
            </a:r>
            <a:endParaRPr lang="zh-CN" altLang="en-US" sz="13800" dirty="0">
              <a:solidFill>
                <a:schemeClr val="bg1"/>
              </a:solidFill>
              <a:latin typeface="Agency FB" panose="020B0503020202020204" pitchFamily="34" charset="0"/>
              <a:cs typeface="+mn-ea"/>
              <a:sym typeface="+mn-lt"/>
            </a:endParaRPr>
          </a:p>
        </p:txBody>
      </p:sp>
      <p:sp>
        <p:nvSpPr>
          <p:cNvPr id="3" name="文本框 2"/>
          <p:cNvSpPr txBox="1"/>
          <p:nvPr/>
        </p:nvSpPr>
        <p:spPr>
          <a:xfrm>
            <a:off x="962527" y="2788920"/>
            <a:ext cx="4569593" cy="707886"/>
          </a:xfrm>
          <a:prstGeom prst="rect">
            <a:avLst/>
          </a:prstGeom>
          <a:noFill/>
        </p:spPr>
        <p:txBody>
          <a:bodyPr wrap="square" rtlCol="0">
            <a:spAutoFit/>
          </a:bodyPr>
          <a:lstStyle/>
          <a:p>
            <a:r>
              <a:rPr lang="zh-CN" altLang="en-US" sz="4000" dirty="0">
                <a:solidFill>
                  <a:schemeClr val="tx1">
                    <a:lumMod val="75000"/>
                    <a:lumOff val="25000"/>
                  </a:schemeClr>
                </a:solidFill>
                <a:cs typeface="+mn-ea"/>
                <a:sym typeface="+mn-lt"/>
              </a:rPr>
              <a:t>在此输入你的标题</a:t>
            </a:r>
          </a:p>
        </p:txBody>
      </p:sp>
      <p:cxnSp>
        <p:nvCxnSpPr>
          <p:cNvPr id="4" name="直接连接符 3"/>
          <p:cNvCxnSpPr/>
          <p:nvPr/>
        </p:nvCxnSpPr>
        <p:spPr>
          <a:xfrm>
            <a:off x="1036269" y="3613067"/>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962527" y="3809628"/>
            <a:ext cx="5277825" cy="584775"/>
          </a:xfrm>
          <a:prstGeom prst="rect">
            <a:avLst/>
          </a:prstGeom>
          <a:noFill/>
        </p:spPr>
        <p:txBody>
          <a:bodyPr wrap="square" rtlCol="0">
            <a:spAutoFit/>
          </a:bodyPr>
          <a:lstStyle/>
          <a:p>
            <a:r>
              <a:rPr lang="en-US" altLang="zh-CN" sz="1600" dirty="0">
                <a:solidFill>
                  <a:schemeClr val="tx1">
                    <a:lumMod val="50000"/>
                    <a:lumOff val="50000"/>
                  </a:schemeClr>
                </a:solidFill>
                <a:cs typeface="+mn-ea"/>
                <a:sym typeface="+mn-lt"/>
              </a:rPr>
              <a:t>Life was like a box of chocolates, you never know what you’re go to get.</a:t>
            </a:r>
            <a:endParaRPr lang="zh-CN" altLang="en-US" sz="16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165122" y="2324166"/>
            <a:ext cx="425988" cy="425988"/>
          </a:xfrm>
          <a:prstGeom prst="rect">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cs typeface="+mn-ea"/>
                <a:sym typeface="+mn-lt"/>
              </a:rPr>
              <a:t>1</a:t>
            </a:r>
            <a:endParaRPr lang="zh-CN" altLang="en-US" sz="2400" dirty="0">
              <a:solidFill>
                <a:schemeClr val="bg1"/>
              </a:solidFill>
              <a:cs typeface="+mn-ea"/>
              <a:sym typeface="+mn-lt"/>
            </a:endParaRPr>
          </a:p>
        </p:txBody>
      </p:sp>
      <p:sp>
        <p:nvSpPr>
          <p:cNvPr id="5" name="矩形 4"/>
          <p:cNvSpPr/>
          <p:nvPr/>
        </p:nvSpPr>
        <p:spPr>
          <a:xfrm>
            <a:off x="3847616" y="2295838"/>
            <a:ext cx="425988" cy="425988"/>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cs typeface="+mn-ea"/>
                <a:sym typeface="+mn-lt"/>
              </a:rPr>
              <a:t>2</a:t>
            </a:r>
            <a:endParaRPr lang="zh-CN" altLang="en-US" sz="2400" dirty="0">
              <a:solidFill>
                <a:schemeClr val="bg1"/>
              </a:solidFill>
              <a:cs typeface="+mn-ea"/>
              <a:sym typeface="+mn-lt"/>
            </a:endParaRPr>
          </a:p>
        </p:txBody>
      </p:sp>
      <p:sp>
        <p:nvSpPr>
          <p:cNvPr id="6" name="矩形 5"/>
          <p:cNvSpPr/>
          <p:nvPr/>
        </p:nvSpPr>
        <p:spPr>
          <a:xfrm>
            <a:off x="1165122" y="3189596"/>
            <a:ext cx="425988" cy="425988"/>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cs typeface="+mn-ea"/>
                <a:sym typeface="+mn-lt"/>
              </a:rPr>
              <a:t>3</a:t>
            </a:r>
            <a:endParaRPr lang="zh-CN" altLang="en-US" sz="2400" dirty="0">
              <a:solidFill>
                <a:schemeClr val="bg1"/>
              </a:solidFill>
              <a:cs typeface="+mn-ea"/>
              <a:sym typeface="+mn-lt"/>
            </a:endParaRPr>
          </a:p>
        </p:txBody>
      </p:sp>
      <p:sp>
        <p:nvSpPr>
          <p:cNvPr id="7" name="矩形 6"/>
          <p:cNvSpPr/>
          <p:nvPr/>
        </p:nvSpPr>
        <p:spPr>
          <a:xfrm>
            <a:off x="3847616" y="3189596"/>
            <a:ext cx="425988" cy="425988"/>
          </a:xfrm>
          <a:prstGeom prst="rect">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cs typeface="+mn-ea"/>
                <a:sym typeface="+mn-lt"/>
              </a:rPr>
              <a:t>4</a:t>
            </a:r>
            <a:endParaRPr lang="zh-CN" altLang="en-US" sz="2400" dirty="0">
              <a:solidFill>
                <a:schemeClr val="bg1"/>
              </a:solidFill>
              <a:cs typeface="+mn-ea"/>
              <a:sym typeface="+mn-lt"/>
            </a:endParaRPr>
          </a:p>
        </p:txBody>
      </p:sp>
      <p:sp>
        <p:nvSpPr>
          <p:cNvPr id="8" name="文本框 7"/>
          <p:cNvSpPr txBox="1"/>
          <p:nvPr/>
        </p:nvSpPr>
        <p:spPr>
          <a:xfrm>
            <a:off x="1591110" y="2352494"/>
            <a:ext cx="2092558"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点击输入您的内容</a:t>
            </a:r>
          </a:p>
        </p:txBody>
      </p:sp>
      <p:sp>
        <p:nvSpPr>
          <p:cNvPr id="9" name="文本框 8"/>
          <p:cNvSpPr txBox="1"/>
          <p:nvPr/>
        </p:nvSpPr>
        <p:spPr>
          <a:xfrm>
            <a:off x="1591110" y="3226493"/>
            <a:ext cx="2092558"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点击输入您的内容</a:t>
            </a:r>
          </a:p>
        </p:txBody>
      </p:sp>
      <p:sp>
        <p:nvSpPr>
          <p:cNvPr id="10" name="文本框 9"/>
          <p:cNvSpPr txBox="1"/>
          <p:nvPr/>
        </p:nvSpPr>
        <p:spPr>
          <a:xfrm>
            <a:off x="4273604" y="2342759"/>
            <a:ext cx="2038703"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点击输入您的内容</a:t>
            </a:r>
          </a:p>
        </p:txBody>
      </p:sp>
      <p:sp>
        <p:nvSpPr>
          <p:cNvPr id="11" name="文本框 10"/>
          <p:cNvSpPr txBox="1"/>
          <p:nvPr/>
        </p:nvSpPr>
        <p:spPr>
          <a:xfrm>
            <a:off x="4273604" y="3227662"/>
            <a:ext cx="2038703"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点击输入您的内容</a:t>
            </a:r>
          </a:p>
        </p:txBody>
      </p:sp>
      <p:sp>
        <p:nvSpPr>
          <p:cNvPr id="12" name="文本框 11"/>
          <p:cNvSpPr txBox="1"/>
          <p:nvPr/>
        </p:nvSpPr>
        <p:spPr>
          <a:xfrm>
            <a:off x="1165120" y="4072164"/>
            <a:ext cx="5147185" cy="1077218"/>
          </a:xfrm>
          <a:prstGeom prst="rect">
            <a:avLst/>
          </a:prstGeom>
          <a:noFill/>
        </p:spPr>
        <p:txBody>
          <a:bodyPr wrap="square" rtlCol="0">
            <a:spAutoFit/>
          </a:bodyPr>
          <a:lstStyle/>
          <a:p>
            <a:pPr algn="just"/>
            <a:r>
              <a:rPr lang="zh-CN" altLang="en-US" sz="1600" dirty="0">
                <a:solidFill>
                  <a:schemeClr val="tx1">
                    <a:lumMod val="65000"/>
                    <a:lumOff val="35000"/>
                  </a:schemeClr>
                </a:solidFill>
                <a:cs typeface="+mn-ea"/>
                <a:sym typeface="+mn-lt"/>
              </a:rPr>
              <a:t>微信支付是集成在微信客户端的支付功能，用户可以通过手机完成快速的支付流程。微信支付向用户提供安全、快捷、高效的支付服务，以绑定银行卡的快捷支付为基础。</a:t>
            </a:r>
          </a:p>
        </p:txBody>
      </p:sp>
      <p:sp>
        <p:nvSpPr>
          <p:cNvPr id="13" name="文本框 12"/>
          <p:cNvSpPr txBox="1"/>
          <p:nvPr/>
        </p:nvSpPr>
        <p:spPr>
          <a:xfrm>
            <a:off x="1165121" y="5288677"/>
            <a:ext cx="5147184" cy="584775"/>
          </a:xfrm>
          <a:prstGeom prst="rect">
            <a:avLst/>
          </a:prstGeom>
          <a:noFill/>
        </p:spPr>
        <p:txBody>
          <a:bodyPr wrap="square" rtlCol="0">
            <a:spAutoFit/>
          </a:bodyPr>
          <a:lstStyle/>
          <a:p>
            <a:pPr algn="just"/>
            <a:r>
              <a:rPr lang="zh-CN" altLang="en-US" sz="1600" dirty="0">
                <a:solidFill>
                  <a:schemeClr val="tx1">
                    <a:lumMod val="65000"/>
                    <a:lumOff val="35000"/>
                  </a:schemeClr>
                </a:solidFill>
                <a:cs typeface="+mn-ea"/>
                <a:sym typeface="+mn-lt"/>
              </a:rPr>
              <a:t>用户在支付时只需在自己的智能手机上输入密码，无需任何刷卡步骤即可完成支付，整个过程简便流畅。</a:t>
            </a:r>
          </a:p>
        </p:txBody>
      </p:sp>
      <p:sp>
        <p:nvSpPr>
          <p:cNvPr id="14" name="文本框 13"/>
          <p:cNvSpPr txBox="1"/>
          <p:nvPr/>
        </p:nvSpPr>
        <p:spPr>
          <a:xfrm>
            <a:off x="6902241" y="4796234"/>
            <a:ext cx="4247019" cy="1077218"/>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支持支付场景：微信公众平台支付、</a:t>
            </a:r>
            <a:r>
              <a:rPr lang="en-US" altLang="zh-CN" sz="1600" dirty="0">
                <a:solidFill>
                  <a:schemeClr val="tx1">
                    <a:lumMod val="65000"/>
                    <a:lumOff val="35000"/>
                  </a:schemeClr>
                </a:solidFill>
                <a:cs typeface="+mn-ea"/>
                <a:sym typeface="+mn-lt"/>
              </a:rPr>
              <a:t>APP</a:t>
            </a:r>
            <a:r>
              <a:rPr lang="zh-CN" altLang="en-US" sz="1600" dirty="0">
                <a:solidFill>
                  <a:schemeClr val="tx1">
                    <a:lumMod val="65000"/>
                    <a:lumOff val="35000"/>
                  </a:schemeClr>
                </a:solidFill>
                <a:cs typeface="+mn-ea"/>
                <a:sym typeface="+mn-lt"/>
              </a:rPr>
              <a:t>（第三方应用商城）支付、二维码扫描支付、刷卡支付，用户展示条码，商户扫描后，完成支付。</a:t>
            </a:r>
          </a:p>
        </p:txBody>
      </p:sp>
      <p:graphicFrame>
        <p:nvGraphicFramePr>
          <p:cNvPr id="15" name="图表 14"/>
          <p:cNvGraphicFramePr/>
          <p:nvPr/>
        </p:nvGraphicFramePr>
        <p:xfrm>
          <a:off x="6902241" y="1438608"/>
          <a:ext cx="4247019" cy="332734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962527" y="883919"/>
            <a:ext cx="1592179" cy="1592179"/>
          </a:xfrm>
          <a:prstGeom prst="ellipse">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800" dirty="0">
                <a:solidFill>
                  <a:schemeClr val="bg1"/>
                </a:solidFill>
                <a:latin typeface="Agency FB" panose="020B0503020202020204" pitchFamily="34" charset="0"/>
                <a:cs typeface="+mn-ea"/>
                <a:sym typeface="+mn-lt"/>
              </a:rPr>
              <a:t>4</a:t>
            </a:r>
            <a:endParaRPr lang="zh-CN" altLang="en-US" sz="13800" dirty="0">
              <a:solidFill>
                <a:schemeClr val="bg1"/>
              </a:solidFill>
              <a:latin typeface="Agency FB" panose="020B0503020202020204" pitchFamily="34" charset="0"/>
              <a:cs typeface="+mn-ea"/>
              <a:sym typeface="+mn-lt"/>
            </a:endParaRPr>
          </a:p>
        </p:txBody>
      </p:sp>
      <p:sp>
        <p:nvSpPr>
          <p:cNvPr id="3" name="文本框 2"/>
          <p:cNvSpPr txBox="1"/>
          <p:nvPr/>
        </p:nvSpPr>
        <p:spPr>
          <a:xfrm>
            <a:off x="962527" y="2788920"/>
            <a:ext cx="4569593" cy="707886"/>
          </a:xfrm>
          <a:prstGeom prst="rect">
            <a:avLst/>
          </a:prstGeom>
          <a:noFill/>
        </p:spPr>
        <p:txBody>
          <a:bodyPr wrap="square" rtlCol="0">
            <a:spAutoFit/>
          </a:bodyPr>
          <a:lstStyle/>
          <a:p>
            <a:r>
              <a:rPr lang="zh-CN" altLang="en-US" sz="4000" dirty="0">
                <a:solidFill>
                  <a:schemeClr val="tx1">
                    <a:lumMod val="75000"/>
                    <a:lumOff val="25000"/>
                  </a:schemeClr>
                </a:solidFill>
                <a:cs typeface="+mn-ea"/>
                <a:sym typeface="+mn-lt"/>
              </a:rPr>
              <a:t>在此输入你的标题</a:t>
            </a:r>
          </a:p>
        </p:txBody>
      </p:sp>
      <p:cxnSp>
        <p:nvCxnSpPr>
          <p:cNvPr id="4" name="直接连接符 3"/>
          <p:cNvCxnSpPr/>
          <p:nvPr/>
        </p:nvCxnSpPr>
        <p:spPr>
          <a:xfrm>
            <a:off x="1036269" y="3613067"/>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962527" y="3809628"/>
            <a:ext cx="5277825" cy="584775"/>
          </a:xfrm>
          <a:prstGeom prst="rect">
            <a:avLst/>
          </a:prstGeom>
          <a:noFill/>
        </p:spPr>
        <p:txBody>
          <a:bodyPr wrap="square" rtlCol="0">
            <a:spAutoFit/>
          </a:bodyPr>
          <a:lstStyle/>
          <a:p>
            <a:r>
              <a:rPr lang="en-US" altLang="zh-CN" sz="1600" dirty="0">
                <a:solidFill>
                  <a:schemeClr val="tx1">
                    <a:lumMod val="50000"/>
                    <a:lumOff val="50000"/>
                  </a:schemeClr>
                </a:solidFill>
                <a:cs typeface="+mn-ea"/>
                <a:sym typeface="+mn-lt"/>
              </a:rPr>
              <a:t>Life was like a box of chocolates, you never know what you’re go to get.</a:t>
            </a:r>
            <a:endParaRPr lang="zh-CN" altLang="en-US" sz="16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等腰三角形 3"/>
          <p:cNvSpPr/>
          <p:nvPr/>
        </p:nvSpPr>
        <p:spPr>
          <a:xfrm>
            <a:off x="4726416" y="2059595"/>
            <a:ext cx="2720750" cy="795688"/>
          </a:xfrm>
          <a:prstGeom prst="triangle">
            <a:avLst>
              <a:gd name="adj" fmla="val 21552"/>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等腰三角形 4"/>
          <p:cNvSpPr/>
          <p:nvPr/>
        </p:nvSpPr>
        <p:spPr>
          <a:xfrm rot="3534314">
            <a:off x="5909552" y="2728645"/>
            <a:ext cx="2720750" cy="795688"/>
          </a:xfrm>
          <a:prstGeom prst="triangle">
            <a:avLst>
              <a:gd name="adj" fmla="val 21552"/>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等腰三角形 5"/>
          <p:cNvSpPr/>
          <p:nvPr/>
        </p:nvSpPr>
        <p:spPr>
          <a:xfrm rot="7248962">
            <a:off x="5919818" y="4126981"/>
            <a:ext cx="2720750" cy="795690"/>
          </a:xfrm>
          <a:prstGeom prst="triangle">
            <a:avLst>
              <a:gd name="adj" fmla="val 21552"/>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p:cNvSpPr/>
          <p:nvPr/>
        </p:nvSpPr>
        <p:spPr>
          <a:xfrm rot="10800000">
            <a:off x="4726416" y="4808288"/>
            <a:ext cx="2720748" cy="795693"/>
          </a:xfrm>
          <a:prstGeom prst="triangle">
            <a:avLst>
              <a:gd name="adj" fmla="val 21552"/>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等腰三角形 7"/>
          <p:cNvSpPr/>
          <p:nvPr/>
        </p:nvSpPr>
        <p:spPr>
          <a:xfrm rot="14367128">
            <a:off x="3555044" y="4140597"/>
            <a:ext cx="2720748" cy="795693"/>
          </a:xfrm>
          <a:prstGeom prst="triangle">
            <a:avLst>
              <a:gd name="adj" fmla="val 21552"/>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等腰三角形 8"/>
          <p:cNvSpPr/>
          <p:nvPr/>
        </p:nvSpPr>
        <p:spPr>
          <a:xfrm rot="18041582">
            <a:off x="3551433" y="2723811"/>
            <a:ext cx="2720748" cy="795692"/>
          </a:xfrm>
          <a:prstGeom prst="triangle">
            <a:avLst>
              <a:gd name="adj" fmla="val 21552"/>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985111" y="2475672"/>
            <a:ext cx="3103124" cy="830997"/>
          </a:xfrm>
          <a:prstGeom prst="rect">
            <a:avLst/>
          </a:prstGeom>
          <a:noFill/>
        </p:spPr>
        <p:txBody>
          <a:bodyPr wrap="square" rtlCol="0">
            <a:spAutoFit/>
          </a:bodyPr>
          <a:lstStyle/>
          <a:p>
            <a:pPr algn="just"/>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1" name="文本框 10"/>
          <p:cNvSpPr txBox="1"/>
          <p:nvPr/>
        </p:nvSpPr>
        <p:spPr>
          <a:xfrm>
            <a:off x="985111" y="3701986"/>
            <a:ext cx="3103124" cy="830997"/>
          </a:xfrm>
          <a:prstGeom prst="rect">
            <a:avLst/>
          </a:prstGeom>
          <a:noFill/>
        </p:spPr>
        <p:txBody>
          <a:bodyPr wrap="square" rtlCol="0">
            <a:spAutoFit/>
          </a:bodyPr>
          <a:lstStyle/>
          <a:p>
            <a:pPr algn="just"/>
            <a:r>
              <a:rPr lang="zh-CN" altLang="en-US" sz="1600" dirty="0">
                <a:solidFill>
                  <a:schemeClr val="tx1">
                    <a:lumMod val="65000"/>
                    <a:lumOff val="35000"/>
                  </a:schemeClr>
                </a:solidFill>
                <a:cs typeface="+mn-ea"/>
                <a:sym typeface="+mn-lt"/>
              </a:rPr>
              <a:t>用户在支付时只需在自己的智能手机上输入密码，无需任何刷卡步骤即可完成支付</a:t>
            </a:r>
          </a:p>
        </p:txBody>
      </p:sp>
      <p:sp>
        <p:nvSpPr>
          <p:cNvPr id="12" name="文本框 11"/>
          <p:cNvSpPr txBox="1"/>
          <p:nvPr/>
        </p:nvSpPr>
        <p:spPr>
          <a:xfrm>
            <a:off x="985111" y="5097033"/>
            <a:ext cx="3103124" cy="830997"/>
          </a:xfrm>
          <a:prstGeom prst="rect">
            <a:avLst/>
          </a:prstGeom>
          <a:noFill/>
        </p:spPr>
        <p:txBody>
          <a:bodyPr wrap="square" rtlCol="0">
            <a:spAutoFit/>
          </a:bodyPr>
          <a:lstStyle/>
          <a:p>
            <a:pPr algn="just"/>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3" name="文本框 12"/>
          <p:cNvSpPr txBox="1"/>
          <p:nvPr/>
        </p:nvSpPr>
        <p:spPr>
          <a:xfrm>
            <a:off x="8252935" y="2368992"/>
            <a:ext cx="3103124" cy="830997"/>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用户在支付时只需在自己的智能手机上输入密码，无需任何刷卡步骤即可完成支付</a:t>
            </a:r>
          </a:p>
        </p:txBody>
      </p:sp>
      <p:sp>
        <p:nvSpPr>
          <p:cNvPr id="14" name="文本框 13"/>
          <p:cNvSpPr txBox="1"/>
          <p:nvPr/>
        </p:nvSpPr>
        <p:spPr>
          <a:xfrm>
            <a:off x="8252935" y="3701986"/>
            <a:ext cx="3103124" cy="830997"/>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5" name="文本框 14"/>
          <p:cNvSpPr txBox="1"/>
          <p:nvPr/>
        </p:nvSpPr>
        <p:spPr>
          <a:xfrm>
            <a:off x="8252935" y="5036073"/>
            <a:ext cx="3103124" cy="830997"/>
          </a:xfrm>
          <a:prstGeom prst="rect">
            <a:avLst/>
          </a:prstGeom>
          <a:noFill/>
        </p:spPr>
        <p:txBody>
          <a:bodyPr wrap="square" rtlCol="0">
            <a:spAutoFit/>
          </a:bodyPr>
          <a:lstStyle/>
          <a:p>
            <a:pPr algn="just"/>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6" name="文本框 15"/>
          <p:cNvSpPr txBox="1"/>
          <p:nvPr/>
        </p:nvSpPr>
        <p:spPr>
          <a:xfrm>
            <a:off x="963059" y="2106340"/>
            <a:ext cx="3125176"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r>
              <a:rPr lang="zh-CN" altLang="en-US" dirty="0">
                <a:solidFill>
                  <a:schemeClr val="tx1">
                    <a:lumMod val="75000"/>
                    <a:lumOff val="25000"/>
                  </a:schemeClr>
                </a:solidFill>
                <a:effectLst/>
                <a:latin typeface="+mn-lt"/>
                <a:ea typeface="+mn-ea"/>
                <a:cs typeface="+mn-ea"/>
                <a:sym typeface="+mn-lt"/>
              </a:rPr>
              <a:t>输入你的标题</a:t>
            </a:r>
          </a:p>
        </p:txBody>
      </p:sp>
      <p:sp>
        <p:nvSpPr>
          <p:cNvPr id="17" name="文本框 16"/>
          <p:cNvSpPr txBox="1"/>
          <p:nvPr/>
        </p:nvSpPr>
        <p:spPr>
          <a:xfrm>
            <a:off x="963058" y="3332654"/>
            <a:ext cx="3101166"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r>
              <a:rPr lang="zh-CN" altLang="en-US" dirty="0">
                <a:solidFill>
                  <a:schemeClr val="tx1">
                    <a:lumMod val="75000"/>
                    <a:lumOff val="25000"/>
                  </a:schemeClr>
                </a:solidFill>
                <a:effectLst/>
                <a:latin typeface="+mn-lt"/>
                <a:ea typeface="+mn-ea"/>
                <a:cs typeface="+mn-ea"/>
                <a:sym typeface="+mn-lt"/>
              </a:rPr>
              <a:t>输入你的标题</a:t>
            </a:r>
          </a:p>
        </p:txBody>
      </p:sp>
      <p:sp>
        <p:nvSpPr>
          <p:cNvPr id="18" name="文本框 17"/>
          <p:cNvSpPr txBox="1"/>
          <p:nvPr/>
        </p:nvSpPr>
        <p:spPr>
          <a:xfrm>
            <a:off x="963059" y="4732131"/>
            <a:ext cx="3125176"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r>
              <a:rPr lang="zh-CN" altLang="en-US" dirty="0">
                <a:solidFill>
                  <a:schemeClr val="tx1">
                    <a:lumMod val="75000"/>
                    <a:lumOff val="25000"/>
                  </a:schemeClr>
                </a:solidFill>
                <a:effectLst/>
                <a:latin typeface="+mn-lt"/>
                <a:ea typeface="+mn-ea"/>
                <a:cs typeface="+mn-ea"/>
                <a:sym typeface="+mn-lt"/>
              </a:rPr>
              <a:t>输入你的标题</a:t>
            </a:r>
          </a:p>
        </p:txBody>
      </p:sp>
      <p:sp>
        <p:nvSpPr>
          <p:cNvPr id="21" name="文本框 20"/>
          <p:cNvSpPr txBox="1"/>
          <p:nvPr/>
        </p:nvSpPr>
        <p:spPr>
          <a:xfrm>
            <a:off x="8271122" y="1999660"/>
            <a:ext cx="2225040"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latin typeface="+mn-lt"/>
                <a:ea typeface="+mn-ea"/>
                <a:cs typeface="+mn-ea"/>
                <a:sym typeface="+mn-lt"/>
              </a:rPr>
              <a:t>输入你的标题</a:t>
            </a:r>
          </a:p>
        </p:txBody>
      </p:sp>
      <p:sp>
        <p:nvSpPr>
          <p:cNvPr id="22" name="文本框 21"/>
          <p:cNvSpPr txBox="1"/>
          <p:nvPr/>
        </p:nvSpPr>
        <p:spPr>
          <a:xfrm>
            <a:off x="8271122" y="3332654"/>
            <a:ext cx="2225040"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latin typeface="+mn-lt"/>
                <a:ea typeface="+mn-ea"/>
                <a:cs typeface="+mn-ea"/>
                <a:sym typeface="+mn-lt"/>
              </a:rPr>
              <a:t>输入你的标题</a:t>
            </a:r>
          </a:p>
        </p:txBody>
      </p:sp>
      <p:sp>
        <p:nvSpPr>
          <p:cNvPr id="23" name="文本框 22"/>
          <p:cNvSpPr txBox="1"/>
          <p:nvPr/>
        </p:nvSpPr>
        <p:spPr>
          <a:xfrm>
            <a:off x="8271122" y="4671171"/>
            <a:ext cx="2225040"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latin typeface="+mn-lt"/>
                <a:ea typeface="+mn-ea"/>
                <a:cs typeface="+mn-ea"/>
                <a:sym typeface="+mn-lt"/>
              </a:rPr>
              <a:t>输入你的标题</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圆角右箭头 3"/>
          <p:cNvSpPr/>
          <p:nvPr/>
        </p:nvSpPr>
        <p:spPr>
          <a:xfrm>
            <a:off x="6257064" y="1874520"/>
            <a:ext cx="2003016" cy="2682240"/>
          </a:xfrm>
          <a:prstGeom prst="bentArrow">
            <a:avLst>
              <a:gd name="adj1" fmla="val 10114"/>
              <a:gd name="adj2" fmla="val 8376"/>
              <a:gd name="adj3" fmla="val 18465"/>
              <a:gd name="adj4" fmla="val 43750"/>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sp>
        <p:nvSpPr>
          <p:cNvPr id="5" name="圆角右箭头 4"/>
          <p:cNvSpPr/>
          <p:nvPr/>
        </p:nvSpPr>
        <p:spPr>
          <a:xfrm>
            <a:off x="6242316" y="3596640"/>
            <a:ext cx="1791744" cy="3025140"/>
          </a:xfrm>
          <a:prstGeom prst="bentArrow">
            <a:avLst>
              <a:gd name="adj1" fmla="val 13168"/>
              <a:gd name="adj2" fmla="val 9259"/>
              <a:gd name="adj3" fmla="val 20732"/>
              <a:gd name="adj4" fmla="val 43750"/>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sp>
        <p:nvSpPr>
          <p:cNvPr id="6" name="圆角右箭头 5"/>
          <p:cNvSpPr/>
          <p:nvPr/>
        </p:nvSpPr>
        <p:spPr>
          <a:xfrm flipH="1">
            <a:off x="4236720" y="2602230"/>
            <a:ext cx="2225040" cy="2575560"/>
          </a:xfrm>
          <a:prstGeom prst="bentArrow">
            <a:avLst>
              <a:gd name="adj1" fmla="val 10048"/>
              <a:gd name="adj2" fmla="val 8262"/>
              <a:gd name="adj3" fmla="val 17780"/>
              <a:gd name="adj4" fmla="val 43750"/>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sp>
        <p:nvSpPr>
          <p:cNvPr id="7" name="圆角右箭头 6"/>
          <p:cNvSpPr/>
          <p:nvPr/>
        </p:nvSpPr>
        <p:spPr>
          <a:xfrm flipH="1">
            <a:off x="4511532" y="4282440"/>
            <a:ext cx="1974624" cy="2849880"/>
          </a:xfrm>
          <a:prstGeom prst="bentArrow">
            <a:avLst>
              <a:gd name="adj1" fmla="val 12512"/>
              <a:gd name="adj2" fmla="val 9892"/>
              <a:gd name="adj3" fmla="val 17062"/>
              <a:gd name="adj4" fmla="val 43750"/>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sp>
        <p:nvSpPr>
          <p:cNvPr id="8" name="文本框 7"/>
          <p:cNvSpPr txBox="1"/>
          <p:nvPr/>
        </p:nvSpPr>
        <p:spPr>
          <a:xfrm>
            <a:off x="2011680" y="2610486"/>
            <a:ext cx="2225040" cy="400110"/>
          </a:xfrm>
          <a:prstGeom prst="rect">
            <a:avLst/>
          </a:prstGeom>
          <a:noFill/>
        </p:spPr>
        <p:txBody>
          <a:bodyPr wrap="square" rtlCol="0">
            <a:spAutoFit/>
          </a:bodyPr>
          <a:lstStyle/>
          <a:p>
            <a:pPr algn="r"/>
            <a:r>
              <a:rPr lang="zh-CN" altLang="en-US" sz="2000" dirty="0">
                <a:solidFill>
                  <a:schemeClr val="tx1">
                    <a:lumMod val="75000"/>
                    <a:lumOff val="25000"/>
                  </a:schemeClr>
                </a:solidFill>
                <a:cs typeface="+mn-ea"/>
                <a:sym typeface="+mn-lt"/>
              </a:rPr>
              <a:t>输入你的标题</a:t>
            </a:r>
          </a:p>
        </p:txBody>
      </p:sp>
      <p:sp>
        <p:nvSpPr>
          <p:cNvPr id="9" name="文本框 8"/>
          <p:cNvSpPr txBox="1"/>
          <p:nvPr/>
        </p:nvSpPr>
        <p:spPr>
          <a:xfrm>
            <a:off x="1371600" y="3029250"/>
            <a:ext cx="2865120" cy="830997"/>
          </a:xfrm>
          <a:prstGeom prst="rect">
            <a:avLst/>
          </a:prstGeom>
          <a:noFill/>
        </p:spPr>
        <p:txBody>
          <a:bodyPr wrap="square" rtlCol="0">
            <a:spAutoFit/>
          </a:bodyPr>
          <a:lstStyle/>
          <a:p>
            <a:pPr algn="r"/>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0" name="文本框 9"/>
          <p:cNvSpPr txBox="1"/>
          <p:nvPr/>
        </p:nvSpPr>
        <p:spPr>
          <a:xfrm>
            <a:off x="2245221" y="4298931"/>
            <a:ext cx="2225040" cy="400110"/>
          </a:xfrm>
          <a:prstGeom prst="rect">
            <a:avLst/>
          </a:prstGeom>
          <a:noFill/>
        </p:spPr>
        <p:txBody>
          <a:bodyPr wrap="square" rtlCol="0">
            <a:spAutoFit/>
          </a:bodyPr>
          <a:lstStyle/>
          <a:p>
            <a:pPr algn="r"/>
            <a:r>
              <a:rPr lang="zh-CN" altLang="en-US" sz="2000" dirty="0">
                <a:solidFill>
                  <a:schemeClr val="tx1">
                    <a:lumMod val="75000"/>
                    <a:lumOff val="25000"/>
                  </a:schemeClr>
                </a:solidFill>
                <a:cs typeface="+mn-ea"/>
                <a:sym typeface="+mn-lt"/>
              </a:rPr>
              <a:t>输入你的标题</a:t>
            </a:r>
          </a:p>
        </p:txBody>
      </p:sp>
      <p:sp>
        <p:nvSpPr>
          <p:cNvPr id="11" name="文本框 10"/>
          <p:cNvSpPr txBox="1"/>
          <p:nvPr/>
        </p:nvSpPr>
        <p:spPr>
          <a:xfrm>
            <a:off x="1605141" y="4717695"/>
            <a:ext cx="2865120" cy="1077218"/>
          </a:xfrm>
          <a:prstGeom prst="rect">
            <a:avLst/>
          </a:prstGeom>
          <a:noFill/>
        </p:spPr>
        <p:txBody>
          <a:bodyPr wrap="square" rtlCol="0">
            <a:spAutoFit/>
          </a:bodyPr>
          <a:lstStyle/>
          <a:p>
            <a:pPr algn="r"/>
            <a:r>
              <a:rPr lang="zh-CN" altLang="en-US" sz="1600" dirty="0">
                <a:solidFill>
                  <a:schemeClr val="tx1">
                    <a:lumMod val="65000"/>
                    <a:lumOff val="35000"/>
                  </a:schemeClr>
                </a:solidFill>
                <a:cs typeface="+mn-ea"/>
                <a:sym typeface="+mn-lt"/>
              </a:rPr>
              <a:t>通过为合作伙伴提供“连接一切”的能力，微信正在形成一个全新的“智慧型”生活方式。</a:t>
            </a:r>
          </a:p>
        </p:txBody>
      </p:sp>
      <p:sp>
        <p:nvSpPr>
          <p:cNvPr id="12" name="文本框 11"/>
          <p:cNvSpPr txBox="1"/>
          <p:nvPr/>
        </p:nvSpPr>
        <p:spPr>
          <a:xfrm>
            <a:off x="8260080" y="1874520"/>
            <a:ext cx="2225040" cy="400110"/>
          </a:xfrm>
          <a:prstGeom prst="rect">
            <a:avLst/>
          </a:prstGeom>
          <a:noFill/>
        </p:spPr>
        <p:txBody>
          <a:bodyPr wrap="square" rtlCol="0">
            <a:spAutoFit/>
          </a:bodyPr>
          <a:lstStyle/>
          <a:p>
            <a:r>
              <a:rPr lang="zh-CN" altLang="en-US" sz="2000" dirty="0">
                <a:solidFill>
                  <a:schemeClr val="tx1">
                    <a:lumMod val="75000"/>
                    <a:lumOff val="25000"/>
                  </a:schemeClr>
                </a:solidFill>
                <a:cs typeface="+mn-ea"/>
                <a:sym typeface="+mn-lt"/>
              </a:rPr>
              <a:t>输入你的标题</a:t>
            </a:r>
          </a:p>
        </p:txBody>
      </p:sp>
      <p:sp>
        <p:nvSpPr>
          <p:cNvPr id="13" name="文本框 12"/>
          <p:cNvSpPr txBox="1"/>
          <p:nvPr/>
        </p:nvSpPr>
        <p:spPr>
          <a:xfrm>
            <a:off x="8260080" y="2310170"/>
            <a:ext cx="2865120" cy="830997"/>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4" name="文本框 13"/>
          <p:cNvSpPr txBox="1"/>
          <p:nvPr/>
        </p:nvSpPr>
        <p:spPr>
          <a:xfrm>
            <a:off x="8064968" y="3596640"/>
            <a:ext cx="2225040" cy="400110"/>
          </a:xfrm>
          <a:prstGeom prst="rect">
            <a:avLst/>
          </a:prstGeom>
          <a:noFill/>
        </p:spPr>
        <p:txBody>
          <a:bodyPr wrap="square" rtlCol="0">
            <a:spAutoFit/>
          </a:bodyPr>
          <a:lstStyle/>
          <a:p>
            <a:r>
              <a:rPr lang="zh-CN" altLang="en-US" sz="2000" dirty="0">
                <a:solidFill>
                  <a:schemeClr val="tx1">
                    <a:lumMod val="75000"/>
                    <a:lumOff val="25000"/>
                  </a:schemeClr>
                </a:solidFill>
                <a:cs typeface="+mn-ea"/>
                <a:sym typeface="+mn-lt"/>
              </a:rPr>
              <a:t>输入你的标题</a:t>
            </a:r>
          </a:p>
        </p:txBody>
      </p:sp>
      <p:sp>
        <p:nvSpPr>
          <p:cNvPr id="15" name="文本框 14"/>
          <p:cNvSpPr txBox="1"/>
          <p:nvPr/>
        </p:nvSpPr>
        <p:spPr>
          <a:xfrm>
            <a:off x="8064968" y="4032290"/>
            <a:ext cx="2865120" cy="830997"/>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V="1">
            <a:off x="0" y="4449490"/>
            <a:ext cx="2264229" cy="1393371"/>
          </a:xfrm>
          <a:prstGeom prst="line">
            <a:avLst/>
          </a:prstGeom>
          <a:ln w="254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V="1">
            <a:off x="2264229" y="4362398"/>
            <a:ext cx="2481942" cy="87094"/>
          </a:xfrm>
          <a:prstGeom prst="line">
            <a:avLst/>
          </a:prstGeom>
          <a:ln w="254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4746171" y="3346398"/>
            <a:ext cx="1465943" cy="1016000"/>
          </a:xfrm>
          <a:prstGeom prst="line">
            <a:avLst/>
          </a:prstGeom>
          <a:ln w="254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6212114" y="2824252"/>
            <a:ext cx="3091543" cy="522147"/>
          </a:xfrm>
          <a:prstGeom prst="line">
            <a:avLst/>
          </a:prstGeom>
          <a:ln w="254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9303657" y="1256345"/>
            <a:ext cx="2888343" cy="1567907"/>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240970" y="3748949"/>
            <a:ext cx="1611085" cy="439283"/>
          </a:xfrm>
          <a:prstGeom prst="rect">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0" name="矩形 9"/>
          <p:cNvSpPr/>
          <p:nvPr/>
        </p:nvSpPr>
        <p:spPr>
          <a:xfrm>
            <a:off x="4542972" y="4574316"/>
            <a:ext cx="1611085" cy="439283"/>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1" name="矩形 10"/>
          <p:cNvSpPr/>
          <p:nvPr/>
        </p:nvSpPr>
        <p:spPr>
          <a:xfrm>
            <a:off x="5304971" y="2685032"/>
            <a:ext cx="1611085" cy="439283"/>
          </a:xfrm>
          <a:prstGeom prst="rect">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2" name="矩形 11"/>
          <p:cNvSpPr/>
          <p:nvPr/>
        </p:nvSpPr>
        <p:spPr>
          <a:xfrm>
            <a:off x="8356600" y="1909444"/>
            <a:ext cx="1611085" cy="439283"/>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3" name="文本框 12"/>
          <p:cNvSpPr txBox="1"/>
          <p:nvPr/>
        </p:nvSpPr>
        <p:spPr>
          <a:xfrm>
            <a:off x="1367969" y="3779362"/>
            <a:ext cx="1357086" cy="400110"/>
          </a:xfrm>
          <a:prstGeom prst="rect">
            <a:avLst/>
          </a:prstGeom>
          <a:noFill/>
        </p:spPr>
        <p:txBody>
          <a:bodyPr wrap="square" rtlCol="0">
            <a:spAutoFit/>
          </a:bodyPr>
          <a:lstStyle/>
          <a:p>
            <a:pPr algn="ctr"/>
            <a:r>
              <a:rPr lang="zh-CN" altLang="en-US" sz="2000" b="1" dirty="0">
                <a:solidFill>
                  <a:schemeClr val="bg1"/>
                </a:solidFill>
                <a:cs typeface="+mn-ea"/>
                <a:sym typeface="+mn-lt"/>
              </a:rPr>
              <a:t>第一目标</a:t>
            </a:r>
            <a:endParaRPr lang="en-US" altLang="zh-CN" sz="2000" b="1" dirty="0">
              <a:solidFill>
                <a:schemeClr val="bg1"/>
              </a:solidFill>
              <a:cs typeface="+mn-ea"/>
              <a:sym typeface="+mn-lt"/>
            </a:endParaRPr>
          </a:p>
        </p:txBody>
      </p:sp>
      <p:sp>
        <p:nvSpPr>
          <p:cNvPr id="14" name="文本框 13"/>
          <p:cNvSpPr txBox="1"/>
          <p:nvPr/>
        </p:nvSpPr>
        <p:spPr>
          <a:xfrm>
            <a:off x="4611914" y="4609291"/>
            <a:ext cx="1473200" cy="400110"/>
          </a:xfrm>
          <a:prstGeom prst="rect">
            <a:avLst/>
          </a:prstGeom>
          <a:noFill/>
        </p:spPr>
        <p:txBody>
          <a:bodyPr wrap="square" rtlCol="0">
            <a:spAutoFit/>
          </a:bodyPr>
          <a:lstStyle/>
          <a:p>
            <a:pPr algn="ctr"/>
            <a:r>
              <a:rPr lang="zh-CN" altLang="en-US" sz="2000" b="1" dirty="0">
                <a:solidFill>
                  <a:schemeClr val="bg1"/>
                </a:solidFill>
                <a:cs typeface="+mn-ea"/>
                <a:sym typeface="+mn-lt"/>
              </a:rPr>
              <a:t>第二目标</a:t>
            </a:r>
            <a:endParaRPr lang="en-US" altLang="zh-CN" sz="2000" b="1" dirty="0">
              <a:solidFill>
                <a:schemeClr val="bg1"/>
              </a:solidFill>
              <a:cs typeface="+mn-ea"/>
              <a:sym typeface="+mn-lt"/>
            </a:endParaRPr>
          </a:p>
        </p:txBody>
      </p:sp>
      <p:sp>
        <p:nvSpPr>
          <p:cNvPr id="15" name="文本框 14"/>
          <p:cNvSpPr txBox="1"/>
          <p:nvPr/>
        </p:nvSpPr>
        <p:spPr>
          <a:xfrm>
            <a:off x="5431970" y="2715803"/>
            <a:ext cx="1357086" cy="400110"/>
          </a:xfrm>
          <a:prstGeom prst="rect">
            <a:avLst/>
          </a:prstGeom>
          <a:noFill/>
        </p:spPr>
        <p:txBody>
          <a:bodyPr wrap="square" rtlCol="0">
            <a:spAutoFit/>
          </a:bodyPr>
          <a:lstStyle/>
          <a:p>
            <a:pPr algn="ctr"/>
            <a:r>
              <a:rPr lang="zh-CN" altLang="en-US" sz="2000" b="1" dirty="0">
                <a:solidFill>
                  <a:schemeClr val="bg1"/>
                </a:solidFill>
                <a:cs typeface="+mn-ea"/>
                <a:sym typeface="+mn-lt"/>
              </a:rPr>
              <a:t>第三目标</a:t>
            </a:r>
            <a:endParaRPr lang="en-US" altLang="zh-CN" sz="2000" b="1" dirty="0">
              <a:solidFill>
                <a:schemeClr val="bg1"/>
              </a:solidFill>
              <a:cs typeface="+mn-ea"/>
              <a:sym typeface="+mn-lt"/>
            </a:endParaRPr>
          </a:p>
        </p:txBody>
      </p:sp>
      <p:sp>
        <p:nvSpPr>
          <p:cNvPr id="16" name="文本框 15"/>
          <p:cNvSpPr txBox="1"/>
          <p:nvPr/>
        </p:nvSpPr>
        <p:spPr>
          <a:xfrm>
            <a:off x="8458201" y="1945921"/>
            <a:ext cx="1407883" cy="400110"/>
          </a:xfrm>
          <a:prstGeom prst="rect">
            <a:avLst/>
          </a:prstGeom>
          <a:noFill/>
        </p:spPr>
        <p:txBody>
          <a:bodyPr wrap="square" rtlCol="0">
            <a:spAutoFit/>
          </a:bodyPr>
          <a:lstStyle/>
          <a:p>
            <a:pPr algn="ctr"/>
            <a:r>
              <a:rPr lang="zh-CN" altLang="en-US" sz="2000" b="1" dirty="0">
                <a:solidFill>
                  <a:schemeClr val="bg1"/>
                </a:solidFill>
                <a:cs typeface="+mn-ea"/>
                <a:sym typeface="+mn-lt"/>
              </a:rPr>
              <a:t>第四目标</a:t>
            </a:r>
            <a:endParaRPr lang="en-US" altLang="zh-CN" sz="2000" b="1" dirty="0">
              <a:solidFill>
                <a:schemeClr val="bg1"/>
              </a:solidFill>
              <a:cs typeface="+mn-ea"/>
              <a:sym typeface="+mn-lt"/>
            </a:endParaRPr>
          </a:p>
        </p:txBody>
      </p:sp>
      <p:sp>
        <p:nvSpPr>
          <p:cNvPr id="17" name="文本框 16"/>
          <p:cNvSpPr txBox="1"/>
          <p:nvPr/>
        </p:nvSpPr>
        <p:spPr>
          <a:xfrm>
            <a:off x="497874" y="3056283"/>
            <a:ext cx="3320846" cy="369332"/>
          </a:xfrm>
          <a:prstGeom prst="rect">
            <a:avLst/>
          </a:prstGeom>
          <a:noFill/>
        </p:spPr>
        <p:txBody>
          <a:bodyPr wrap="square" rtlCol="0">
            <a:spAutoFit/>
          </a:bodyPr>
          <a:lstStyle/>
          <a:p>
            <a:pPr algn="ctr"/>
            <a:r>
              <a:rPr lang="zh-CN" altLang="en-US" dirty="0">
                <a:solidFill>
                  <a:schemeClr val="tx1">
                    <a:lumMod val="75000"/>
                    <a:lumOff val="25000"/>
                  </a:schemeClr>
                </a:solidFill>
                <a:cs typeface="+mn-ea"/>
                <a:sym typeface="+mn-lt"/>
              </a:rPr>
              <a:t>销售额同比增长</a:t>
            </a:r>
            <a:r>
              <a:rPr lang="en-US" altLang="zh-CN" dirty="0">
                <a:solidFill>
                  <a:schemeClr val="tx1">
                    <a:lumMod val="75000"/>
                    <a:lumOff val="25000"/>
                  </a:schemeClr>
                </a:solidFill>
                <a:cs typeface="+mn-ea"/>
                <a:sym typeface="+mn-lt"/>
              </a:rPr>
              <a:t>20%</a:t>
            </a:r>
            <a:r>
              <a:rPr lang="zh-CN" altLang="en-US" dirty="0">
                <a:solidFill>
                  <a:schemeClr val="tx1">
                    <a:lumMod val="75000"/>
                    <a:lumOff val="25000"/>
                  </a:schemeClr>
                </a:solidFill>
                <a:cs typeface="+mn-ea"/>
                <a:sym typeface="+mn-lt"/>
              </a:rPr>
              <a:t>以上</a:t>
            </a:r>
          </a:p>
        </p:txBody>
      </p:sp>
      <p:sp>
        <p:nvSpPr>
          <p:cNvPr id="18" name="文本框 17"/>
          <p:cNvSpPr txBox="1"/>
          <p:nvPr/>
        </p:nvSpPr>
        <p:spPr>
          <a:xfrm>
            <a:off x="3818720" y="5299181"/>
            <a:ext cx="3651448" cy="369332"/>
          </a:xfrm>
          <a:prstGeom prst="rect">
            <a:avLst/>
          </a:prstGeom>
          <a:noFill/>
        </p:spPr>
        <p:txBody>
          <a:bodyPr wrap="square" rtlCol="0">
            <a:spAutoFit/>
          </a:bodyPr>
          <a:lstStyle/>
          <a:p>
            <a:pPr algn="ctr"/>
            <a:r>
              <a:rPr lang="zh-CN" altLang="en-US" dirty="0">
                <a:solidFill>
                  <a:schemeClr val="tx1">
                    <a:lumMod val="75000"/>
                    <a:lumOff val="25000"/>
                  </a:schemeClr>
                </a:solidFill>
                <a:cs typeface="+mn-ea"/>
                <a:sym typeface="+mn-lt"/>
              </a:rPr>
              <a:t>重点产品利润贡献率达到</a:t>
            </a:r>
            <a:r>
              <a:rPr lang="en-US" altLang="zh-CN" dirty="0">
                <a:solidFill>
                  <a:schemeClr val="tx1">
                    <a:lumMod val="75000"/>
                    <a:lumOff val="25000"/>
                  </a:schemeClr>
                </a:solidFill>
                <a:cs typeface="+mn-ea"/>
                <a:sym typeface="+mn-lt"/>
              </a:rPr>
              <a:t>49%</a:t>
            </a:r>
            <a:endParaRPr lang="zh-CN" altLang="en-US" dirty="0">
              <a:solidFill>
                <a:schemeClr val="tx1">
                  <a:lumMod val="75000"/>
                  <a:lumOff val="25000"/>
                </a:schemeClr>
              </a:solidFill>
              <a:cs typeface="+mn-ea"/>
              <a:sym typeface="+mn-lt"/>
            </a:endParaRPr>
          </a:p>
        </p:txBody>
      </p:sp>
      <p:sp>
        <p:nvSpPr>
          <p:cNvPr id="21" name="文本框 20"/>
          <p:cNvSpPr txBox="1"/>
          <p:nvPr/>
        </p:nvSpPr>
        <p:spPr>
          <a:xfrm>
            <a:off x="4130552" y="2050764"/>
            <a:ext cx="3857872" cy="369332"/>
          </a:xfrm>
          <a:prstGeom prst="rect">
            <a:avLst/>
          </a:prstGeom>
          <a:noFill/>
        </p:spPr>
        <p:txBody>
          <a:bodyPr wrap="square" rtlCol="0">
            <a:spAutoFit/>
          </a:bodyPr>
          <a:lstStyle/>
          <a:p>
            <a:pPr algn="ctr"/>
            <a:r>
              <a:rPr lang="zh-CN" altLang="en-US" dirty="0">
                <a:solidFill>
                  <a:schemeClr val="tx1">
                    <a:lumMod val="75000"/>
                    <a:lumOff val="25000"/>
                  </a:schemeClr>
                </a:solidFill>
                <a:cs typeface="+mn-ea"/>
                <a:sym typeface="+mn-lt"/>
              </a:rPr>
              <a:t>新产品贡献率达到</a:t>
            </a:r>
            <a:r>
              <a:rPr lang="en-US" altLang="zh-CN" dirty="0">
                <a:solidFill>
                  <a:schemeClr val="tx1">
                    <a:lumMod val="75000"/>
                    <a:lumOff val="25000"/>
                  </a:schemeClr>
                </a:solidFill>
                <a:cs typeface="+mn-ea"/>
                <a:sym typeface="+mn-lt"/>
              </a:rPr>
              <a:t>49%</a:t>
            </a:r>
            <a:endParaRPr lang="zh-CN" altLang="en-US" dirty="0">
              <a:solidFill>
                <a:schemeClr val="tx1">
                  <a:lumMod val="75000"/>
                  <a:lumOff val="25000"/>
                </a:schemeClr>
              </a:solidFill>
              <a:cs typeface="+mn-ea"/>
              <a:sym typeface="+mn-lt"/>
            </a:endParaRPr>
          </a:p>
        </p:txBody>
      </p:sp>
      <p:sp>
        <p:nvSpPr>
          <p:cNvPr id="22" name="文本框 21"/>
          <p:cNvSpPr txBox="1"/>
          <p:nvPr/>
        </p:nvSpPr>
        <p:spPr>
          <a:xfrm>
            <a:off x="7757885" y="3256228"/>
            <a:ext cx="3393109" cy="369332"/>
          </a:xfrm>
          <a:prstGeom prst="rect">
            <a:avLst/>
          </a:prstGeom>
          <a:noFill/>
        </p:spPr>
        <p:txBody>
          <a:bodyPr wrap="square" rtlCol="0">
            <a:spAutoFit/>
          </a:bodyPr>
          <a:lstStyle/>
          <a:p>
            <a:pPr algn="ctr"/>
            <a:r>
              <a:rPr lang="zh-CN" altLang="en-US" dirty="0">
                <a:solidFill>
                  <a:schemeClr val="tx1">
                    <a:lumMod val="75000"/>
                    <a:lumOff val="25000"/>
                  </a:schemeClr>
                </a:solidFill>
                <a:cs typeface="+mn-ea"/>
                <a:sym typeface="+mn-lt"/>
              </a:rPr>
              <a:t>市场占有率进入行业前三甲</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664932" y="2598003"/>
            <a:ext cx="5351566" cy="830997"/>
          </a:xfrm>
          <a:prstGeom prst="rect">
            <a:avLst/>
          </a:prstGeom>
          <a:noFill/>
        </p:spPr>
        <p:txBody>
          <a:bodyPr wrap="square" rtlCol="0">
            <a:spAutoFit/>
          </a:bodyPr>
          <a:lstStyle/>
          <a:p>
            <a:pPr algn="dist"/>
            <a:r>
              <a:rPr lang="zh-CN" altLang="en-US" sz="4800" dirty="0" smtClean="0">
                <a:solidFill>
                  <a:schemeClr val="tx1">
                    <a:lumMod val="75000"/>
                    <a:lumOff val="25000"/>
                  </a:schemeClr>
                </a:solidFill>
                <a:cs typeface="+mn-ea"/>
                <a:sym typeface="+mn-lt"/>
              </a:rPr>
              <a:t>通用商务模</a:t>
            </a:r>
            <a:r>
              <a:rPr lang="zh-CN" altLang="en-US" sz="4800" dirty="0">
                <a:solidFill>
                  <a:schemeClr val="tx1">
                    <a:lumMod val="75000"/>
                    <a:lumOff val="25000"/>
                  </a:schemeClr>
                </a:solidFill>
                <a:cs typeface="+mn-ea"/>
                <a:sym typeface="+mn-lt"/>
              </a:rPr>
              <a:t>板</a:t>
            </a:r>
          </a:p>
        </p:txBody>
      </p:sp>
      <p:sp>
        <p:nvSpPr>
          <p:cNvPr id="3" name="文本框 2"/>
          <p:cNvSpPr txBox="1"/>
          <p:nvPr/>
        </p:nvSpPr>
        <p:spPr>
          <a:xfrm>
            <a:off x="5664932" y="1328507"/>
            <a:ext cx="5351566" cy="1446550"/>
          </a:xfrm>
          <a:prstGeom prst="rect">
            <a:avLst/>
          </a:prstGeom>
          <a:noFill/>
        </p:spPr>
        <p:txBody>
          <a:bodyPr wrap="square" rtlCol="0">
            <a:spAutoFit/>
          </a:bodyPr>
          <a:lstStyle/>
          <a:p>
            <a:pPr algn="dist"/>
            <a:r>
              <a:rPr lang="zh-CN" altLang="en-US" sz="8800" dirty="0">
                <a:solidFill>
                  <a:srgbClr val="37A866"/>
                </a:solidFill>
                <a:cs typeface="+mn-ea"/>
                <a:sym typeface="+mn-lt"/>
              </a:rPr>
              <a:t>谢</a:t>
            </a:r>
            <a:r>
              <a:rPr lang="zh-CN" altLang="en-US" sz="8800" dirty="0" smtClean="0">
                <a:solidFill>
                  <a:srgbClr val="37A866"/>
                </a:solidFill>
                <a:cs typeface="+mn-ea"/>
                <a:sym typeface="+mn-lt"/>
              </a:rPr>
              <a:t>谢观看</a:t>
            </a:r>
            <a:endParaRPr lang="zh-CN" altLang="en-US" sz="8800" dirty="0">
              <a:solidFill>
                <a:srgbClr val="37A866"/>
              </a:solidFill>
              <a:cs typeface="+mn-ea"/>
              <a:sym typeface="+mn-lt"/>
            </a:endParaRPr>
          </a:p>
        </p:txBody>
      </p:sp>
      <p:cxnSp>
        <p:nvCxnSpPr>
          <p:cNvPr id="4" name="直接连接符 3"/>
          <p:cNvCxnSpPr/>
          <p:nvPr/>
        </p:nvCxnSpPr>
        <p:spPr>
          <a:xfrm>
            <a:off x="5812415" y="3611283"/>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738673" y="3791802"/>
            <a:ext cx="5277825" cy="584775"/>
          </a:xfrm>
          <a:prstGeom prst="rect">
            <a:avLst/>
          </a:prstGeom>
          <a:noFill/>
        </p:spPr>
        <p:txBody>
          <a:bodyPr wrap="square" rtlCol="0">
            <a:spAutoFit/>
          </a:bodyPr>
          <a:lstStyle/>
          <a:p>
            <a:r>
              <a:rPr lang="en-US" altLang="zh-CN" sz="1600" dirty="0">
                <a:solidFill>
                  <a:schemeClr val="tx1">
                    <a:lumMod val="50000"/>
                    <a:lumOff val="50000"/>
                  </a:schemeClr>
                </a:solidFill>
                <a:cs typeface="+mn-ea"/>
                <a:sym typeface="+mn-lt"/>
              </a:rPr>
              <a:t>Life was like a box of chocolates, you never know what you’re go to get.</a:t>
            </a:r>
            <a:endParaRPr lang="zh-CN" altLang="en-US" sz="16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3"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cs typeface="+mn-ea"/>
                <a:sym typeface="+mn-lt"/>
              </a:rPr>
              <a:t>PPT</a:t>
            </a:r>
            <a:r>
              <a:rPr lang="zh-CN" altLang="en-US" sz="1100" dirty="0">
                <a:solidFill>
                  <a:srgbClr val="EEECE1">
                    <a:lumMod val="25000"/>
                  </a:srgbClr>
                </a:solidFill>
                <a:cs typeface="+mn-ea"/>
                <a:sym typeface="+mn-lt"/>
              </a:rPr>
              <a:t>模</a:t>
            </a:r>
            <a:r>
              <a:rPr lang="zh-CN" altLang="en-US" sz="1100" dirty="0" smtClean="0">
                <a:solidFill>
                  <a:srgbClr val="EEECE1">
                    <a:lumMod val="25000"/>
                  </a:srgbClr>
                </a:solidFill>
                <a:cs typeface="+mn-ea"/>
                <a:sym typeface="+mn-lt"/>
              </a:rPr>
              <a:t>板：       </a:t>
            </a:r>
            <a:r>
              <a:rPr lang="en-US" altLang="zh-CN" sz="1100" dirty="0" smtClean="0">
                <a:solidFill>
                  <a:srgbClr val="EEECE1">
                    <a:lumMod val="25000"/>
                  </a:srgbClr>
                </a:solidFill>
                <a:cs typeface="+mn-ea"/>
                <a:sym typeface="+mn-lt"/>
                <a:hlinkClick r:id="rId2"/>
              </a:rPr>
              <a:t>www.1ppt.com/moban</a:t>
            </a:r>
            <a:r>
              <a:rPr lang="en-US" altLang="zh-CN" sz="1100" dirty="0">
                <a:solidFill>
                  <a:srgbClr val="EEECE1">
                    <a:lumMod val="25000"/>
                  </a:srgbClr>
                </a:solidFill>
                <a:cs typeface="+mn-ea"/>
                <a:sym typeface="+mn-lt"/>
                <a:hlinkClick r:id="rId2"/>
              </a:rPr>
              <a:t>/</a:t>
            </a:r>
            <a:r>
              <a:rPr lang="en-US" altLang="zh-CN" sz="1100" dirty="0">
                <a:solidFill>
                  <a:srgbClr val="EEECE1">
                    <a:lumMod val="25000"/>
                  </a:srgbClr>
                </a:solidFill>
                <a:cs typeface="+mn-ea"/>
                <a:sym typeface="+mn-lt"/>
              </a:rPr>
              <a:t>     </a:t>
            </a:r>
            <a:r>
              <a:rPr lang="en-US" altLang="zh-CN" sz="1100" dirty="0" smtClean="0">
                <a:solidFill>
                  <a:srgbClr val="EEECE1">
                    <a:lumMod val="25000"/>
                  </a:srgbClr>
                </a:solidFill>
                <a:cs typeface="+mn-ea"/>
                <a:sym typeface="+mn-lt"/>
              </a:rPr>
              <a:t>               </a:t>
            </a:r>
            <a:r>
              <a:rPr lang="zh-CN" altLang="en-US" sz="1100" dirty="0" smtClean="0">
                <a:solidFill>
                  <a:srgbClr val="EEECE1">
                    <a:lumMod val="25000"/>
                  </a:srgbClr>
                </a:solidFill>
                <a:cs typeface="+mn-ea"/>
                <a:sym typeface="+mn-lt"/>
              </a:rPr>
              <a:t>行业</a:t>
            </a:r>
            <a:r>
              <a:rPr lang="en-US" altLang="zh-CN" sz="1100" dirty="0">
                <a:solidFill>
                  <a:srgbClr val="EEECE1">
                    <a:lumMod val="25000"/>
                  </a:srgbClr>
                </a:solidFill>
                <a:cs typeface="+mn-ea"/>
                <a:sym typeface="+mn-lt"/>
              </a:rPr>
              <a:t>PPT</a:t>
            </a:r>
            <a:r>
              <a:rPr lang="zh-CN" altLang="en-US" sz="1100" dirty="0">
                <a:solidFill>
                  <a:srgbClr val="EEECE1">
                    <a:lumMod val="25000"/>
                  </a:srgbClr>
                </a:solidFill>
                <a:cs typeface="+mn-ea"/>
                <a:sym typeface="+mn-lt"/>
              </a:rPr>
              <a:t>模板：</a:t>
            </a:r>
            <a:r>
              <a:rPr lang="en-US" altLang="zh-CN" sz="1100" dirty="0">
                <a:solidFill>
                  <a:srgbClr val="EEECE1">
                    <a:lumMod val="25000"/>
                  </a:srgbClr>
                </a:solidFill>
                <a:cs typeface="+mn-ea"/>
                <a:sym typeface="+mn-lt"/>
                <a:hlinkClick r:id="rId3"/>
              </a:rPr>
              <a:t>www.1ppt.com/hangye/</a:t>
            </a:r>
            <a:r>
              <a:rPr lang="en-US" altLang="zh-CN" sz="1100" dirty="0">
                <a:solidFill>
                  <a:srgbClr val="EEECE1">
                    <a:lumMod val="25000"/>
                  </a:srgbClr>
                </a:solidFill>
                <a:cs typeface="+mn-ea"/>
                <a:sym typeface="+mn-lt"/>
              </a:rPr>
              <a:t> </a:t>
            </a:r>
          </a:p>
          <a:p>
            <a:r>
              <a:rPr lang="zh-CN" altLang="en-US" sz="1100" dirty="0">
                <a:solidFill>
                  <a:srgbClr val="EEECE1">
                    <a:lumMod val="25000"/>
                  </a:srgbClr>
                </a:solidFill>
                <a:cs typeface="+mn-ea"/>
                <a:sym typeface="+mn-lt"/>
              </a:rPr>
              <a:t>节日</a:t>
            </a:r>
            <a:r>
              <a:rPr lang="en-US" altLang="zh-CN" sz="1100" dirty="0">
                <a:solidFill>
                  <a:srgbClr val="EEECE1">
                    <a:lumMod val="25000"/>
                  </a:srgbClr>
                </a:solidFill>
                <a:cs typeface="+mn-ea"/>
                <a:sym typeface="+mn-lt"/>
              </a:rPr>
              <a:t>PPT</a:t>
            </a:r>
            <a:r>
              <a:rPr lang="zh-CN" altLang="en-US" sz="1100" dirty="0">
                <a:solidFill>
                  <a:srgbClr val="EEECE1">
                    <a:lumMod val="25000"/>
                  </a:srgbClr>
                </a:solidFill>
                <a:cs typeface="+mn-ea"/>
                <a:sym typeface="+mn-lt"/>
              </a:rPr>
              <a:t>模板：</a:t>
            </a:r>
            <a:r>
              <a:rPr lang="en-US" altLang="zh-CN" sz="1100" dirty="0">
                <a:solidFill>
                  <a:srgbClr val="EEECE1">
                    <a:lumMod val="25000"/>
                  </a:srgbClr>
                </a:solidFill>
                <a:cs typeface="+mn-ea"/>
                <a:sym typeface="+mn-lt"/>
                <a:hlinkClick r:id="rId4"/>
              </a:rPr>
              <a:t>www.1ppt.com/jieri/</a:t>
            </a:r>
            <a:r>
              <a:rPr lang="en-US" altLang="zh-CN" sz="1100" dirty="0">
                <a:solidFill>
                  <a:srgbClr val="EEECE1">
                    <a:lumMod val="25000"/>
                  </a:srgbClr>
                </a:solidFill>
                <a:cs typeface="+mn-ea"/>
                <a:sym typeface="+mn-lt"/>
              </a:rPr>
              <a:t>          </a:t>
            </a:r>
            <a:r>
              <a:rPr lang="en-US" altLang="zh-CN" sz="1100" dirty="0" smtClean="0">
                <a:solidFill>
                  <a:srgbClr val="EEECE1">
                    <a:lumMod val="25000"/>
                  </a:srgbClr>
                </a:solidFill>
                <a:cs typeface="+mn-ea"/>
                <a:sym typeface="+mn-lt"/>
              </a:rPr>
              <a:t>                PPT</a:t>
            </a:r>
            <a:r>
              <a:rPr lang="zh-CN" altLang="en-US" sz="1100" dirty="0">
                <a:solidFill>
                  <a:srgbClr val="EEECE1">
                    <a:lumMod val="25000"/>
                  </a:srgbClr>
                </a:solidFill>
                <a:cs typeface="+mn-ea"/>
                <a:sym typeface="+mn-lt"/>
              </a:rPr>
              <a:t>素</a:t>
            </a:r>
            <a:r>
              <a:rPr lang="zh-CN" altLang="en-US" sz="1100" dirty="0" smtClean="0">
                <a:solidFill>
                  <a:srgbClr val="EEECE1">
                    <a:lumMod val="25000"/>
                  </a:srgbClr>
                </a:solidFill>
                <a:cs typeface="+mn-ea"/>
                <a:sym typeface="+mn-lt"/>
              </a:rPr>
              <a:t>材：       </a:t>
            </a:r>
            <a:r>
              <a:rPr lang="en-US" altLang="zh-CN" sz="1100" dirty="0" smtClean="0">
                <a:solidFill>
                  <a:srgbClr val="EEECE1">
                    <a:lumMod val="25000"/>
                  </a:srgbClr>
                </a:solidFill>
                <a:cs typeface="+mn-ea"/>
                <a:sym typeface="+mn-lt"/>
                <a:hlinkClick r:id="rId5"/>
              </a:rPr>
              <a:t>www.1ppt.com/sucai</a:t>
            </a:r>
            <a:r>
              <a:rPr lang="en-US" altLang="zh-CN" sz="1100" dirty="0">
                <a:solidFill>
                  <a:srgbClr val="EEECE1">
                    <a:lumMod val="25000"/>
                  </a:srgbClr>
                </a:solidFill>
                <a:cs typeface="+mn-ea"/>
                <a:sym typeface="+mn-lt"/>
                <a:hlinkClick r:id="rId5"/>
              </a:rPr>
              <a:t>/</a:t>
            </a:r>
            <a:endParaRPr lang="en-US" altLang="zh-CN" sz="1100" dirty="0">
              <a:solidFill>
                <a:srgbClr val="EEECE1">
                  <a:lumMod val="25000"/>
                </a:srgbClr>
              </a:solidFill>
              <a:cs typeface="+mn-ea"/>
              <a:sym typeface="+mn-lt"/>
            </a:endParaRPr>
          </a:p>
          <a:p>
            <a:r>
              <a:rPr lang="en-US" altLang="zh-CN" sz="1100" dirty="0">
                <a:solidFill>
                  <a:srgbClr val="EEECE1">
                    <a:lumMod val="25000"/>
                  </a:srgbClr>
                </a:solidFill>
                <a:cs typeface="+mn-ea"/>
                <a:sym typeface="+mn-lt"/>
              </a:rPr>
              <a:t>PPT</a:t>
            </a:r>
            <a:r>
              <a:rPr lang="zh-CN" altLang="en-US" sz="1100" dirty="0">
                <a:solidFill>
                  <a:srgbClr val="EEECE1">
                    <a:lumMod val="25000"/>
                  </a:srgbClr>
                </a:solidFill>
                <a:cs typeface="+mn-ea"/>
                <a:sym typeface="+mn-lt"/>
              </a:rPr>
              <a:t>背景图片：</a:t>
            </a:r>
            <a:r>
              <a:rPr lang="en-US" altLang="zh-CN" sz="1100" dirty="0">
                <a:solidFill>
                  <a:srgbClr val="EEECE1">
                    <a:lumMod val="25000"/>
                  </a:srgbClr>
                </a:solidFill>
                <a:cs typeface="+mn-ea"/>
                <a:sym typeface="+mn-lt"/>
                <a:hlinkClick r:id="rId6"/>
              </a:rPr>
              <a:t>www.1ppt.com/beijing/</a:t>
            </a:r>
            <a:r>
              <a:rPr lang="en-US" altLang="zh-CN" sz="1100" dirty="0">
                <a:solidFill>
                  <a:srgbClr val="EEECE1">
                    <a:lumMod val="25000"/>
                  </a:srgbClr>
                </a:solidFill>
                <a:cs typeface="+mn-ea"/>
                <a:sym typeface="+mn-lt"/>
              </a:rPr>
              <a:t>     </a:t>
            </a:r>
            <a:r>
              <a:rPr lang="en-US" altLang="zh-CN" sz="1100" dirty="0" smtClean="0">
                <a:solidFill>
                  <a:srgbClr val="EEECE1">
                    <a:lumMod val="25000"/>
                  </a:srgbClr>
                </a:solidFill>
                <a:cs typeface="+mn-ea"/>
                <a:sym typeface="+mn-lt"/>
              </a:rPr>
              <a:t>                PPT</a:t>
            </a:r>
            <a:r>
              <a:rPr lang="zh-CN" altLang="en-US" sz="1100" dirty="0">
                <a:solidFill>
                  <a:srgbClr val="EEECE1">
                    <a:lumMod val="25000"/>
                  </a:srgbClr>
                </a:solidFill>
                <a:cs typeface="+mn-ea"/>
                <a:sym typeface="+mn-lt"/>
              </a:rPr>
              <a:t>图</a:t>
            </a:r>
            <a:r>
              <a:rPr lang="zh-CN" altLang="en-US" sz="1100" dirty="0" smtClean="0">
                <a:solidFill>
                  <a:srgbClr val="EEECE1">
                    <a:lumMod val="25000"/>
                  </a:srgbClr>
                </a:solidFill>
                <a:cs typeface="+mn-ea"/>
                <a:sym typeface="+mn-lt"/>
              </a:rPr>
              <a:t>表：       </a:t>
            </a:r>
            <a:r>
              <a:rPr lang="en-US" altLang="zh-CN" sz="1100" dirty="0" smtClean="0">
                <a:solidFill>
                  <a:srgbClr val="EEECE1">
                    <a:lumMod val="25000"/>
                  </a:srgbClr>
                </a:solidFill>
                <a:cs typeface="+mn-ea"/>
                <a:sym typeface="+mn-lt"/>
                <a:hlinkClick r:id="rId7"/>
              </a:rPr>
              <a:t>www.1ppt.com/tubiao</a:t>
            </a:r>
            <a:r>
              <a:rPr lang="en-US" altLang="zh-CN" sz="1100" dirty="0">
                <a:solidFill>
                  <a:srgbClr val="EEECE1">
                    <a:lumMod val="25000"/>
                  </a:srgbClr>
                </a:solidFill>
                <a:cs typeface="+mn-ea"/>
                <a:sym typeface="+mn-lt"/>
                <a:hlinkClick r:id="rId7"/>
              </a:rPr>
              <a:t>/</a:t>
            </a:r>
            <a:r>
              <a:rPr lang="en-US" altLang="zh-CN" sz="1100" dirty="0">
                <a:solidFill>
                  <a:srgbClr val="EEECE1">
                    <a:lumMod val="25000"/>
                  </a:srgbClr>
                </a:solidFill>
                <a:cs typeface="+mn-ea"/>
                <a:sym typeface="+mn-lt"/>
              </a:rPr>
              <a:t>      </a:t>
            </a:r>
          </a:p>
          <a:p>
            <a:r>
              <a:rPr lang="zh-CN" altLang="en-US" sz="1100" dirty="0">
                <a:solidFill>
                  <a:srgbClr val="EEECE1">
                    <a:lumMod val="25000"/>
                  </a:srgbClr>
                </a:solidFill>
                <a:cs typeface="+mn-ea"/>
                <a:sym typeface="+mn-lt"/>
              </a:rPr>
              <a:t>优秀</a:t>
            </a:r>
            <a:r>
              <a:rPr lang="en-US" altLang="zh-CN" sz="1100" dirty="0">
                <a:solidFill>
                  <a:srgbClr val="EEECE1">
                    <a:lumMod val="25000"/>
                  </a:srgbClr>
                </a:solidFill>
                <a:cs typeface="+mn-ea"/>
                <a:sym typeface="+mn-lt"/>
              </a:rPr>
              <a:t>PPT</a:t>
            </a:r>
            <a:r>
              <a:rPr lang="zh-CN" altLang="en-US" sz="1100" dirty="0">
                <a:solidFill>
                  <a:srgbClr val="EEECE1">
                    <a:lumMod val="25000"/>
                  </a:srgbClr>
                </a:solidFill>
                <a:cs typeface="+mn-ea"/>
                <a:sym typeface="+mn-lt"/>
              </a:rPr>
              <a:t>下载：</a:t>
            </a:r>
            <a:r>
              <a:rPr lang="en-US" altLang="zh-CN" sz="1100" dirty="0">
                <a:solidFill>
                  <a:srgbClr val="EEECE1">
                    <a:lumMod val="25000"/>
                  </a:srgbClr>
                </a:solidFill>
                <a:cs typeface="+mn-ea"/>
                <a:sym typeface="+mn-lt"/>
                <a:hlinkClick r:id="rId8"/>
              </a:rPr>
              <a:t>www.1ppt.com/xiazai/</a:t>
            </a:r>
            <a:r>
              <a:rPr lang="en-US" altLang="zh-CN" sz="1100" dirty="0">
                <a:solidFill>
                  <a:srgbClr val="EEECE1">
                    <a:lumMod val="25000"/>
                  </a:srgbClr>
                </a:solidFill>
                <a:cs typeface="+mn-ea"/>
                <a:sym typeface="+mn-lt"/>
              </a:rPr>
              <a:t>      </a:t>
            </a:r>
            <a:r>
              <a:rPr lang="en-US" altLang="zh-CN" sz="1100" dirty="0" smtClean="0">
                <a:solidFill>
                  <a:srgbClr val="EEECE1">
                    <a:lumMod val="25000"/>
                  </a:srgbClr>
                </a:solidFill>
                <a:cs typeface="+mn-ea"/>
                <a:sym typeface="+mn-lt"/>
              </a:rPr>
              <a:t>                 PPT</a:t>
            </a:r>
            <a:r>
              <a:rPr lang="zh-CN" altLang="en-US" sz="1100" dirty="0">
                <a:solidFill>
                  <a:srgbClr val="EEECE1">
                    <a:lumMod val="25000"/>
                  </a:srgbClr>
                </a:solidFill>
                <a:cs typeface="+mn-ea"/>
                <a:sym typeface="+mn-lt"/>
              </a:rPr>
              <a:t>教程</a:t>
            </a:r>
            <a:r>
              <a:rPr lang="zh-CN" altLang="en-US" sz="1100" dirty="0" smtClean="0">
                <a:solidFill>
                  <a:srgbClr val="EEECE1">
                    <a:lumMod val="25000"/>
                  </a:srgbClr>
                </a:solidFill>
                <a:cs typeface="+mn-ea"/>
                <a:sym typeface="+mn-lt"/>
              </a:rPr>
              <a:t>：       </a:t>
            </a:r>
            <a:r>
              <a:rPr lang="en-US" altLang="zh-CN" sz="1100" dirty="0" smtClean="0">
                <a:solidFill>
                  <a:srgbClr val="EEECE1">
                    <a:lumMod val="25000"/>
                  </a:srgbClr>
                </a:solidFill>
                <a:cs typeface="+mn-ea"/>
                <a:sym typeface="+mn-lt"/>
                <a:hlinkClick r:id="rId9"/>
              </a:rPr>
              <a:t>www.1ppt.com/powerpoint</a:t>
            </a:r>
            <a:r>
              <a:rPr lang="en-US" altLang="zh-CN" sz="1100" dirty="0">
                <a:solidFill>
                  <a:srgbClr val="EEECE1">
                    <a:lumMod val="25000"/>
                  </a:srgbClr>
                </a:solidFill>
                <a:cs typeface="+mn-ea"/>
                <a:sym typeface="+mn-lt"/>
                <a:hlinkClick r:id="rId9"/>
              </a:rPr>
              <a:t>/</a:t>
            </a:r>
            <a:r>
              <a:rPr lang="en-US" altLang="zh-CN" sz="1100" dirty="0">
                <a:solidFill>
                  <a:srgbClr val="EEECE1">
                    <a:lumMod val="25000"/>
                  </a:srgbClr>
                </a:solidFill>
                <a:cs typeface="+mn-ea"/>
                <a:sym typeface="+mn-lt"/>
              </a:rPr>
              <a:t>      </a:t>
            </a:r>
          </a:p>
          <a:p>
            <a:r>
              <a:rPr lang="en-US" altLang="zh-CN" sz="1100" dirty="0">
                <a:solidFill>
                  <a:srgbClr val="EEECE1">
                    <a:lumMod val="25000"/>
                  </a:srgbClr>
                </a:solidFill>
                <a:cs typeface="+mn-ea"/>
                <a:sym typeface="+mn-lt"/>
              </a:rPr>
              <a:t>Word</a:t>
            </a:r>
            <a:r>
              <a:rPr lang="zh-CN" altLang="en-US" sz="1100" dirty="0">
                <a:solidFill>
                  <a:srgbClr val="EEECE1">
                    <a:lumMod val="25000"/>
                  </a:srgbClr>
                </a:solidFill>
                <a:cs typeface="+mn-ea"/>
                <a:sym typeface="+mn-lt"/>
              </a:rPr>
              <a:t>教程</a:t>
            </a:r>
            <a:r>
              <a:rPr lang="zh-CN" altLang="en-US" sz="1100" dirty="0" smtClean="0">
                <a:solidFill>
                  <a:srgbClr val="EEECE1">
                    <a:lumMod val="25000"/>
                  </a:srgbClr>
                </a:solidFill>
                <a:cs typeface="+mn-ea"/>
                <a:sym typeface="+mn-lt"/>
              </a:rPr>
              <a:t>：    </a:t>
            </a:r>
            <a:r>
              <a:rPr lang="en-US" altLang="zh-CN" sz="1100" dirty="0" smtClean="0">
                <a:solidFill>
                  <a:srgbClr val="EEECE1">
                    <a:lumMod val="25000"/>
                  </a:srgbClr>
                </a:solidFill>
                <a:cs typeface="+mn-ea"/>
                <a:sym typeface="+mn-lt"/>
                <a:hlinkClick r:id="rId10"/>
              </a:rPr>
              <a:t>www.1ppt.com/word</a:t>
            </a:r>
            <a:r>
              <a:rPr lang="en-US" altLang="zh-CN" sz="1100" dirty="0">
                <a:solidFill>
                  <a:srgbClr val="EEECE1">
                    <a:lumMod val="25000"/>
                  </a:srgbClr>
                </a:solidFill>
                <a:cs typeface="+mn-ea"/>
                <a:sym typeface="+mn-lt"/>
                <a:hlinkClick r:id="rId10"/>
              </a:rPr>
              <a:t>/</a:t>
            </a:r>
            <a:r>
              <a:rPr lang="en-US" altLang="zh-CN" sz="1100" dirty="0">
                <a:solidFill>
                  <a:srgbClr val="EEECE1">
                    <a:lumMod val="25000"/>
                  </a:srgbClr>
                </a:solidFill>
                <a:cs typeface="+mn-ea"/>
                <a:sym typeface="+mn-lt"/>
              </a:rPr>
              <a:t>      </a:t>
            </a:r>
            <a:r>
              <a:rPr lang="en-US" altLang="zh-CN" sz="1100" dirty="0" smtClean="0">
                <a:solidFill>
                  <a:srgbClr val="EEECE1">
                    <a:lumMod val="25000"/>
                  </a:srgbClr>
                </a:solidFill>
                <a:cs typeface="+mn-ea"/>
                <a:sym typeface="+mn-lt"/>
              </a:rPr>
              <a:t>                  Excel</a:t>
            </a:r>
            <a:r>
              <a:rPr lang="zh-CN" altLang="en-US" sz="1100" dirty="0">
                <a:solidFill>
                  <a:srgbClr val="EEECE1">
                    <a:lumMod val="25000"/>
                  </a:srgbClr>
                </a:solidFill>
                <a:cs typeface="+mn-ea"/>
                <a:sym typeface="+mn-lt"/>
              </a:rPr>
              <a:t>教程</a:t>
            </a:r>
            <a:r>
              <a:rPr lang="zh-CN" altLang="en-US" sz="1100" dirty="0" smtClean="0">
                <a:solidFill>
                  <a:srgbClr val="EEECE1">
                    <a:lumMod val="25000"/>
                  </a:srgbClr>
                </a:solidFill>
                <a:cs typeface="+mn-ea"/>
                <a:sym typeface="+mn-lt"/>
              </a:rPr>
              <a:t>：     </a:t>
            </a:r>
            <a:r>
              <a:rPr lang="en-US" altLang="zh-CN" sz="1100" dirty="0" smtClean="0">
                <a:solidFill>
                  <a:srgbClr val="EEECE1">
                    <a:lumMod val="25000"/>
                  </a:srgbClr>
                </a:solidFill>
                <a:cs typeface="+mn-ea"/>
                <a:sym typeface="+mn-lt"/>
                <a:hlinkClick r:id="rId11"/>
              </a:rPr>
              <a:t>www.1ppt.com/excel</a:t>
            </a:r>
            <a:r>
              <a:rPr lang="en-US" altLang="zh-CN" sz="1100" dirty="0">
                <a:solidFill>
                  <a:srgbClr val="EEECE1">
                    <a:lumMod val="25000"/>
                  </a:srgbClr>
                </a:solidFill>
                <a:cs typeface="+mn-ea"/>
                <a:sym typeface="+mn-lt"/>
                <a:hlinkClick r:id="rId11"/>
              </a:rPr>
              <a:t>/</a:t>
            </a:r>
            <a:r>
              <a:rPr lang="en-US" altLang="zh-CN" sz="1100" dirty="0">
                <a:solidFill>
                  <a:srgbClr val="EEECE1">
                    <a:lumMod val="25000"/>
                  </a:srgbClr>
                </a:solidFill>
                <a:cs typeface="+mn-ea"/>
                <a:sym typeface="+mn-lt"/>
              </a:rPr>
              <a:t>  </a:t>
            </a:r>
          </a:p>
          <a:p>
            <a:r>
              <a:rPr lang="zh-CN" altLang="en-US" sz="1100" dirty="0">
                <a:solidFill>
                  <a:srgbClr val="EEECE1">
                    <a:lumMod val="25000"/>
                  </a:srgbClr>
                </a:solidFill>
                <a:cs typeface="+mn-ea"/>
                <a:sym typeface="+mn-lt"/>
              </a:rPr>
              <a:t>个人简历</a:t>
            </a:r>
            <a:r>
              <a:rPr lang="zh-CN" altLang="en-US" sz="1100" dirty="0" smtClean="0">
                <a:solidFill>
                  <a:srgbClr val="EEECE1">
                    <a:lumMod val="25000"/>
                  </a:srgbClr>
                </a:solidFill>
                <a:cs typeface="+mn-ea"/>
                <a:sym typeface="+mn-lt"/>
              </a:rPr>
              <a:t>：      </a:t>
            </a:r>
            <a:r>
              <a:rPr lang="en-US" altLang="zh-CN" sz="1100" dirty="0" smtClean="0">
                <a:solidFill>
                  <a:srgbClr val="EEECE1">
                    <a:lumMod val="25000"/>
                  </a:srgbClr>
                </a:solidFill>
                <a:cs typeface="+mn-ea"/>
                <a:sym typeface="+mn-lt"/>
                <a:hlinkClick r:id="rId12"/>
              </a:rPr>
              <a:t>www.1ppt.com/jianli/</a:t>
            </a:r>
            <a:r>
              <a:rPr lang="en-US" altLang="zh-CN" sz="1100" dirty="0" smtClean="0">
                <a:solidFill>
                  <a:srgbClr val="EEECE1">
                    <a:lumMod val="25000"/>
                  </a:srgbClr>
                </a:solidFill>
                <a:cs typeface="+mn-ea"/>
                <a:sym typeface="+mn-lt"/>
              </a:rPr>
              <a:t>                         PPT</a:t>
            </a:r>
            <a:r>
              <a:rPr lang="zh-CN" altLang="en-US" sz="1100" dirty="0">
                <a:solidFill>
                  <a:srgbClr val="EEECE1">
                    <a:lumMod val="25000"/>
                  </a:srgbClr>
                </a:solidFill>
                <a:cs typeface="+mn-ea"/>
                <a:sym typeface="+mn-lt"/>
              </a:rPr>
              <a:t>课</a:t>
            </a:r>
            <a:r>
              <a:rPr lang="zh-CN" altLang="en-US" sz="1100" dirty="0" smtClean="0">
                <a:solidFill>
                  <a:srgbClr val="EEECE1">
                    <a:lumMod val="25000"/>
                  </a:srgbClr>
                </a:solidFill>
                <a:cs typeface="+mn-ea"/>
                <a:sym typeface="+mn-lt"/>
              </a:rPr>
              <a:t>件：       </a:t>
            </a:r>
            <a:r>
              <a:rPr lang="en-US" altLang="zh-CN" sz="1100" dirty="0" smtClean="0">
                <a:solidFill>
                  <a:srgbClr val="EEECE1">
                    <a:lumMod val="25000"/>
                  </a:srgbClr>
                </a:solidFill>
                <a:cs typeface="+mn-ea"/>
                <a:sym typeface="+mn-lt"/>
                <a:hlinkClick r:id="rId13"/>
              </a:rPr>
              <a:t>www.1ppt.com/kejian</a:t>
            </a:r>
            <a:r>
              <a:rPr lang="en-US" altLang="zh-CN" sz="1100" dirty="0">
                <a:solidFill>
                  <a:srgbClr val="EEECE1">
                    <a:lumMod val="25000"/>
                  </a:srgbClr>
                </a:solidFill>
                <a:cs typeface="+mn-ea"/>
                <a:sym typeface="+mn-lt"/>
                <a:hlinkClick r:id="rId13"/>
              </a:rPr>
              <a:t>/</a:t>
            </a:r>
            <a:r>
              <a:rPr lang="en-US" altLang="zh-CN" sz="1100" dirty="0">
                <a:solidFill>
                  <a:srgbClr val="EEECE1">
                    <a:lumMod val="25000"/>
                  </a:srgbClr>
                </a:solidFill>
                <a:cs typeface="+mn-ea"/>
                <a:sym typeface="+mn-lt"/>
              </a:rPr>
              <a:t> </a:t>
            </a:r>
          </a:p>
          <a:p>
            <a:r>
              <a:rPr lang="zh-CN" altLang="en-US" sz="1100" dirty="0">
                <a:solidFill>
                  <a:srgbClr val="EEECE1">
                    <a:lumMod val="25000"/>
                  </a:srgbClr>
                </a:solidFill>
                <a:cs typeface="+mn-ea"/>
                <a:sym typeface="+mn-lt"/>
              </a:rPr>
              <a:t>手抄报</a:t>
            </a:r>
            <a:r>
              <a:rPr lang="zh-CN" altLang="en-US" sz="1100" dirty="0" smtClean="0">
                <a:solidFill>
                  <a:srgbClr val="EEECE1">
                    <a:lumMod val="25000"/>
                  </a:srgbClr>
                </a:solidFill>
                <a:cs typeface="+mn-ea"/>
                <a:sym typeface="+mn-lt"/>
              </a:rPr>
              <a:t>：          </a:t>
            </a:r>
            <a:r>
              <a:rPr lang="en-US" altLang="zh-CN" sz="1100" dirty="0" smtClean="0">
                <a:solidFill>
                  <a:srgbClr val="EEECE1">
                    <a:lumMod val="25000"/>
                  </a:srgbClr>
                </a:solidFill>
                <a:cs typeface="+mn-ea"/>
                <a:sym typeface="+mn-lt"/>
                <a:hlinkClick r:id="rId14"/>
              </a:rPr>
              <a:t>www.1ppt.com/shouchaobao/</a:t>
            </a:r>
            <a:r>
              <a:rPr lang="en-US" altLang="zh-CN" sz="1100" dirty="0" smtClean="0">
                <a:solidFill>
                  <a:srgbClr val="EEECE1">
                    <a:lumMod val="25000"/>
                  </a:srgbClr>
                </a:solidFill>
                <a:cs typeface="+mn-ea"/>
                <a:sym typeface="+mn-lt"/>
              </a:rPr>
              <a:t>          </a:t>
            </a:r>
            <a:r>
              <a:rPr lang="zh-CN" altLang="en-US" sz="1100" dirty="0" smtClean="0">
                <a:solidFill>
                  <a:srgbClr val="EEECE1">
                    <a:lumMod val="25000"/>
                  </a:srgbClr>
                </a:solidFill>
                <a:cs typeface="+mn-ea"/>
                <a:sym typeface="+mn-lt"/>
              </a:rPr>
              <a:t>试</a:t>
            </a:r>
            <a:r>
              <a:rPr lang="zh-CN" altLang="en-US" sz="1100" dirty="0">
                <a:solidFill>
                  <a:srgbClr val="EEECE1">
                    <a:lumMod val="25000"/>
                  </a:srgbClr>
                </a:solidFill>
                <a:cs typeface="+mn-ea"/>
                <a:sym typeface="+mn-lt"/>
              </a:rPr>
              <a:t>题</a:t>
            </a:r>
            <a:r>
              <a:rPr lang="zh-CN" altLang="en-US" sz="1100" dirty="0" smtClean="0">
                <a:solidFill>
                  <a:srgbClr val="EEECE1">
                    <a:lumMod val="25000"/>
                  </a:srgbClr>
                </a:solidFill>
                <a:cs typeface="+mn-ea"/>
                <a:sym typeface="+mn-lt"/>
              </a:rPr>
              <a:t>下载：      </a:t>
            </a:r>
            <a:r>
              <a:rPr lang="en-US" altLang="zh-CN" sz="1100" dirty="0" smtClean="0">
                <a:solidFill>
                  <a:srgbClr val="EEECE1">
                    <a:lumMod val="25000"/>
                  </a:srgbClr>
                </a:solidFill>
                <a:cs typeface="+mn-ea"/>
                <a:sym typeface="+mn-lt"/>
                <a:hlinkClick r:id="rId15"/>
              </a:rPr>
              <a:t>www.1ppt.com/shiti/</a:t>
            </a:r>
            <a:r>
              <a:rPr lang="en-US" altLang="zh-CN" sz="1100" dirty="0" smtClean="0">
                <a:solidFill>
                  <a:srgbClr val="EEECE1">
                    <a:lumMod val="25000"/>
                  </a:srgbClr>
                </a:solidFill>
                <a:cs typeface="+mn-ea"/>
                <a:sym typeface="+mn-lt"/>
              </a:rPr>
              <a:t>  </a:t>
            </a:r>
          </a:p>
          <a:p>
            <a:r>
              <a:rPr lang="zh-CN" altLang="en-US" sz="1100" dirty="0" smtClean="0">
                <a:solidFill>
                  <a:srgbClr val="EEECE1">
                    <a:lumMod val="25000"/>
                  </a:srgbClr>
                </a:solidFill>
                <a:cs typeface="+mn-ea"/>
                <a:sym typeface="+mn-lt"/>
              </a:rPr>
              <a:t>教案下载：      </a:t>
            </a:r>
            <a:r>
              <a:rPr lang="en-US" altLang="zh-CN" sz="1100" dirty="0" smtClean="0">
                <a:solidFill>
                  <a:srgbClr val="EEECE1">
                    <a:lumMod val="25000"/>
                  </a:srgbClr>
                </a:solidFill>
                <a:cs typeface="+mn-ea"/>
                <a:sym typeface="+mn-lt"/>
                <a:hlinkClick r:id="rId16"/>
              </a:rPr>
              <a:t>www.1ppt.com/jiaoan/</a:t>
            </a:r>
            <a:r>
              <a:rPr lang="en-US" altLang="zh-CN" sz="1100" dirty="0" smtClean="0">
                <a:solidFill>
                  <a:srgbClr val="EEECE1">
                    <a:lumMod val="25000"/>
                  </a:srgbClr>
                </a:solidFill>
                <a:cs typeface="+mn-ea"/>
                <a:sym typeface="+mn-lt"/>
              </a:rPr>
              <a:t>                       </a:t>
            </a:r>
            <a:r>
              <a:rPr lang="zh-CN" altLang="en-US" sz="1100" dirty="0" smtClean="0">
                <a:solidFill>
                  <a:srgbClr val="EEECE1">
                    <a:lumMod val="25000"/>
                  </a:srgbClr>
                </a:solidFill>
                <a:cs typeface="+mn-ea"/>
                <a:sym typeface="+mn-lt"/>
              </a:rPr>
              <a:t>字体下载：      </a:t>
            </a:r>
            <a:r>
              <a:rPr lang="en-US" altLang="zh-CN" sz="1100" dirty="0" smtClean="0">
                <a:solidFill>
                  <a:srgbClr val="EEECE1">
                    <a:lumMod val="25000"/>
                  </a:srgbClr>
                </a:solidFill>
                <a:cs typeface="+mn-ea"/>
                <a:sym typeface="+mn-lt"/>
                <a:hlinkClick r:id="rId17"/>
              </a:rPr>
              <a:t>www.1ppt.com/ziti/</a:t>
            </a:r>
            <a:r>
              <a:rPr lang="en-US" altLang="zh-CN" sz="1100" dirty="0" smtClean="0">
                <a:solidFill>
                  <a:srgbClr val="EEECE1">
                    <a:lumMod val="25000"/>
                  </a:srgbClr>
                </a:solidFill>
                <a:cs typeface="+mn-ea"/>
                <a:sym typeface="+mn-lt"/>
              </a:rPr>
              <a:t>               </a:t>
            </a:r>
            <a:endParaRPr lang="zh-CN" altLang="en-US" sz="1100" dirty="0">
              <a:solidFill>
                <a:srgbClr val="EEECE1">
                  <a:lumMod val="25000"/>
                </a:srgbClr>
              </a:solidFill>
              <a:cs typeface="+mn-ea"/>
              <a:sym typeface="+mn-lt"/>
            </a:endParaRPr>
          </a:p>
        </p:txBody>
      </p:sp>
      <p:sp>
        <p:nvSpPr>
          <p:cNvPr id="3" name="Rectangle 17"/>
          <p:cNvSpPr>
            <a:spLocks noChangeArrowheads="1"/>
          </p:cNvSpPr>
          <p:nvPr/>
        </p:nvSpPr>
        <p:spPr bwMode="gray">
          <a:xfrm>
            <a:off x="0" y="2998275"/>
            <a:ext cx="12192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cs typeface="+mn-ea"/>
              <a:sym typeface="+mn-lt"/>
            </a:endParaRPr>
          </a:p>
        </p:txBody>
      </p:sp>
      <p:sp>
        <p:nvSpPr>
          <p:cNvPr id="15" name="Rectangle 3"/>
          <p:cNvSpPr>
            <a:spLocks noChangeArrowheads="1"/>
          </p:cNvSpPr>
          <p:nvPr/>
        </p:nvSpPr>
        <p:spPr bwMode="auto">
          <a:xfrm>
            <a:off x="528408" y="3097348"/>
            <a:ext cx="5471583"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cs typeface="+mn-ea"/>
                <a:sym typeface="+mn-lt"/>
              </a:rPr>
              <a:t>可以在下列情况使用</a:t>
            </a:r>
            <a:endParaRPr lang="zh-CN" altLang="en-US" sz="1200" kern="0" dirty="0" smtClean="0">
              <a:solidFill>
                <a:prstClr val="white"/>
              </a:solidFill>
              <a:cs typeface="+mn-ea"/>
              <a:sym typeface="+mn-lt"/>
            </a:endParaRPr>
          </a:p>
          <a:p>
            <a:pPr>
              <a:lnSpc>
                <a:spcPct val="150000"/>
              </a:lnSpc>
              <a:buClr>
                <a:srgbClr val="5B8CC1"/>
              </a:buClr>
              <a:buFont typeface="Wingdings" pitchFamily="2" charset="2"/>
              <a:buChar char="n"/>
              <a:defRPr/>
            </a:pPr>
            <a:r>
              <a:rPr lang="zh-CN" altLang="en-US" sz="1200" kern="0" dirty="0">
                <a:solidFill>
                  <a:prstClr val="white"/>
                </a:solidFill>
                <a:cs typeface="+mn-ea"/>
                <a:sym typeface="+mn-lt"/>
              </a:rPr>
              <a:t>个</a:t>
            </a:r>
            <a:r>
              <a:rPr lang="zh-CN" altLang="en-US" sz="1200" kern="0" dirty="0" smtClean="0">
                <a:solidFill>
                  <a:prstClr val="white"/>
                </a:solidFill>
                <a:cs typeface="+mn-ea"/>
                <a:sym typeface="+mn-lt"/>
              </a:rPr>
              <a:t>人学习、研究。</a:t>
            </a:r>
          </a:p>
          <a:p>
            <a:pPr>
              <a:lnSpc>
                <a:spcPct val="150000"/>
              </a:lnSpc>
              <a:buClr>
                <a:srgbClr val="5B8CC1"/>
              </a:buClr>
              <a:buFont typeface="Wingdings" pitchFamily="2" charset="2"/>
              <a:buChar char="n"/>
              <a:defRPr/>
            </a:pPr>
            <a:r>
              <a:rPr lang="zh-CN" altLang="en-US" sz="1200" kern="0" dirty="0" smtClean="0">
                <a:solidFill>
                  <a:prstClr val="white"/>
                </a:solidFill>
                <a:cs typeface="+mn-ea"/>
                <a:sym typeface="+mn-lt"/>
              </a:rPr>
              <a:t>拷贝模板中的内容用于其它幻灯片母版中使用。</a:t>
            </a:r>
          </a:p>
        </p:txBody>
      </p:sp>
      <p:sp>
        <p:nvSpPr>
          <p:cNvPr id="16" name="Rectangle 4"/>
          <p:cNvSpPr>
            <a:spLocks noChangeArrowheads="1"/>
          </p:cNvSpPr>
          <p:nvPr/>
        </p:nvSpPr>
        <p:spPr bwMode="auto">
          <a:xfrm>
            <a:off x="6096000" y="3097348"/>
            <a:ext cx="5471584"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cs typeface="+mn-ea"/>
                <a:sym typeface="+mn-lt"/>
              </a:rPr>
              <a:t>不可以在以下情况使用</a:t>
            </a:r>
            <a:endParaRPr lang="zh-CN" altLang="en-US" sz="1050" b="1" kern="0" dirty="0" smtClean="0">
              <a:solidFill>
                <a:prstClr val="white"/>
              </a:solidFill>
              <a:cs typeface="+mn-ea"/>
              <a:sym typeface="+mn-lt"/>
            </a:endParaRPr>
          </a:p>
          <a:p>
            <a:pPr>
              <a:lnSpc>
                <a:spcPct val="150000"/>
              </a:lnSpc>
              <a:buClr>
                <a:srgbClr val="5B8CC1"/>
              </a:buClr>
              <a:buFont typeface="Wingdings" pitchFamily="2" charset="2"/>
              <a:buChar char="n"/>
              <a:defRPr/>
            </a:pPr>
            <a:r>
              <a:rPr lang="zh-CN" altLang="en-US" sz="1200" kern="0" dirty="0" smtClean="0">
                <a:solidFill>
                  <a:prstClr val="white"/>
                </a:solidFill>
                <a:cs typeface="+mn-ea"/>
                <a:sym typeface="+mn-lt"/>
              </a:rPr>
              <a:t>任何形式的在线付费下载。</a:t>
            </a:r>
          </a:p>
          <a:p>
            <a:pPr>
              <a:lnSpc>
                <a:spcPct val="150000"/>
              </a:lnSpc>
              <a:buClr>
                <a:srgbClr val="5B8CC1"/>
              </a:buClr>
              <a:buFont typeface="Wingdings" pitchFamily="2" charset="2"/>
              <a:buChar char="n"/>
              <a:defRPr/>
            </a:pPr>
            <a:r>
              <a:rPr lang="zh-CN" altLang="en-US" sz="1200" kern="0" dirty="0" smtClean="0">
                <a:solidFill>
                  <a:prstClr val="white"/>
                </a:solidFill>
                <a:cs typeface="+mn-ea"/>
                <a:sym typeface="+mn-lt"/>
              </a:rPr>
              <a:t>刻录光碟销售。</a:t>
            </a:r>
            <a:endParaRPr lang="zh-CN" altLang="en-GB" sz="1200" kern="0" dirty="0" smtClean="0">
              <a:solidFill>
                <a:prstClr val="white"/>
              </a:solidFill>
              <a:cs typeface="+mn-ea"/>
              <a:sym typeface="+mn-lt"/>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47369" y="356247"/>
            <a:ext cx="7893049"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328775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演示文稿24"/>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22dbxcfo">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22dbxcfo">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2119</Words>
  <Application>Microsoft Office PowerPoint</Application>
  <PresentationFormat>自定义</PresentationFormat>
  <Paragraphs>165</Paragraphs>
  <Slides>19</Slides>
  <Notes>18</Notes>
  <HiddenSlides>0</HiddenSlides>
  <MMClips>0</MMClips>
  <ScaleCrop>false</ScaleCrop>
  <HeadingPairs>
    <vt:vector size="4" baseType="variant">
      <vt:variant>
        <vt:lpstr>主题</vt:lpstr>
      </vt:variant>
      <vt:variant>
        <vt:i4>2</vt:i4>
      </vt:variant>
      <vt:variant>
        <vt:lpstr>幻灯片标题</vt:lpstr>
      </vt:variant>
      <vt:variant>
        <vt:i4>19</vt:i4>
      </vt:variant>
    </vt:vector>
  </HeadingPairs>
  <TitlesOfParts>
    <vt:vector size="21" baseType="lpstr">
      <vt:lpstr>第一PPT，www.1ppt.com</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绿色多边形</dc:title>
  <dc:creator>第一PPT</dc:creator>
  <cp:keywords>www.1ppt.com</cp:keywords>
  <dc:description>www.1ppt.com</dc:description>
  <cp:lastModifiedBy>Windows User</cp:lastModifiedBy>
  <cp:revision>74</cp:revision>
  <dcterms:created xsi:type="dcterms:W3CDTF">2017-12-05T11:58:00Z</dcterms:created>
  <dcterms:modified xsi:type="dcterms:W3CDTF">2021-12-20T06:54:35Z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2052-10.1.0.7023</vt:lpwstr>
  </property>
</Properties>
</file>